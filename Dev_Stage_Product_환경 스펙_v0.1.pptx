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449" r:id="rId2"/>
    <p:sldId id="456" r:id="rId3"/>
    <p:sldId id="457" r:id="rId4"/>
    <p:sldId id="458" r:id="rId5"/>
    <p:sldId id="450" r:id="rId6"/>
    <p:sldId id="459" r:id="rId7"/>
    <p:sldId id="460" r:id="rId8"/>
    <p:sldId id="419" r:id="rId9"/>
    <p:sldId id="371" r:id="rId10"/>
    <p:sldId id="451" r:id="rId11"/>
    <p:sldId id="428" r:id="rId12"/>
    <p:sldId id="461" r:id="rId13"/>
    <p:sldId id="462" r:id="rId14"/>
    <p:sldId id="463" r:id="rId15"/>
    <p:sldId id="464" r:id="rId16"/>
    <p:sldId id="452" r:id="rId17"/>
    <p:sldId id="429" r:id="rId18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기용 최" initials="기최" lastIdx="2" clrIdx="0">
    <p:extLst>
      <p:ext uri="{19B8F6BF-5375-455C-9EA6-DF929625EA0E}">
        <p15:presenceInfo xmlns:p15="http://schemas.microsoft.com/office/powerpoint/2012/main" userId="기용 최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6AB0"/>
    <a:srgbClr val="009639"/>
    <a:srgbClr val="203864"/>
    <a:srgbClr val="AAB8D3"/>
    <a:srgbClr val="0000FF"/>
    <a:srgbClr val="3790AE"/>
    <a:srgbClr val="7891C2"/>
    <a:srgbClr val="ECECEB"/>
    <a:srgbClr val="33CCCC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6353" autoAdjust="0"/>
  </p:normalViewPr>
  <p:slideViewPr>
    <p:cSldViewPr snapToGrid="0">
      <p:cViewPr varScale="1">
        <p:scale>
          <a:sx n="118" d="100"/>
          <a:sy n="118" d="100"/>
        </p:scale>
        <p:origin x="1356" y="108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다키 L" pitchFamily="2" charset="-127"/>
                <a:ea typeface="다키 L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다키 L" pitchFamily="2" charset="-127"/>
                <a:ea typeface="다키 L" pitchFamily="2" charset="-127"/>
              </a:defRPr>
            </a:lvl1pPr>
          </a:lstStyle>
          <a:p>
            <a:fld id="{0667899B-4673-4355-9EAF-6C41FF8008EE}" type="datetimeFigureOut">
              <a:rPr lang="ko-KR" altLang="en-US" smtClean="0"/>
              <a:pPr/>
              <a:t>2025-12-05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다키 L" pitchFamily="2" charset="-127"/>
                <a:ea typeface="다키 L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다키 L" pitchFamily="2" charset="-127"/>
                <a:ea typeface="다키 L" pitchFamily="2" charset="-127"/>
              </a:defRPr>
            </a:lvl1pPr>
          </a:lstStyle>
          <a:p>
            <a:fld id="{640D658A-6369-4893-AF2D-D5BDA7B9229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633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다키 L" pitchFamily="2" charset="-127"/>
        <a:ea typeface="다키 L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다키 L" pitchFamily="2" charset="-127"/>
        <a:ea typeface="다키 L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다키 L" pitchFamily="2" charset="-127"/>
        <a:ea typeface="다키 L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다키 L" pitchFamily="2" charset="-127"/>
        <a:ea typeface="다키 L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다키 L" pitchFamily="2" charset="-127"/>
        <a:ea typeface="다키 L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1E99C33-8D6B-430D-A36B-45FC52472AEC}"/>
              </a:ext>
            </a:extLst>
          </p:cNvPr>
          <p:cNvCxnSpPr>
            <a:cxnSpLocks/>
          </p:cNvCxnSpPr>
          <p:nvPr userDrawn="1"/>
        </p:nvCxnSpPr>
        <p:spPr>
          <a:xfrm>
            <a:off x="200025" y="545440"/>
            <a:ext cx="9505950" cy="0"/>
          </a:xfrm>
          <a:prstGeom prst="line">
            <a:avLst/>
          </a:prstGeom>
          <a:ln w="12700">
            <a:solidFill>
              <a:srgbClr val="248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553290-7473-4FDB-ACDE-601B55C6B4F8}"/>
              </a:ext>
            </a:extLst>
          </p:cNvPr>
          <p:cNvCxnSpPr>
            <a:cxnSpLocks/>
          </p:cNvCxnSpPr>
          <p:nvPr userDrawn="1"/>
        </p:nvCxnSpPr>
        <p:spPr>
          <a:xfrm>
            <a:off x="8917497" y="6489700"/>
            <a:ext cx="788478" cy="0"/>
          </a:xfrm>
          <a:prstGeom prst="line">
            <a:avLst/>
          </a:prstGeom>
          <a:ln w="12700">
            <a:solidFill>
              <a:srgbClr val="000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2FA2C0-29DB-41C7-A714-EDF0EA5A7304}"/>
              </a:ext>
            </a:extLst>
          </p:cNvPr>
          <p:cNvCxnSpPr>
            <a:cxnSpLocks/>
          </p:cNvCxnSpPr>
          <p:nvPr userDrawn="1"/>
        </p:nvCxnSpPr>
        <p:spPr>
          <a:xfrm>
            <a:off x="200025" y="6489700"/>
            <a:ext cx="84993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454626F1-9B27-4948-A462-0BC613C9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84" y="45719"/>
            <a:ext cx="7839641" cy="499721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6F400-B9D2-46A0-983C-2983F2FEE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94860" y="6495928"/>
            <a:ext cx="716280" cy="35349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C51157-3FC7-47B7-A138-266CB3D40BC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D7741-3886-4E87-B7EF-0AC26E359C8F}"/>
              </a:ext>
            </a:extLst>
          </p:cNvPr>
          <p:cNvSpPr txBox="1"/>
          <p:nvPr userDrawn="1"/>
        </p:nvSpPr>
        <p:spPr>
          <a:xfrm>
            <a:off x="208984" y="6511695"/>
            <a:ext cx="4385876" cy="337725"/>
          </a:xfrm>
          <a:prstGeom prst="rect">
            <a:avLst/>
          </a:prstGeom>
          <a:noFill/>
        </p:spPr>
        <p:txBody>
          <a:bodyPr wrap="square" tIns="46800" bIns="46800" rtlCol="0" anchor="ctr" anchorCtr="0">
            <a:noAutofit/>
          </a:bodyPr>
          <a:lstStyle/>
          <a:p>
            <a:r>
              <a:rPr lang="ko-KR" altLang="en-US" sz="1000" dirty="0">
                <a:latin typeface="다키 M Title" pitchFamily="2" charset="-127"/>
                <a:ea typeface="다키 M Title" pitchFamily="2" charset="-127"/>
              </a:rPr>
              <a:t>아키텍처 정의서</a:t>
            </a:r>
            <a:endParaRPr lang="en-US" altLang="ko-KR" sz="1000" dirty="0">
              <a:solidFill>
                <a:srgbClr val="FF0000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75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C6466-58CA-4AF7-BE79-0AEA2BA85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8985" y="6511695"/>
            <a:ext cx="4744015" cy="3418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>
                <a:latin typeface="다키 L" pitchFamily="2" charset="-127"/>
                <a:ea typeface="다키 L" pitchFamily="2" charset="-127"/>
              </a:rPr>
              <a:t>아키텍처 정의서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597902-C0C5-482F-AB8F-6CCED72F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53000" y="6500061"/>
            <a:ext cx="2228850" cy="3534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fld id="{EEC51157-3FC7-47B7-A138-266CB3D40BC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93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742950" rtl="0" eaLnBrk="1" latinLnBrk="1" hangingPunct="1">
        <a:lnSpc>
          <a:spcPct val="10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100000"/>
        </a:lnSpc>
        <a:spcBef>
          <a:spcPts val="0"/>
        </a:spcBef>
        <a:buFont typeface="맑은 고딕" panose="020B0503020000020004" pitchFamily="50" charset="-127"/>
        <a:buChar char="□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10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10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10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10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  <p15:guide id="3" pos="126" userDrawn="1">
          <p15:clr>
            <a:srgbClr val="F26B43"/>
          </p15:clr>
        </p15:guide>
        <p15:guide id="4" pos="6114" userDrawn="1">
          <p15:clr>
            <a:srgbClr val="F26B43"/>
          </p15:clr>
        </p15:guide>
        <p15:guide id="5" orient="horz" pos="28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pos="5070" userDrawn="1">
          <p15:clr>
            <a:srgbClr val="F26B43"/>
          </p15:clr>
        </p15:guide>
        <p15:guide id="8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tomcat.apache.org/" TargetMode="External"/><Relationship Id="rId13" Type="http://schemas.openxmlformats.org/officeDocument/2006/relationships/hyperlink" Target="https://cli.vuejs.org/" TargetMode="External"/><Relationship Id="rId18" Type="http://schemas.openxmlformats.org/officeDocument/2006/relationships/hyperlink" Target="https://redis.io/" TargetMode="External"/><Relationship Id="rId26" Type="http://schemas.openxmlformats.org/officeDocument/2006/relationships/hyperlink" Target="https://sentry.io/" TargetMode="External"/><Relationship Id="rId3" Type="http://schemas.openxmlformats.org/officeDocument/2006/relationships/hyperlink" Target="https://www.docker.com/" TargetMode="External"/><Relationship Id="rId21" Type="http://schemas.openxmlformats.org/officeDocument/2006/relationships/hyperlink" Target="https://www.jenkins.io/" TargetMode="External"/><Relationship Id="rId7" Type="http://schemas.openxmlformats.org/officeDocument/2006/relationships/hyperlink" Target="https://help.sonatype.com/repomanager3" TargetMode="External"/><Relationship Id="rId12" Type="http://schemas.openxmlformats.org/officeDocument/2006/relationships/hyperlink" Target="https://kr.vuejs.org/v2/guide/index.html" TargetMode="External"/><Relationship Id="rId17" Type="http://schemas.openxmlformats.org/officeDocument/2006/relationships/hyperlink" Target="https://logback.qos.ch/" TargetMode="External"/><Relationship Id="rId25" Type="http://schemas.openxmlformats.org/officeDocument/2006/relationships/hyperlink" Target="https://prometheus.io/" TargetMode="External"/><Relationship Id="rId2" Type="http://schemas.openxmlformats.org/officeDocument/2006/relationships/hyperlink" Target="https://www.centos.org/download/" TargetMode="External"/><Relationship Id="rId16" Type="http://schemas.openxmlformats.org/officeDocument/2006/relationships/hyperlink" Target="https://mybatis.org/" TargetMode="External"/><Relationship Id="rId20" Type="http://schemas.openxmlformats.org/officeDocument/2006/relationships/hyperlink" Target="https://www.rabbitmq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oharbor.io/" TargetMode="External"/><Relationship Id="rId11" Type="http://schemas.openxmlformats.org/officeDocument/2006/relationships/hyperlink" Target="https://nodejs.org/ko/" TargetMode="External"/><Relationship Id="rId24" Type="http://schemas.openxmlformats.org/officeDocument/2006/relationships/hyperlink" Target="https://grafana.com/" TargetMode="External"/><Relationship Id="rId5" Type="http://schemas.openxmlformats.org/officeDocument/2006/relationships/hyperlink" Target="https://www.vaultproject.io/" TargetMode="External"/><Relationship Id="rId15" Type="http://schemas.openxmlformats.org/officeDocument/2006/relationships/hyperlink" Target="https://openjdk.java.net/" TargetMode="External"/><Relationship Id="rId23" Type="http://schemas.openxmlformats.org/officeDocument/2006/relationships/hyperlink" Target="https://github.com/pinpoint-apm/pinpoint" TargetMode="External"/><Relationship Id="rId10" Type="http://schemas.openxmlformats.org/officeDocument/2006/relationships/hyperlink" Target="https://www.sencha.com/" TargetMode="External"/><Relationship Id="rId19" Type="http://schemas.openxmlformats.org/officeDocument/2006/relationships/hyperlink" Target="https://firebase.google.com/?hl=ko" TargetMode="External"/><Relationship Id="rId4" Type="http://schemas.openxmlformats.org/officeDocument/2006/relationships/hyperlink" Target="https://www.portainer.io/" TargetMode="External"/><Relationship Id="rId9" Type="http://schemas.openxmlformats.org/officeDocument/2006/relationships/hyperlink" Target="https://mariadb.org/" TargetMode="External"/><Relationship Id="rId14" Type="http://schemas.openxmlformats.org/officeDocument/2006/relationships/hyperlink" Target="https://spring.io/projects/spring-boot" TargetMode="External"/><Relationship Id="rId22" Type="http://schemas.openxmlformats.org/officeDocument/2006/relationships/hyperlink" Target="https://about.gitlab.com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27.png"/><Relationship Id="rId3" Type="http://schemas.openxmlformats.org/officeDocument/2006/relationships/image" Target="../media/image16.png"/><Relationship Id="rId21" Type="http://schemas.openxmlformats.org/officeDocument/2006/relationships/image" Target="../media/image30.png"/><Relationship Id="rId7" Type="http://schemas.openxmlformats.org/officeDocument/2006/relationships/image" Target="../media/image19.png"/><Relationship Id="rId12" Type="http://schemas.openxmlformats.org/officeDocument/2006/relationships/image" Target="../media/image24.wmf"/><Relationship Id="rId17" Type="http://schemas.openxmlformats.org/officeDocument/2006/relationships/image" Target="../media/image1.png"/><Relationship Id="rId2" Type="http://schemas.openxmlformats.org/officeDocument/2006/relationships/image" Target="../media/image15.png"/><Relationship Id="rId16" Type="http://schemas.openxmlformats.org/officeDocument/2006/relationships/image" Target="../media/image12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5" Type="http://schemas.openxmlformats.org/officeDocument/2006/relationships/image" Target="../media/image11.png"/><Relationship Id="rId10" Type="http://schemas.openxmlformats.org/officeDocument/2006/relationships/image" Target="../media/image22.png"/><Relationship Id="rId19" Type="http://schemas.openxmlformats.org/officeDocument/2006/relationships/image" Target="../media/image28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Relationship Id="rId14" Type="http://schemas.openxmlformats.org/officeDocument/2006/relationships/image" Target="../media/image26.png"/><Relationship Id="rId22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1.jpeg"/><Relationship Id="rId18" Type="http://schemas.openxmlformats.org/officeDocument/2006/relationships/image" Target="../media/image24.wmf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12" Type="http://schemas.openxmlformats.org/officeDocument/2006/relationships/image" Target="../media/image32.png"/><Relationship Id="rId17" Type="http://schemas.openxmlformats.org/officeDocument/2006/relationships/image" Target="../media/image22.png"/><Relationship Id="rId2" Type="http://schemas.openxmlformats.org/officeDocument/2006/relationships/image" Target="../media/image16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5" Type="http://schemas.openxmlformats.org/officeDocument/2006/relationships/image" Target="../media/image33.png"/><Relationship Id="rId10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26.png"/><Relationship Id="rId1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3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wmf"/><Relationship Id="rId17" Type="http://schemas.openxmlformats.org/officeDocument/2006/relationships/image" Target="../media/image1.png"/><Relationship Id="rId2" Type="http://schemas.openxmlformats.org/officeDocument/2006/relationships/image" Target="../media/image15.png"/><Relationship Id="rId16" Type="http://schemas.openxmlformats.org/officeDocument/2006/relationships/image" Target="../media/image12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5" Type="http://schemas.openxmlformats.org/officeDocument/2006/relationships/image" Target="../media/image11.png"/><Relationship Id="rId10" Type="http://schemas.openxmlformats.org/officeDocument/2006/relationships/image" Target="../media/image22.png"/><Relationship Id="rId19" Type="http://schemas.openxmlformats.org/officeDocument/2006/relationships/image" Target="../media/image27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Relationship Id="rId1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png"/><Relationship Id="rId18" Type="http://schemas.openxmlformats.org/officeDocument/2006/relationships/image" Target="../media/image27.png"/><Relationship Id="rId3" Type="http://schemas.openxmlformats.org/officeDocument/2006/relationships/image" Target="../media/image16.png"/><Relationship Id="rId21" Type="http://schemas.openxmlformats.org/officeDocument/2006/relationships/image" Target="../media/image29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3.png"/><Relationship Id="rId2" Type="http://schemas.openxmlformats.org/officeDocument/2006/relationships/image" Target="../media/image15.png"/><Relationship Id="rId16" Type="http://schemas.openxmlformats.org/officeDocument/2006/relationships/image" Target="../media/image1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wmf"/><Relationship Id="rId5" Type="http://schemas.openxmlformats.org/officeDocument/2006/relationships/image" Target="../media/image9.png"/><Relationship Id="rId15" Type="http://schemas.openxmlformats.org/officeDocument/2006/relationships/image" Target="../media/image12.png"/><Relationship Id="rId23" Type="http://schemas.openxmlformats.org/officeDocument/2006/relationships/image" Target="../media/image17.png"/><Relationship Id="rId10" Type="http://schemas.openxmlformats.org/officeDocument/2006/relationships/image" Target="../media/image23.png"/><Relationship Id="rId19" Type="http://schemas.openxmlformats.org/officeDocument/2006/relationships/image" Target="../media/image28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11.png"/><Relationship Id="rId22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29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17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1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8.png"/><Relationship Id="rId7" Type="http://schemas.openxmlformats.org/officeDocument/2006/relationships/image" Target="../media/image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1CF0B-D8AF-4158-9540-704AE216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 </a:t>
            </a:r>
            <a:r>
              <a:rPr lang="ko-KR" altLang="en-US" dirty="0"/>
              <a:t>서버 시스템 구성</a:t>
            </a:r>
          </a:p>
        </p:txBody>
      </p:sp>
      <p:graphicFrame>
        <p:nvGraphicFramePr>
          <p:cNvPr id="3" name="Group 122">
            <a:extLst>
              <a:ext uri="{FF2B5EF4-FFF2-40B4-BE49-F238E27FC236}">
                <a16:creationId xmlns:a16="http://schemas.microsoft.com/office/drawing/2014/main" id="{3FC7298E-76A9-461D-BC20-7873A45B2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476927"/>
              </p:ext>
            </p:extLst>
          </p:nvPr>
        </p:nvGraphicFramePr>
        <p:xfrm>
          <a:off x="391814" y="913269"/>
          <a:ext cx="9031138" cy="5537768"/>
        </p:xfrm>
        <a:graphic>
          <a:graphicData uri="http://schemas.openxmlformats.org/drawingml/2006/table">
            <a:tbl>
              <a:tblPr/>
              <a:tblGrid>
                <a:gridCol w="1851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150">
                  <a:extLst>
                    <a:ext uri="{9D8B030D-6E8A-4147-A177-3AD203B41FA5}">
                      <a16:colId xmlns:a16="http://schemas.microsoft.com/office/drawing/2014/main" val="2126730414"/>
                    </a:ext>
                  </a:extLst>
                </a:gridCol>
                <a:gridCol w="1314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70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구분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서버 구성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다키 B" pitchFamily="2" charset="-127"/>
                        <a:ea typeface="다키 B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스펙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사양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비 고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88">
                <a:tc rowSpan="6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WEB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-node3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68630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23529798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-node4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65979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486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84933"/>
                  </a:ext>
                </a:extLst>
              </a:tr>
              <a:tr h="18268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WAS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-node1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25967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650939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544156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-node2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93991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3604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18597"/>
                  </a:ext>
                </a:extLst>
              </a:tr>
              <a:tr h="18268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DB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db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-master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4Core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04752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6264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9926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db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-slave 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4Core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11216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285668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200GB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04937"/>
                  </a:ext>
                </a:extLst>
              </a:tr>
              <a:tr h="182688">
                <a:tc rowSpan="6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 Front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2 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5193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33864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50GB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41385"/>
                  </a:ext>
                </a:extLst>
              </a:tr>
              <a:tr h="182688">
                <a:tc vMerge="1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Backend-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 Backend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2 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42656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50GB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463912"/>
                  </a:ext>
                </a:extLst>
              </a:tr>
              <a:tr h="1826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maxscale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maxscale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2362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8GB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13945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200GB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3497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0EC22D-B309-4B4C-9EE9-CB910CC8B297}"/>
              </a:ext>
            </a:extLst>
          </p:cNvPr>
          <p:cNvSpPr txBox="1"/>
          <p:nvPr/>
        </p:nvSpPr>
        <p:spPr>
          <a:xfrm>
            <a:off x="328522" y="611659"/>
            <a:ext cx="9031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Dev </a:t>
            </a:r>
            <a:r>
              <a:rPr lang="ko-KR" altLang="en-US" sz="1600" dirty="0"/>
              <a:t>서버 시스템 구성</a:t>
            </a:r>
            <a:r>
              <a:rPr lang="en-US" altLang="ko-KR" sz="1600" dirty="0"/>
              <a:t>(</a:t>
            </a:r>
            <a:r>
              <a:rPr lang="ko-KR" altLang="en-US" sz="1600" dirty="0"/>
              <a:t>현재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2201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1CF0B-D8AF-4158-9540-704AE216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Stage </a:t>
            </a:r>
            <a:r>
              <a:rPr lang="ko-KR" altLang="en-US" dirty="0"/>
              <a:t>서버 시스템 구성</a:t>
            </a:r>
          </a:p>
        </p:txBody>
      </p:sp>
      <p:graphicFrame>
        <p:nvGraphicFramePr>
          <p:cNvPr id="3" name="Group 122">
            <a:extLst>
              <a:ext uri="{FF2B5EF4-FFF2-40B4-BE49-F238E27FC236}">
                <a16:creationId xmlns:a16="http://schemas.microsoft.com/office/drawing/2014/main" id="{3FC7298E-76A9-461D-BC20-7873A45B2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01510"/>
              </p:ext>
            </p:extLst>
          </p:nvPr>
        </p:nvGraphicFramePr>
        <p:xfrm>
          <a:off x="391814" y="913269"/>
          <a:ext cx="9031138" cy="5537768"/>
        </p:xfrm>
        <a:graphic>
          <a:graphicData uri="http://schemas.openxmlformats.org/drawingml/2006/table">
            <a:tbl>
              <a:tblPr/>
              <a:tblGrid>
                <a:gridCol w="1851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150">
                  <a:extLst>
                    <a:ext uri="{9D8B030D-6E8A-4147-A177-3AD203B41FA5}">
                      <a16:colId xmlns:a16="http://schemas.microsoft.com/office/drawing/2014/main" val="2126730414"/>
                    </a:ext>
                  </a:extLst>
                </a:gridCol>
                <a:gridCol w="1314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70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구분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서버 구성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다키 B" pitchFamily="2" charset="-127"/>
                        <a:ea typeface="다키 B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스펙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사양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비 고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88">
                <a:tc rowSpan="6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WEB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-node3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68630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23529798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-node4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65979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486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84933"/>
                  </a:ext>
                </a:extLst>
              </a:tr>
              <a:tr h="18268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WAS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-node1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25967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650939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544156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-node2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93991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3604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18597"/>
                  </a:ext>
                </a:extLst>
              </a:tr>
              <a:tr h="18268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DB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db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-master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04752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6264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700GB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9926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db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-slave 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11216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285668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700GB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04937"/>
                  </a:ext>
                </a:extLst>
              </a:tr>
              <a:tr h="182688">
                <a:tc rowSpan="6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Front-ha1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 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5193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8GB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33864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100GB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41385"/>
                  </a:ext>
                </a:extLst>
              </a:tr>
              <a:tr h="182688">
                <a:tc vMerge="1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Backend-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Back-ha1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 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8GB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42656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100GB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463912"/>
                  </a:ext>
                </a:extLst>
              </a:tr>
              <a:tr h="1826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maxscale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maxscale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2362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8GB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13945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200GB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3497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0EC22D-B309-4B4C-9EE9-CB910CC8B297}"/>
              </a:ext>
            </a:extLst>
          </p:cNvPr>
          <p:cNvSpPr txBox="1"/>
          <p:nvPr/>
        </p:nvSpPr>
        <p:spPr>
          <a:xfrm>
            <a:off x="328522" y="611659"/>
            <a:ext cx="9031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Stage </a:t>
            </a:r>
            <a:r>
              <a:rPr lang="ko-KR" altLang="en-US" sz="1600" dirty="0"/>
              <a:t>서버 시스템 구성</a:t>
            </a:r>
            <a:r>
              <a:rPr lang="en-US" altLang="ko-KR" sz="1600" dirty="0"/>
              <a:t>(</a:t>
            </a:r>
            <a:r>
              <a:rPr lang="ko-KR" altLang="en-US" sz="1600" dirty="0"/>
              <a:t>현재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6624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1CF0B-D8AF-4158-9540-704AE216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 </a:t>
            </a:r>
            <a:r>
              <a:rPr lang="ko-KR" altLang="en-US" dirty="0"/>
              <a:t>서버 시스템 구성</a:t>
            </a:r>
          </a:p>
        </p:txBody>
      </p:sp>
      <p:graphicFrame>
        <p:nvGraphicFramePr>
          <p:cNvPr id="3" name="Group 122">
            <a:extLst>
              <a:ext uri="{FF2B5EF4-FFF2-40B4-BE49-F238E27FC236}">
                <a16:creationId xmlns:a16="http://schemas.microsoft.com/office/drawing/2014/main" id="{3FC7298E-76A9-461D-BC20-7873A45B2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73483"/>
              </p:ext>
            </p:extLst>
          </p:nvPr>
        </p:nvGraphicFramePr>
        <p:xfrm>
          <a:off x="391814" y="913269"/>
          <a:ext cx="9031138" cy="5537768"/>
        </p:xfrm>
        <a:graphic>
          <a:graphicData uri="http://schemas.openxmlformats.org/drawingml/2006/table">
            <a:tbl>
              <a:tblPr/>
              <a:tblGrid>
                <a:gridCol w="1851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150">
                  <a:extLst>
                    <a:ext uri="{9D8B030D-6E8A-4147-A177-3AD203B41FA5}">
                      <a16:colId xmlns:a16="http://schemas.microsoft.com/office/drawing/2014/main" val="2126730414"/>
                    </a:ext>
                  </a:extLst>
                </a:gridCol>
                <a:gridCol w="1314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70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구분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서버 구성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다키 B" pitchFamily="2" charset="-127"/>
                        <a:ea typeface="다키 B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스펙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사양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비 고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88">
                <a:tc rowSpan="6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WEB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-node3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68630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23529798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-node4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65979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486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84933"/>
                  </a:ext>
                </a:extLst>
              </a:tr>
              <a:tr h="18268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WAS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-node1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25967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650939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544156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-node2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8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93991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3604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100GB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18597"/>
                  </a:ext>
                </a:extLst>
              </a:tr>
              <a:tr h="18268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DB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-mrdb3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16Core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04752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64GB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6264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1.3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TB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9926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-mrdb2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16Core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11216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32GB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285668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HDD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1.1TB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04937"/>
                  </a:ext>
                </a:extLst>
              </a:tr>
              <a:tr h="182688">
                <a:tc rowSpan="6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</a:t>
                      </a: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webha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 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5193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8GB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33864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100GB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41385"/>
                  </a:ext>
                </a:extLst>
              </a:tr>
              <a:tr h="182688">
                <a:tc vMerge="1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Backend-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haproxy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</a:t>
                      </a: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washa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 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8GB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426565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100GB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463912"/>
                  </a:ext>
                </a:extLst>
              </a:tr>
              <a:tr h="1826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maxscale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maxscale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CPU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4Core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23623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Memory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8GB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139454"/>
                  </a:ext>
                </a:extLst>
              </a:tr>
              <a:tr h="1826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HDD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>
                          <a:latin typeface="다키 L" pitchFamily="2" charset="-127"/>
                          <a:ea typeface="다키 L" pitchFamily="2" charset="-127"/>
                        </a:rPr>
                        <a:t>100GB</a:t>
                      </a:r>
                      <a:endParaRPr lang="ko-KR" altLang="en-US" sz="700" b="0" dirty="0"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3497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0EC22D-B309-4B4C-9EE9-CB910CC8B297}"/>
              </a:ext>
            </a:extLst>
          </p:cNvPr>
          <p:cNvSpPr txBox="1"/>
          <p:nvPr/>
        </p:nvSpPr>
        <p:spPr>
          <a:xfrm>
            <a:off x="328522" y="611659"/>
            <a:ext cx="9031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Prod </a:t>
            </a:r>
            <a:r>
              <a:rPr lang="ko-KR" altLang="en-US" sz="1600" dirty="0"/>
              <a:t>서버 시스템 구성</a:t>
            </a:r>
            <a:r>
              <a:rPr lang="en-US" altLang="ko-KR" sz="1600" dirty="0"/>
              <a:t>(</a:t>
            </a:r>
            <a:r>
              <a:rPr lang="ko-KR" altLang="en-US" sz="1600" dirty="0"/>
              <a:t>현재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6196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1CF0B-D8AF-4158-9540-704AE216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84" y="36194"/>
            <a:ext cx="7839641" cy="499721"/>
          </a:xfrm>
        </p:spPr>
        <p:txBody>
          <a:bodyPr/>
          <a:lstStyle/>
          <a:p>
            <a:r>
              <a:rPr lang="en-US" altLang="ko-KR" dirty="0"/>
              <a:t>Dev </a:t>
            </a:r>
            <a:r>
              <a:rPr lang="ko-KR" altLang="en-US" dirty="0"/>
              <a:t>서버 시스템 구성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EC22D-B309-4B4C-9EE9-CB910CC8B297}"/>
              </a:ext>
            </a:extLst>
          </p:cNvPr>
          <p:cNvSpPr txBox="1"/>
          <p:nvPr/>
        </p:nvSpPr>
        <p:spPr>
          <a:xfrm>
            <a:off x="283943" y="583409"/>
            <a:ext cx="4811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Dev</a:t>
            </a:r>
            <a:r>
              <a:rPr lang="ko-KR" altLang="en-US" sz="1600" dirty="0"/>
              <a:t> 서버 </a:t>
            </a:r>
            <a:r>
              <a:rPr lang="en-US" altLang="ko-KR" sz="1600" dirty="0"/>
              <a:t>(Docker</a:t>
            </a:r>
            <a:r>
              <a:rPr lang="en-US" altLang="ko-KR" sz="1600" b="0" i="0" dirty="0">
                <a:solidFill>
                  <a:srgbClr val="4D5156"/>
                </a:solidFill>
                <a:effectLst/>
                <a:latin typeface="Apple SD Gothic Neo"/>
              </a:rPr>
              <a:t> Architecture)</a:t>
            </a:r>
            <a:r>
              <a:rPr lang="ko-KR" altLang="en-US" sz="1600" dirty="0"/>
              <a:t>시스템 구성</a:t>
            </a:r>
            <a:r>
              <a:rPr lang="en-US" altLang="ko-KR" sz="1600" dirty="0"/>
              <a:t>(</a:t>
            </a:r>
            <a:r>
              <a:rPr lang="ko-KR" altLang="en-US" sz="1600" dirty="0"/>
              <a:t>현재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F2C2171-7062-4925-838E-141E26C785BB}"/>
              </a:ext>
            </a:extLst>
          </p:cNvPr>
          <p:cNvSpPr/>
          <p:nvPr/>
        </p:nvSpPr>
        <p:spPr>
          <a:xfrm>
            <a:off x="840882" y="982049"/>
            <a:ext cx="8873910" cy="5454512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1" name="Picture 2" descr="Deep dive – Azure Load Balancer | Marius Sandbu">
            <a:extLst>
              <a:ext uri="{FF2B5EF4-FFF2-40B4-BE49-F238E27FC236}">
                <a16:creationId xmlns:a16="http://schemas.microsoft.com/office/drawing/2014/main" id="{81E742EB-1965-7426-E378-BE712F1842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7589060" y="3354056"/>
            <a:ext cx="399795" cy="50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8CC8D09-B31F-1568-0467-5907AC2FD8ED}"/>
              </a:ext>
            </a:extLst>
          </p:cNvPr>
          <p:cNvSpPr txBox="1"/>
          <p:nvPr/>
        </p:nvSpPr>
        <p:spPr>
          <a:xfrm>
            <a:off x="6947544" y="3369632"/>
            <a:ext cx="746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maxScale</a:t>
            </a:r>
            <a:endParaRPr lang="en-US" altLang="ko-KR" sz="1000" dirty="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F79FEA0-2BDE-4060-3BC9-FB1E66812F31}"/>
              </a:ext>
            </a:extLst>
          </p:cNvPr>
          <p:cNvGrpSpPr/>
          <p:nvPr/>
        </p:nvGrpSpPr>
        <p:grpSpPr>
          <a:xfrm>
            <a:off x="8341548" y="2545026"/>
            <a:ext cx="1268435" cy="1957243"/>
            <a:chOff x="8350882" y="2042101"/>
            <a:chExt cx="1254591" cy="195724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9C30B69-7A2A-8A24-7986-6CB173BFBE89}"/>
                </a:ext>
              </a:extLst>
            </p:cNvPr>
            <p:cNvSpPr/>
            <p:nvPr/>
          </p:nvSpPr>
          <p:spPr>
            <a:xfrm>
              <a:off x="8350882" y="2289593"/>
              <a:ext cx="1254591" cy="1709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dirty="0"/>
                <a:t>     </a:t>
              </a:r>
              <a:endParaRPr lang="en-US" altLang="ko-KR" sz="800" dirty="0"/>
            </a:p>
            <a:p>
              <a:pPr algn="ctr"/>
              <a:endParaRPr lang="ko-KR" altLang="en-US" sz="700" dirty="0"/>
            </a:p>
          </p:txBody>
        </p:sp>
        <p:pic>
          <p:nvPicPr>
            <p:cNvPr id="32" name="그래픽 8" descr="데이터베이스">
              <a:extLst>
                <a:ext uri="{FF2B5EF4-FFF2-40B4-BE49-F238E27FC236}">
                  <a16:creationId xmlns:a16="http://schemas.microsoft.com/office/drawing/2014/main" id="{87AA98C9-D536-7CD0-D534-B6240C773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02152" y="2551745"/>
              <a:ext cx="497059" cy="419630"/>
            </a:xfrm>
            <a:prstGeom prst="rect">
              <a:avLst/>
            </a:prstGeom>
          </p:spPr>
        </p:pic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BDFD855B-F11B-2771-426D-E8646956640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H="1" flipV="1">
              <a:off x="8950681" y="2971375"/>
              <a:ext cx="826" cy="35058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3F829BE-F73A-50D8-2B47-1917DEAE7C75}"/>
                </a:ext>
              </a:extLst>
            </p:cNvPr>
            <p:cNvSpPr txBox="1"/>
            <p:nvPr/>
          </p:nvSpPr>
          <p:spPr>
            <a:xfrm>
              <a:off x="8535251" y="2395704"/>
              <a:ext cx="10136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master</a:t>
              </a:r>
              <a:endParaRPr lang="ko-KR" altLang="en-US" sz="1000" dirty="0"/>
            </a:p>
          </p:txBody>
        </p:sp>
        <p:pic>
          <p:nvPicPr>
            <p:cNvPr id="28" name="그래픽 8" descr="데이터베이스">
              <a:extLst>
                <a:ext uri="{FF2B5EF4-FFF2-40B4-BE49-F238E27FC236}">
                  <a16:creationId xmlns:a16="http://schemas.microsoft.com/office/drawing/2014/main" id="{DBDAAAB4-38AE-43AA-5ECC-D7315B3BE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02977" y="3321958"/>
              <a:ext cx="497059" cy="431602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22220C5-49E5-2245-726F-77A37B0603A1}"/>
                </a:ext>
              </a:extLst>
            </p:cNvPr>
            <p:cNvSpPr txBox="1"/>
            <p:nvPr/>
          </p:nvSpPr>
          <p:spPr>
            <a:xfrm>
              <a:off x="8591784" y="3659142"/>
              <a:ext cx="9571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slave</a:t>
              </a:r>
              <a:endParaRPr lang="ko-KR" altLang="en-US" sz="10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8580745-3EA9-C05D-0CB2-BE13E344DDCB}"/>
                </a:ext>
              </a:extLst>
            </p:cNvPr>
            <p:cNvSpPr txBox="1"/>
            <p:nvPr/>
          </p:nvSpPr>
          <p:spPr>
            <a:xfrm>
              <a:off x="8396704" y="2042101"/>
              <a:ext cx="117514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dirty="0"/>
                <a:t>서비스</a:t>
              </a:r>
              <a:endParaRPr lang="en-US" altLang="ko-KR" sz="10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E9FEF2-FB94-9E0F-C037-DF1F0F052CB1}"/>
                </a:ext>
              </a:extLst>
            </p:cNvPr>
            <p:cNvSpPr txBox="1"/>
            <p:nvPr/>
          </p:nvSpPr>
          <p:spPr>
            <a:xfrm>
              <a:off x="8563517" y="3041531"/>
              <a:ext cx="1013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REPLICATION</a:t>
              </a:r>
              <a:endParaRPr lang="ko-KR" altLang="en-US" sz="1000" dirty="0"/>
            </a:p>
          </p:txBody>
        </p:sp>
      </p:grp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C18556D-60D0-5C9A-1419-DF9EF2376875}"/>
              </a:ext>
            </a:extLst>
          </p:cNvPr>
          <p:cNvCxnSpPr>
            <a:cxnSpLocks/>
            <a:stCxn id="51" idx="3"/>
            <a:endCxn id="32" idx="1"/>
          </p:cNvCxnSpPr>
          <p:nvPr/>
        </p:nvCxnSpPr>
        <p:spPr>
          <a:xfrm flipV="1">
            <a:off x="7988855" y="3264485"/>
            <a:ext cx="707839" cy="3431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DA6DF30-B394-F2E5-51C4-6B8E04EF513A}"/>
              </a:ext>
            </a:extLst>
          </p:cNvPr>
          <p:cNvCxnSpPr>
            <a:stCxn id="51" idx="3"/>
            <a:endCxn id="28" idx="1"/>
          </p:cNvCxnSpPr>
          <p:nvPr/>
        </p:nvCxnSpPr>
        <p:spPr>
          <a:xfrm>
            <a:off x="7988855" y="3607671"/>
            <a:ext cx="708673" cy="4330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7696D0E2-EE79-5E21-4506-EFD5FEC27BF3}"/>
              </a:ext>
            </a:extLst>
          </p:cNvPr>
          <p:cNvSpPr/>
          <p:nvPr/>
        </p:nvSpPr>
        <p:spPr>
          <a:xfrm>
            <a:off x="701454" y="3328709"/>
            <a:ext cx="686171" cy="283484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B819A179-D84A-B845-CD62-83DFA9FE1EC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54163" y="2279243"/>
            <a:ext cx="432824" cy="372475"/>
          </a:xfrm>
          <a:prstGeom prst="rect">
            <a:avLst/>
          </a:prstGeom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66D2185-8E58-FFDD-6912-75162810C5EA}"/>
              </a:ext>
            </a:extLst>
          </p:cNvPr>
          <p:cNvSpPr/>
          <p:nvPr/>
        </p:nvSpPr>
        <p:spPr>
          <a:xfrm>
            <a:off x="135802" y="2109908"/>
            <a:ext cx="5934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User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39C32D37-A2DB-3E07-BACE-16CE4F62F7E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49578" y="4252118"/>
            <a:ext cx="432824" cy="372475"/>
          </a:xfrm>
          <a:prstGeom prst="rect">
            <a:avLst/>
          </a:prstGeom>
        </p:spPr>
      </p:pic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D40A8A6F-3D56-2FF5-A9D4-57E15634DAB3}"/>
              </a:ext>
            </a:extLst>
          </p:cNvPr>
          <p:cNvCxnSpPr>
            <a:cxnSpLocks/>
            <a:stCxn id="103" idx="2"/>
            <a:endCxn id="102" idx="1"/>
          </p:cNvCxnSpPr>
          <p:nvPr/>
        </p:nvCxnSpPr>
        <p:spPr>
          <a:xfrm rot="16200000" flipH="1">
            <a:off x="126648" y="2895644"/>
            <a:ext cx="818733" cy="3308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93949B6A-D948-8D99-687E-823518280297}"/>
              </a:ext>
            </a:extLst>
          </p:cNvPr>
          <p:cNvCxnSpPr>
            <a:cxnSpLocks/>
            <a:stCxn id="105" idx="0"/>
            <a:endCxn id="102" idx="1"/>
          </p:cNvCxnSpPr>
          <p:nvPr/>
        </p:nvCxnSpPr>
        <p:spPr>
          <a:xfrm rot="5400000" flipH="1" flipV="1">
            <a:off x="142889" y="3693553"/>
            <a:ext cx="781667" cy="3354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2" descr="HAProxy health checks | Geko Cloud">
            <a:extLst>
              <a:ext uri="{FF2B5EF4-FFF2-40B4-BE49-F238E27FC236}">
                <a16:creationId xmlns:a16="http://schemas.microsoft.com/office/drawing/2014/main" id="{E77CDDAF-6963-C649-6997-1EE7022E3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09" y="3335496"/>
            <a:ext cx="450916" cy="24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Deep dive – Azure Load Balancer | Marius Sandbu">
            <a:extLst>
              <a:ext uri="{FF2B5EF4-FFF2-40B4-BE49-F238E27FC236}">
                <a16:creationId xmlns:a16="http://schemas.microsoft.com/office/drawing/2014/main" id="{EE99F181-3FBE-520C-2706-FDAB3411E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689597" y="3329984"/>
            <a:ext cx="273874" cy="2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279C3DE9-F32C-6863-1C8E-580556E8613C}"/>
              </a:ext>
            </a:extLst>
          </p:cNvPr>
          <p:cNvSpPr txBox="1"/>
          <p:nvPr/>
        </p:nvSpPr>
        <p:spPr>
          <a:xfrm>
            <a:off x="649169" y="3574359"/>
            <a:ext cx="9295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 </a:t>
            </a:r>
            <a:r>
              <a:rPr lang="en-US" altLang="ko-KR" sz="800" b="1" dirty="0" err="1"/>
              <a:t>Haproxy</a:t>
            </a:r>
            <a:r>
              <a:rPr lang="en-US" altLang="ko-KR" sz="800" b="1" dirty="0"/>
              <a:t>-Front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7F6F39B-7A83-3125-C0B6-013D0C377EA1}"/>
              </a:ext>
            </a:extLst>
          </p:cNvPr>
          <p:cNvSpPr/>
          <p:nvPr/>
        </p:nvSpPr>
        <p:spPr>
          <a:xfrm>
            <a:off x="96120" y="4594696"/>
            <a:ext cx="5934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User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3C4C62FF-82B7-DBF8-E42F-9EAF1A625943}"/>
              </a:ext>
            </a:extLst>
          </p:cNvPr>
          <p:cNvGrpSpPr/>
          <p:nvPr/>
        </p:nvGrpSpPr>
        <p:grpSpPr>
          <a:xfrm>
            <a:off x="1774184" y="1076733"/>
            <a:ext cx="2203599" cy="2104259"/>
            <a:chOff x="2078984" y="1076733"/>
            <a:chExt cx="2203599" cy="2104259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D01244E0-7A52-0770-9F55-748834C3A48A}"/>
                </a:ext>
              </a:extLst>
            </p:cNvPr>
            <p:cNvSpPr/>
            <p:nvPr/>
          </p:nvSpPr>
          <p:spPr>
            <a:xfrm>
              <a:off x="2078984" y="1205054"/>
              <a:ext cx="2203599" cy="1975938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73BF8E86-4999-731D-CB11-3B09023A24E7}"/>
                </a:ext>
              </a:extLst>
            </p:cNvPr>
            <p:cNvSpPr/>
            <p:nvPr/>
          </p:nvSpPr>
          <p:spPr>
            <a:xfrm>
              <a:off x="2716464" y="1076733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node03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5B52D734-DA96-25E8-4C7E-22B94664EFC2}"/>
                </a:ext>
              </a:extLst>
            </p:cNvPr>
            <p:cNvSpPr/>
            <p:nvPr/>
          </p:nvSpPr>
          <p:spPr>
            <a:xfrm>
              <a:off x="2155119" y="1346073"/>
              <a:ext cx="2049166" cy="1797735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6BA52444-77F1-7043-3838-9AC714A27EC8}"/>
                </a:ext>
              </a:extLst>
            </p:cNvPr>
            <p:cNvSpPr/>
            <p:nvPr/>
          </p:nvSpPr>
          <p:spPr>
            <a:xfrm>
              <a:off x="2237976" y="2808750"/>
              <a:ext cx="1885979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8C1CF3F5-A480-ECD4-E804-AEC4D94C61FA}"/>
                </a:ext>
              </a:extLst>
            </p:cNvPr>
            <p:cNvSpPr/>
            <p:nvPr/>
          </p:nvSpPr>
          <p:spPr>
            <a:xfrm>
              <a:off x="2235201" y="1402327"/>
              <a:ext cx="1888754" cy="1407276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46AC992-F099-D99F-D1A6-494694DE349D}"/>
                </a:ext>
              </a:extLst>
            </p:cNvPr>
            <p:cNvSpPr/>
            <p:nvPr/>
          </p:nvSpPr>
          <p:spPr>
            <a:xfrm>
              <a:off x="2287543" y="1462540"/>
              <a:ext cx="83718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basic-web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934CA07A-9244-86AA-FB2C-AB0EF606BC88}"/>
                </a:ext>
              </a:extLst>
            </p:cNvPr>
            <p:cNvSpPr/>
            <p:nvPr/>
          </p:nvSpPr>
          <p:spPr>
            <a:xfrm>
              <a:off x="2285747" y="1729862"/>
              <a:ext cx="83718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ess-web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074689BB-048B-45EA-4FE1-7F2FDD617810}"/>
                </a:ext>
              </a:extLst>
            </p:cNvPr>
            <p:cNvSpPr/>
            <p:nvPr/>
          </p:nvSpPr>
          <p:spPr>
            <a:xfrm>
              <a:off x="2269908" y="1986178"/>
              <a:ext cx="85111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sys-web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DA104177-8E8B-9E88-11A8-808A83D63EFD}"/>
                </a:ext>
              </a:extLst>
            </p:cNvPr>
            <p:cNvSpPr/>
            <p:nvPr/>
          </p:nvSpPr>
          <p:spPr>
            <a:xfrm>
              <a:off x="3207456" y="1460138"/>
              <a:ext cx="83327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vacation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B84237A0-AF12-7BFC-3602-ABF7A7AEC244}"/>
                </a:ext>
              </a:extLst>
            </p:cNvPr>
            <p:cNvSpPr/>
            <p:nvPr/>
          </p:nvSpPr>
          <p:spPr>
            <a:xfrm>
              <a:off x="3196251" y="1732197"/>
              <a:ext cx="845468" cy="241960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education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398EB746-5720-0AAA-F515-FCF207063C02}"/>
                </a:ext>
              </a:extLst>
            </p:cNvPr>
            <p:cNvSpPr/>
            <p:nvPr/>
          </p:nvSpPr>
          <p:spPr>
            <a:xfrm>
              <a:off x="3200779" y="2020867"/>
              <a:ext cx="84188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contract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3EA65EA1-48AC-6A2B-53BD-34986AC156EC}"/>
                </a:ext>
              </a:extLst>
            </p:cNvPr>
            <p:cNvSpPr/>
            <p:nvPr/>
          </p:nvSpPr>
          <p:spPr>
            <a:xfrm>
              <a:off x="2273044" y="2284960"/>
              <a:ext cx="84835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ess-app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58966EC0-CA3F-AAB4-D740-EF9F23E5B351}"/>
                </a:ext>
              </a:extLst>
            </p:cNvPr>
            <p:cNvSpPr/>
            <p:nvPr/>
          </p:nvSpPr>
          <p:spPr>
            <a:xfrm>
              <a:off x="3196252" y="2293533"/>
              <a:ext cx="841870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attendance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026" name="Picture 2" descr="아파치 톰캣이란 ?">
              <a:extLst>
                <a:ext uri="{FF2B5EF4-FFF2-40B4-BE49-F238E27FC236}">
                  <a16:creationId xmlns:a16="http://schemas.microsoft.com/office/drawing/2014/main" id="{1CF3BB9D-1B71-29E0-AE66-B34A6584CA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7541" y="1447403"/>
              <a:ext cx="256074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Picture 2" descr="아파치 톰캣이란 ?">
              <a:extLst>
                <a:ext uri="{FF2B5EF4-FFF2-40B4-BE49-F238E27FC236}">
                  <a16:creationId xmlns:a16="http://schemas.microsoft.com/office/drawing/2014/main" id="{EBC6BD70-A232-DE50-9C26-A5372F23A9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672" y="1734894"/>
              <a:ext cx="252425" cy="219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" name="Picture 2" descr="아파치 톰캣이란 ?">
              <a:extLst>
                <a:ext uri="{FF2B5EF4-FFF2-40B4-BE49-F238E27FC236}">
                  <a16:creationId xmlns:a16="http://schemas.microsoft.com/office/drawing/2014/main" id="{AC32B06C-9F70-D505-278A-E661DB0963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2096" y="1988587"/>
              <a:ext cx="251396" cy="217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Nginx Vector SVG Icon (6) - SVG Repo">
              <a:extLst>
                <a:ext uri="{FF2B5EF4-FFF2-40B4-BE49-F238E27FC236}">
                  <a16:creationId xmlns:a16="http://schemas.microsoft.com/office/drawing/2014/main" id="{DE2A66BA-AACE-F94C-304B-189FFC810D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2301" y="2276324"/>
              <a:ext cx="255338" cy="231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5" name="Picture 4" descr="Nginx Vector SVG Icon (6) - SVG Repo">
              <a:extLst>
                <a:ext uri="{FF2B5EF4-FFF2-40B4-BE49-F238E27FC236}">
                  <a16:creationId xmlns:a16="http://schemas.microsoft.com/office/drawing/2014/main" id="{F750E65E-3E2D-3FD2-F034-3427AB3CA2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3759" y="1464931"/>
              <a:ext cx="251396" cy="225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4" descr="Nginx Vector SVG Icon (6) - SVG Repo">
              <a:extLst>
                <a:ext uri="{FF2B5EF4-FFF2-40B4-BE49-F238E27FC236}">
                  <a16:creationId xmlns:a16="http://schemas.microsoft.com/office/drawing/2014/main" id="{DA29059D-D270-60EE-5A6D-F76A15209D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440" y="1731065"/>
              <a:ext cx="251396" cy="244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4" descr="Nginx Vector SVG Icon (6) - SVG Repo">
              <a:extLst>
                <a:ext uri="{FF2B5EF4-FFF2-40B4-BE49-F238E27FC236}">
                  <a16:creationId xmlns:a16="http://schemas.microsoft.com/office/drawing/2014/main" id="{70F94158-5A4A-FDC6-1C6C-CE715A203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029414"/>
              <a:ext cx="251396" cy="230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4" descr="Nginx Vector SVG Icon (6) - SVG Repo">
              <a:extLst>
                <a:ext uri="{FF2B5EF4-FFF2-40B4-BE49-F238E27FC236}">
                  <a16:creationId xmlns:a16="http://schemas.microsoft.com/office/drawing/2014/main" id="{2D272903-8ADF-56F5-BC55-93155BDF8E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295418"/>
              <a:ext cx="251396" cy="224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5" name="사각형: 둥근 모서리 1034">
              <a:extLst>
                <a:ext uri="{FF2B5EF4-FFF2-40B4-BE49-F238E27FC236}">
                  <a16:creationId xmlns:a16="http://schemas.microsoft.com/office/drawing/2014/main" id="{3D3A8228-D50A-C78A-2068-49DA52978BFA}"/>
                </a:ext>
              </a:extLst>
            </p:cNvPr>
            <p:cNvSpPr/>
            <p:nvPr/>
          </p:nvSpPr>
          <p:spPr>
            <a:xfrm>
              <a:off x="2669425" y="2569950"/>
              <a:ext cx="1106784" cy="217409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rabbitmq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cxnSp>
        <p:nvCxnSpPr>
          <p:cNvPr id="1088" name="연결선: 꺾임 1087">
            <a:extLst>
              <a:ext uri="{FF2B5EF4-FFF2-40B4-BE49-F238E27FC236}">
                <a16:creationId xmlns:a16="http://schemas.microsoft.com/office/drawing/2014/main" id="{6A82BC85-996D-171E-6064-5FAACD506C15}"/>
              </a:ext>
            </a:extLst>
          </p:cNvPr>
          <p:cNvCxnSpPr>
            <a:cxnSpLocks/>
            <a:stCxn id="108" idx="0"/>
            <a:endCxn id="124" idx="1"/>
          </p:cNvCxnSpPr>
          <p:nvPr/>
        </p:nvCxnSpPr>
        <p:spPr>
          <a:xfrm rot="5400000" flipH="1" flipV="1">
            <a:off x="896939" y="2458252"/>
            <a:ext cx="1142473" cy="61201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연결선: 꺾임 1155">
            <a:extLst>
              <a:ext uri="{FF2B5EF4-FFF2-40B4-BE49-F238E27FC236}">
                <a16:creationId xmlns:a16="http://schemas.microsoft.com/office/drawing/2014/main" id="{15E9DAB2-0C7E-BF54-33A5-BE3C75C6F31E}"/>
              </a:ext>
            </a:extLst>
          </p:cNvPr>
          <p:cNvCxnSpPr>
            <a:cxnSpLocks/>
            <a:stCxn id="108" idx="2"/>
            <a:endCxn id="1313" idx="1"/>
          </p:cNvCxnSpPr>
          <p:nvPr/>
        </p:nvCxnSpPr>
        <p:spPr>
          <a:xfrm rot="16200000" flipH="1">
            <a:off x="943181" y="3801574"/>
            <a:ext cx="1049940" cy="61196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사각형: 둥근 모서리 1158">
            <a:extLst>
              <a:ext uri="{FF2B5EF4-FFF2-40B4-BE49-F238E27FC236}">
                <a16:creationId xmlns:a16="http://schemas.microsoft.com/office/drawing/2014/main" id="{75B40654-DAB6-0BB8-FED2-D99706686496}"/>
              </a:ext>
            </a:extLst>
          </p:cNvPr>
          <p:cNvSpPr/>
          <p:nvPr/>
        </p:nvSpPr>
        <p:spPr>
          <a:xfrm>
            <a:off x="4336042" y="3296879"/>
            <a:ext cx="716253" cy="283484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160" name="Picture 2" descr="HAProxy health checks | Geko Cloud">
            <a:extLst>
              <a:ext uri="{FF2B5EF4-FFF2-40B4-BE49-F238E27FC236}">
                <a16:creationId xmlns:a16="http://schemas.microsoft.com/office/drawing/2014/main" id="{4C1A20EB-B888-BD95-7E9F-B87A49C49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97" y="3303666"/>
            <a:ext cx="467762" cy="24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1" name="Picture 2" descr="Deep dive – Azure Load Balancer | Marius Sandbu">
            <a:extLst>
              <a:ext uri="{FF2B5EF4-FFF2-40B4-BE49-F238E27FC236}">
                <a16:creationId xmlns:a16="http://schemas.microsoft.com/office/drawing/2014/main" id="{1500D642-CCF2-A9B8-318C-16B92CB9AC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4324185" y="3298154"/>
            <a:ext cx="273874" cy="2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2" name="TextBox 1161">
            <a:extLst>
              <a:ext uri="{FF2B5EF4-FFF2-40B4-BE49-F238E27FC236}">
                <a16:creationId xmlns:a16="http://schemas.microsoft.com/office/drawing/2014/main" id="{E2A55BA9-5024-00FB-3180-4E96C1879B0C}"/>
              </a:ext>
            </a:extLst>
          </p:cNvPr>
          <p:cNvSpPr txBox="1"/>
          <p:nvPr/>
        </p:nvSpPr>
        <p:spPr>
          <a:xfrm>
            <a:off x="4124678" y="3524428"/>
            <a:ext cx="11357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 </a:t>
            </a:r>
            <a:r>
              <a:rPr lang="en-US" altLang="ko-KR" sz="800" b="1" dirty="0" err="1"/>
              <a:t>Haproxy</a:t>
            </a:r>
            <a:r>
              <a:rPr lang="en-US" altLang="ko-KR" sz="800" b="1" dirty="0"/>
              <a:t>-Backend</a:t>
            </a:r>
          </a:p>
        </p:txBody>
      </p:sp>
      <p:cxnSp>
        <p:nvCxnSpPr>
          <p:cNvPr id="1164" name="연결선: 꺾임 1163">
            <a:extLst>
              <a:ext uri="{FF2B5EF4-FFF2-40B4-BE49-F238E27FC236}">
                <a16:creationId xmlns:a16="http://schemas.microsoft.com/office/drawing/2014/main" id="{0C77D9A0-6520-38C4-0AFE-C659E8E3E602}"/>
              </a:ext>
            </a:extLst>
          </p:cNvPr>
          <p:cNvCxnSpPr>
            <a:cxnSpLocks/>
            <a:stCxn id="124" idx="3"/>
            <a:endCxn id="1161" idx="1"/>
          </p:cNvCxnSpPr>
          <p:nvPr/>
        </p:nvCxnSpPr>
        <p:spPr>
          <a:xfrm>
            <a:off x="3977783" y="2193023"/>
            <a:ext cx="346402" cy="123905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연결선: 꺾임 1165">
            <a:extLst>
              <a:ext uri="{FF2B5EF4-FFF2-40B4-BE49-F238E27FC236}">
                <a16:creationId xmlns:a16="http://schemas.microsoft.com/office/drawing/2014/main" id="{6A464E0E-56FF-8D2E-2568-CE67CFF4639C}"/>
              </a:ext>
            </a:extLst>
          </p:cNvPr>
          <p:cNvCxnSpPr>
            <a:cxnSpLocks/>
            <a:stCxn id="1313" idx="3"/>
            <a:endCxn id="1161" idx="1"/>
          </p:cNvCxnSpPr>
          <p:nvPr/>
        </p:nvCxnSpPr>
        <p:spPr>
          <a:xfrm flipV="1">
            <a:off x="3977735" y="3432082"/>
            <a:ext cx="346450" cy="120044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9" name="그림 1308">
            <a:extLst>
              <a:ext uri="{FF2B5EF4-FFF2-40B4-BE49-F238E27FC236}">
                <a16:creationId xmlns:a16="http://schemas.microsoft.com/office/drawing/2014/main" id="{9649CFD7-D8B4-FF56-F74F-6CE3E868BD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854" y="2568245"/>
            <a:ext cx="206788" cy="219947"/>
          </a:xfrm>
          <a:prstGeom prst="rect">
            <a:avLst/>
          </a:prstGeom>
        </p:spPr>
      </p:pic>
      <p:grpSp>
        <p:nvGrpSpPr>
          <p:cNvPr id="1312" name="그룹 1311">
            <a:extLst>
              <a:ext uri="{FF2B5EF4-FFF2-40B4-BE49-F238E27FC236}">
                <a16:creationId xmlns:a16="http://schemas.microsoft.com/office/drawing/2014/main" id="{A401E591-C87D-33A5-046D-1387CBCD767A}"/>
              </a:ext>
            </a:extLst>
          </p:cNvPr>
          <p:cNvGrpSpPr/>
          <p:nvPr/>
        </p:nvGrpSpPr>
        <p:grpSpPr>
          <a:xfrm>
            <a:off x="1774136" y="3516239"/>
            <a:ext cx="2203599" cy="2104259"/>
            <a:chOff x="2078984" y="1076733"/>
            <a:chExt cx="2203599" cy="2104259"/>
          </a:xfrm>
        </p:grpSpPr>
        <p:sp>
          <p:nvSpPr>
            <p:cNvPr id="1313" name="사각형: 둥근 모서리 1312">
              <a:extLst>
                <a:ext uri="{FF2B5EF4-FFF2-40B4-BE49-F238E27FC236}">
                  <a16:creationId xmlns:a16="http://schemas.microsoft.com/office/drawing/2014/main" id="{371A86AA-F378-EF56-51A2-72AE46B208CE}"/>
                </a:ext>
              </a:extLst>
            </p:cNvPr>
            <p:cNvSpPr/>
            <p:nvPr/>
          </p:nvSpPr>
          <p:spPr>
            <a:xfrm>
              <a:off x="2078984" y="1205054"/>
              <a:ext cx="2203599" cy="1975938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4" name="직사각형 1313">
              <a:extLst>
                <a:ext uri="{FF2B5EF4-FFF2-40B4-BE49-F238E27FC236}">
                  <a16:creationId xmlns:a16="http://schemas.microsoft.com/office/drawing/2014/main" id="{D86CA379-E8ED-D708-0310-E7C0709DA448}"/>
                </a:ext>
              </a:extLst>
            </p:cNvPr>
            <p:cNvSpPr/>
            <p:nvPr/>
          </p:nvSpPr>
          <p:spPr>
            <a:xfrm>
              <a:off x="2716464" y="1076733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node03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315" name="사각형: 둥근 모서리 1314">
              <a:extLst>
                <a:ext uri="{FF2B5EF4-FFF2-40B4-BE49-F238E27FC236}">
                  <a16:creationId xmlns:a16="http://schemas.microsoft.com/office/drawing/2014/main" id="{07B3CA4B-6A60-0C6F-B368-56B6AAD7FC39}"/>
                </a:ext>
              </a:extLst>
            </p:cNvPr>
            <p:cNvSpPr/>
            <p:nvPr/>
          </p:nvSpPr>
          <p:spPr>
            <a:xfrm>
              <a:off x="2155119" y="1346073"/>
              <a:ext cx="2049166" cy="1797735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6" name="사각형: 둥근 모서리 1315">
              <a:extLst>
                <a:ext uri="{FF2B5EF4-FFF2-40B4-BE49-F238E27FC236}">
                  <a16:creationId xmlns:a16="http://schemas.microsoft.com/office/drawing/2014/main" id="{56EE5D30-2C66-8F4C-4BB4-390B59268702}"/>
                </a:ext>
              </a:extLst>
            </p:cNvPr>
            <p:cNvSpPr/>
            <p:nvPr/>
          </p:nvSpPr>
          <p:spPr>
            <a:xfrm>
              <a:off x="2237976" y="2808750"/>
              <a:ext cx="1885979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7" name="사각형: 둥근 모서리 1316">
              <a:extLst>
                <a:ext uri="{FF2B5EF4-FFF2-40B4-BE49-F238E27FC236}">
                  <a16:creationId xmlns:a16="http://schemas.microsoft.com/office/drawing/2014/main" id="{D0F9AACD-08F3-B6A1-D0F0-76E56894E407}"/>
                </a:ext>
              </a:extLst>
            </p:cNvPr>
            <p:cNvSpPr/>
            <p:nvPr/>
          </p:nvSpPr>
          <p:spPr>
            <a:xfrm>
              <a:off x="2235201" y="1402327"/>
              <a:ext cx="1888754" cy="1407276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8" name="사각형: 둥근 모서리 1317">
              <a:extLst>
                <a:ext uri="{FF2B5EF4-FFF2-40B4-BE49-F238E27FC236}">
                  <a16:creationId xmlns:a16="http://schemas.microsoft.com/office/drawing/2014/main" id="{ADC1DE3B-8F07-485A-D51C-D8C858C251FC}"/>
                </a:ext>
              </a:extLst>
            </p:cNvPr>
            <p:cNvSpPr/>
            <p:nvPr/>
          </p:nvSpPr>
          <p:spPr>
            <a:xfrm>
              <a:off x="2287543" y="1462540"/>
              <a:ext cx="83718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basic-web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9" name="사각형: 둥근 모서리 1318">
              <a:extLst>
                <a:ext uri="{FF2B5EF4-FFF2-40B4-BE49-F238E27FC236}">
                  <a16:creationId xmlns:a16="http://schemas.microsoft.com/office/drawing/2014/main" id="{1D591CE8-47E3-4428-C4CA-F45488456D81}"/>
                </a:ext>
              </a:extLst>
            </p:cNvPr>
            <p:cNvSpPr/>
            <p:nvPr/>
          </p:nvSpPr>
          <p:spPr>
            <a:xfrm>
              <a:off x="2285747" y="1729862"/>
              <a:ext cx="83718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ess-web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0" name="사각형: 둥근 모서리 1319">
              <a:extLst>
                <a:ext uri="{FF2B5EF4-FFF2-40B4-BE49-F238E27FC236}">
                  <a16:creationId xmlns:a16="http://schemas.microsoft.com/office/drawing/2014/main" id="{FF286FBF-209B-75AC-2433-F5242536F121}"/>
                </a:ext>
              </a:extLst>
            </p:cNvPr>
            <p:cNvSpPr/>
            <p:nvPr/>
          </p:nvSpPr>
          <p:spPr>
            <a:xfrm>
              <a:off x="2269908" y="1986178"/>
              <a:ext cx="85111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sys-web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1" name="사각형: 둥근 모서리 1320">
              <a:extLst>
                <a:ext uri="{FF2B5EF4-FFF2-40B4-BE49-F238E27FC236}">
                  <a16:creationId xmlns:a16="http://schemas.microsoft.com/office/drawing/2014/main" id="{5711955B-9AE6-DB70-4CCE-BBF5B17498B6}"/>
                </a:ext>
              </a:extLst>
            </p:cNvPr>
            <p:cNvSpPr/>
            <p:nvPr/>
          </p:nvSpPr>
          <p:spPr>
            <a:xfrm>
              <a:off x="3207456" y="1460138"/>
              <a:ext cx="83327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vacation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2" name="사각형: 둥근 모서리 1321">
              <a:extLst>
                <a:ext uri="{FF2B5EF4-FFF2-40B4-BE49-F238E27FC236}">
                  <a16:creationId xmlns:a16="http://schemas.microsoft.com/office/drawing/2014/main" id="{BDA3B949-E2AF-4FD0-96AF-85ED577E2DE4}"/>
                </a:ext>
              </a:extLst>
            </p:cNvPr>
            <p:cNvSpPr/>
            <p:nvPr/>
          </p:nvSpPr>
          <p:spPr>
            <a:xfrm>
              <a:off x="3196251" y="1732197"/>
              <a:ext cx="845468" cy="241960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education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3" name="사각형: 둥근 모서리 1322">
              <a:extLst>
                <a:ext uri="{FF2B5EF4-FFF2-40B4-BE49-F238E27FC236}">
                  <a16:creationId xmlns:a16="http://schemas.microsoft.com/office/drawing/2014/main" id="{0E7A050F-15DD-4E87-8790-630B8C3FC0AC}"/>
                </a:ext>
              </a:extLst>
            </p:cNvPr>
            <p:cNvSpPr/>
            <p:nvPr/>
          </p:nvSpPr>
          <p:spPr>
            <a:xfrm>
              <a:off x="3200779" y="2020867"/>
              <a:ext cx="84188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contract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4" name="사각형: 둥근 모서리 1323">
              <a:extLst>
                <a:ext uri="{FF2B5EF4-FFF2-40B4-BE49-F238E27FC236}">
                  <a16:creationId xmlns:a16="http://schemas.microsoft.com/office/drawing/2014/main" id="{4325F828-E369-B6D1-0685-7F06B9718B32}"/>
                </a:ext>
              </a:extLst>
            </p:cNvPr>
            <p:cNvSpPr/>
            <p:nvPr/>
          </p:nvSpPr>
          <p:spPr>
            <a:xfrm>
              <a:off x="2273044" y="2284960"/>
              <a:ext cx="84835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ess-app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5" name="사각형: 둥근 모서리 1324">
              <a:extLst>
                <a:ext uri="{FF2B5EF4-FFF2-40B4-BE49-F238E27FC236}">
                  <a16:creationId xmlns:a16="http://schemas.microsoft.com/office/drawing/2014/main" id="{05E9FCB6-84EB-487A-5E34-E1452A5F4B4D}"/>
                </a:ext>
              </a:extLst>
            </p:cNvPr>
            <p:cNvSpPr/>
            <p:nvPr/>
          </p:nvSpPr>
          <p:spPr>
            <a:xfrm>
              <a:off x="3196252" y="2293533"/>
              <a:ext cx="841870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attendance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326" name="Picture 2" descr="아파치 톰캣이란 ?">
              <a:extLst>
                <a:ext uri="{FF2B5EF4-FFF2-40B4-BE49-F238E27FC236}">
                  <a16:creationId xmlns:a16="http://schemas.microsoft.com/office/drawing/2014/main" id="{AA52D2C3-DF55-E31E-C1C0-F4E02CC70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7541" y="1447403"/>
              <a:ext cx="256074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7" name="Picture 2" descr="아파치 톰캣이란 ?">
              <a:extLst>
                <a:ext uri="{FF2B5EF4-FFF2-40B4-BE49-F238E27FC236}">
                  <a16:creationId xmlns:a16="http://schemas.microsoft.com/office/drawing/2014/main" id="{88A7CE98-2456-6023-5277-96292C14C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672" y="1734894"/>
              <a:ext cx="252425" cy="219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8" name="Picture 2" descr="아파치 톰캣이란 ?">
              <a:extLst>
                <a:ext uri="{FF2B5EF4-FFF2-40B4-BE49-F238E27FC236}">
                  <a16:creationId xmlns:a16="http://schemas.microsoft.com/office/drawing/2014/main" id="{6F6CA304-5912-73AB-F101-E0EB03E4F7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2096" y="1988587"/>
              <a:ext cx="251396" cy="217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9" name="Picture 4" descr="Nginx Vector SVG Icon (6) - SVG Repo">
              <a:extLst>
                <a:ext uri="{FF2B5EF4-FFF2-40B4-BE49-F238E27FC236}">
                  <a16:creationId xmlns:a16="http://schemas.microsoft.com/office/drawing/2014/main" id="{AE06903E-43FF-DBA1-74B2-017EF6F085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6243" y="2279890"/>
              <a:ext cx="251396" cy="2274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0" name="Picture 4" descr="Nginx Vector SVG Icon (6) - SVG Repo">
              <a:extLst>
                <a:ext uri="{FF2B5EF4-FFF2-40B4-BE49-F238E27FC236}">
                  <a16:creationId xmlns:a16="http://schemas.microsoft.com/office/drawing/2014/main" id="{6866143B-CFB1-359B-C051-65D5C269A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3759" y="1464931"/>
              <a:ext cx="251396" cy="225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" name="Picture 4" descr="Nginx Vector SVG Icon (6) - SVG Repo">
              <a:extLst>
                <a:ext uri="{FF2B5EF4-FFF2-40B4-BE49-F238E27FC236}">
                  <a16:creationId xmlns:a16="http://schemas.microsoft.com/office/drawing/2014/main" id="{CC5AD7A6-1C5E-ABB9-D74B-4A2EB76B5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440" y="1731065"/>
              <a:ext cx="251396" cy="244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2" name="Picture 4" descr="Nginx Vector SVG Icon (6) - SVG Repo">
              <a:extLst>
                <a:ext uri="{FF2B5EF4-FFF2-40B4-BE49-F238E27FC236}">
                  <a16:creationId xmlns:a16="http://schemas.microsoft.com/office/drawing/2014/main" id="{3CC10ED3-9C6C-EBAB-30FF-AA11E8A06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029414"/>
              <a:ext cx="251396" cy="230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" name="Picture 4" descr="Nginx Vector SVG Icon (6) - SVG Repo">
              <a:extLst>
                <a:ext uri="{FF2B5EF4-FFF2-40B4-BE49-F238E27FC236}">
                  <a16:creationId xmlns:a16="http://schemas.microsoft.com/office/drawing/2014/main" id="{091865B1-5E91-39C1-F3C8-9B01F3A0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295418"/>
              <a:ext cx="251396" cy="224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34" name="사각형: 둥근 모서리 1333">
              <a:extLst>
                <a:ext uri="{FF2B5EF4-FFF2-40B4-BE49-F238E27FC236}">
                  <a16:creationId xmlns:a16="http://schemas.microsoft.com/office/drawing/2014/main" id="{FD2AD0BD-D781-EA8E-9B60-825A02E4BCC5}"/>
                </a:ext>
              </a:extLst>
            </p:cNvPr>
            <p:cNvSpPr/>
            <p:nvPr/>
          </p:nvSpPr>
          <p:spPr>
            <a:xfrm>
              <a:off x="2266243" y="2560965"/>
              <a:ext cx="854779" cy="187347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1338" name="사각형: 둥근 모서리 1337">
            <a:extLst>
              <a:ext uri="{FF2B5EF4-FFF2-40B4-BE49-F238E27FC236}">
                <a16:creationId xmlns:a16="http://schemas.microsoft.com/office/drawing/2014/main" id="{0E3065F4-576C-8FB8-46DB-697F5309FC30}"/>
              </a:ext>
            </a:extLst>
          </p:cNvPr>
          <p:cNvSpPr/>
          <p:nvPr/>
        </p:nvSpPr>
        <p:spPr>
          <a:xfrm>
            <a:off x="2894650" y="5000471"/>
            <a:ext cx="830506" cy="187347"/>
          </a:xfrm>
          <a:prstGeom prst="roundRect">
            <a:avLst>
              <a:gd name="adj" fmla="val 1252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     </a:t>
            </a:r>
            <a:r>
              <a:rPr lang="en-US" altLang="ko-KR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redis</a:t>
            </a:r>
            <a:endParaRPr lang="ko-KR" altLang="en-US" sz="6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340" name="Picture 2" descr="Redis Cluster: Should I go or should i stay?">
            <a:extLst>
              <a:ext uri="{FF2B5EF4-FFF2-40B4-BE49-F238E27FC236}">
                <a16:creationId xmlns:a16="http://schemas.microsoft.com/office/drawing/2014/main" id="{366A0D12-0787-F3D4-8100-2314069F9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002" y="5021173"/>
            <a:ext cx="170918" cy="15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" name="Picture 2" descr="Redis Cluster: Should I go or should i stay?">
            <a:extLst>
              <a:ext uri="{FF2B5EF4-FFF2-40B4-BE49-F238E27FC236}">
                <a16:creationId xmlns:a16="http://schemas.microsoft.com/office/drawing/2014/main" id="{169548D1-2448-5D39-8F37-224395B65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915" y="5019226"/>
            <a:ext cx="170918" cy="15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48" name="그룹 1347">
            <a:extLst>
              <a:ext uri="{FF2B5EF4-FFF2-40B4-BE49-F238E27FC236}">
                <a16:creationId xmlns:a16="http://schemas.microsoft.com/office/drawing/2014/main" id="{E71DD7B0-6679-D72D-9469-64C06E52CA0A}"/>
              </a:ext>
            </a:extLst>
          </p:cNvPr>
          <p:cNvGrpSpPr/>
          <p:nvPr/>
        </p:nvGrpSpPr>
        <p:grpSpPr>
          <a:xfrm>
            <a:off x="5146860" y="1081715"/>
            <a:ext cx="2294196" cy="1949189"/>
            <a:chOff x="5146860" y="1081715"/>
            <a:chExt cx="2294196" cy="1949189"/>
          </a:xfrm>
        </p:grpSpPr>
        <p:sp>
          <p:nvSpPr>
            <p:cNvPr id="1256" name="사각형: 둥근 모서리 1255">
              <a:extLst>
                <a:ext uri="{FF2B5EF4-FFF2-40B4-BE49-F238E27FC236}">
                  <a16:creationId xmlns:a16="http://schemas.microsoft.com/office/drawing/2014/main" id="{22F23467-9AE4-B112-76F5-284DE2B63519}"/>
                </a:ext>
              </a:extLst>
            </p:cNvPr>
            <p:cNvSpPr/>
            <p:nvPr/>
          </p:nvSpPr>
          <p:spPr>
            <a:xfrm>
              <a:off x="5146860" y="1210035"/>
              <a:ext cx="2294196" cy="1820869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57" name="직사각형 1256">
              <a:extLst>
                <a:ext uri="{FF2B5EF4-FFF2-40B4-BE49-F238E27FC236}">
                  <a16:creationId xmlns:a16="http://schemas.microsoft.com/office/drawing/2014/main" id="{5B039950-FADB-04F1-8313-B70661898778}"/>
                </a:ext>
              </a:extLst>
            </p:cNvPr>
            <p:cNvSpPr/>
            <p:nvPr/>
          </p:nvSpPr>
          <p:spPr>
            <a:xfrm>
              <a:off x="5784340" y="1081715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node01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258" name="사각형: 둥근 모서리 1257">
              <a:extLst>
                <a:ext uri="{FF2B5EF4-FFF2-40B4-BE49-F238E27FC236}">
                  <a16:creationId xmlns:a16="http://schemas.microsoft.com/office/drawing/2014/main" id="{7E0B8F7D-5DAA-5815-EB0A-A5619E96CF28}"/>
                </a:ext>
              </a:extLst>
            </p:cNvPr>
            <p:cNvSpPr/>
            <p:nvPr/>
          </p:nvSpPr>
          <p:spPr>
            <a:xfrm>
              <a:off x="5222994" y="1285875"/>
              <a:ext cx="2157975" cy="1708373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59" name="사각형: 둥근 모서리 1258">
              <a:extLst>
                <a:ext uri="{FF2B5EF4-FFF2-40B4-BE49-F238E27FC236}">
                  <a16:creationId xmlns:a16="http://schemas.microsoft.com/office/drawing/2014/main" id="{F59C6EBF-2083-7671-56D0-4F7A7439B46E}"/>
                </a:ext>
              </a:extLst>
            </p:cNvPr>
            <p:cNvSpPr/>
            <p:nvPr/>
          </p:nvSpPr>
          <p:spPr>
            <a:xfrm>
              <a:off x="5296015" y="2700665"/>
              <a:ext cx="2024597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0" name="사각형: 둥근 모서리 1259">
              <a:extLst>
                <a:ext uri="{FF2B5EF4-FFF2-40B4-BE49-F238E27FC236}">
                  <a16:creationId xmlns:a16="http://schemas.microsoft.com/office/drawing/2014/main" id="{9DD064B6-8F7D-09CC-8A4A-EB9A6FAB3BA6}"/>
                </a:ext>
              </a:extLst>
            </p:cNvPr>
            <p:cNvSpPr/>
            <p:nvPr/>
          </p:nvSpPr>
          <p:spPr>
            <a:xfrm>
              <a:off x="5303076" y="1346074"/>
              <a:ext cx="2024597" cy="1391843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1" name="사각형: 둥근 모서리 1260">
              <a:extLst>
                <a:ext uri="{FF2B5EF4-FFF2-40B4-BE49-F238E27FC236}">
                  <a16:creationId xmlns:a16="http://schemas.microsoft.com/office/drawing/2014/main" id="{6B15B072-4799-8649-D7CB-9301B94043D6}"/>
                </a:ext>
              </a:extLst>
            </p:cNvPr>
            <p:cNvSpPr/>
            <p:nvPr/>
          </p:nvSpPr>
          <p:spPr>
            <a:xfrm>
              <a:off x="5355418" y="1412921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</a:p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fgnif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2" name="사각형: 둥근 모서리 1261">
              <a:extLst>
                <a:ext uri="{FF2B5EF4-FFF2-40B4-BE49-F238E27FC236}">
                  <a16:creationId xmlns:a16="http://schemas.microsoft.com/office/drawing/2014/main" id="{818CF63B-5FE3-DD07-CA4D-94261E904B3B}"/>
                </a:ext>
              </a:extLst>
            </p:cNvPr>
            <p:cNvSpPr/>
            <p:nvPr/>
          </p:nvSpPr>
          <p:spPr>
            <a:xfrm>
              <a:off x="5353623" y="1677694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biz-service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3" name="사각형: 둥근 모서리 1262">
              <a:extLst>
                <a:ext uri="{FF2B5EF4-FFF2-40B4-BE49-F238E27FC236}">
                  <a16:creationId xmlns:a16="http://schemas.microsoft.com/office/drawing/2014/main" id="{9C2D1E6E-2A42-7DC1-8E2D-8AC98198A542}"/>
                </a:ext>
              </a:extLst>
            </p:cNvPr>
            <p:cNvSpPr/>
            <p:nvPr/>
          </p:nvSpPr>
          <p:spPr>
            <a:xfrm>
              <a:off x="5337784" y="1934010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4" name="사각형: 둥근 모서리 1263">
              <a:extLst>
                <a:ext uri="{FF2B5EF4-FFF2-40B4-BE49-F238E27FC236}">
                  <a16:creationId xmlns:a16="http://schemas.microsoft.com/office/drawing/2014/main" id="{9356BC13-95DD-36D9-43D9-E4F9E3B417E2}"/>
                </a:ext>
              </a:extLst>
            </p:cNvPr>
            <p:cNvSpPr/>
            <p:nvPr/>
          </p:nvSpPr>
          <p:spPr>
            <a:xfrm>
              <a:off x="6334534" y="1674643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attendance-service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7" name="사각형: 둥근 모서리 1266">
              <a:extLst>
                <a:ext uri="{FF2B5EF4-FFF2-40B4-BE49-F238E27FC236}">
                  <a16:creationId xmlns:a16="http://schemas.microsoft.com/office/drawing/2014/main" id="{3F991208-46A5-9E85-6567-1A0C186A70D6}"/>
                </a:ext>
              </a:extLst>
            </p:cNvPr>
            <p:cNvSpPr/>
            <p:nvPr/>
          </p:nvSpPr>
          <p:spPr>
            <a:xfrm>
              <a:off x="5340920" y="219469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doapi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77" name="사각형: 둥근 모서리 1276">
              <a:extLst>
                <a:ext uri="{FF2B5EF4-FFF2-40B4-BE49-F238E27FC236}">
                  <a16:creationId xmlns:a16="http://schemas.microsoft.com/office/drawing/2014/main" id="{4C383591-78DB-8577-C2F7-C80EEBF5F997}"/>
                </a:ext>
              </a:extLst>
            </p:cNvPr>
            <p:cNvSpPr/>
            <p:nvPr/>
          </p:nvSpPr>
          <p:spPr>
            <a:xfrm>
              <a:off x="6332741" y="1930638"/>
              <a:ext cx="930972" cy="228046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     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rabbitmq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285" name="그룹 1284">
              <a:extLst>
                <a:ext uri="{FF2B5EF4-FFF2-40B4-BE49-F238E27FC236}">
                  <a16:creationId xmlns:a16="http://schemas.microsoft.com/office/drawing/2014/main" id="{8F9B62FA-387A-6B8C-2F7A-A5748D5A0B84}"/>
                </a:ext>
              </a:extLst>
            </p:cNvPr>
            <p:cNvGrpSpPr/>
            <p:nvPr/>
          </p:nvGrpSpPr>
          <p:grpSpPr>
            <a:xfrm>
              <a:off x="5289992" y="1353765"/>
              <a:ext cx="320233" cy="255038"/>
              <a:chOff x="5289992" y="1439490"/>
              <a:chExt cx="400982" cy="284152"/>
            </a:xfrm>
          </p:grpSpPr>
          <p:pic>
            <p:nvPicPr>
              <p:cNvPr id="1281" name="그림 1280">
                <a:extLst>
                  <a:ext uri="{FF2B5EF4-FFF2-40B4-BE49-F238E27FC236}">
                    <a16:creationId xmlns:a16="http://schemas.microsoft.com/office/drawing/2014/main" id="{45256311-4644-746F-3616-0F095FAD5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82" name="그림 1281">
                <a:extLst>
                  <a:ext uri="{FF2B5EF4-FFF2-40B4-BE49-F238E27FC236}">
                    <a16:creationId xmlns:a16="http://schemas.microsoft.com/office/drawing/2014/main" id="{B7429B93-EB06-AECE-DD55-AF6EEF78F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286" name="그룹 1285">
              <a:extLst>
                <a:ext uri="{FF2B5EF4-FFF2-40B4-BE49-F238E27FC236}">
                  <a16:creationId xmlns:a16="http://schemas.microsoft.com/office/drawing/2014/main" id="{755CB7F1-0070-D2AC-976A-9CD37C38A6E5}"/>
                </a:ext>
              </a:extLst>
            </p:cNvPr>
            <p:cNvGrpSpPr/>
            <p:nvPr/>
          </p:nvGrpSpPr>
          <p:grpSpPr>
            <a:xfrm>
              <a:off x="5300580" y="1639391"/>
              <a:ext cx="320233" cy="255038"/>
              <a:chOff x="5289992" y="1439490"/>
              <a:chExt cx="400982" cy="284152"/>
            </a:xfrm>
          </p:grpSpPr>
          <p:pic>
            <p:nvPicPr>
              <p:cNvPr id="1287" name="그림 1286">
                <a:extLst>
                  <a:ext uri="{FF2B5EF4-FFF2-40B4-BE49-F238E27FC236}">
                    <a16:creationId xmlns:a16="http://schemas.microsoft.com/office/drawing/2014/main" id="{D5BF5649-837C-00B0-82B9-E5616819CB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88" name="그림 1287">
                <a:extLst>
                  <a:ext uri="{FF2B5EF4-FFF2-40B4-BE49-F238E27FC236}">
                    <a16:creationId xmlns:a16="http://schemas.microsoft.com/office/drawing/2014/main" id="{810D610F-CA07-6BD7-BA33-E7C7FB7B34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289" name="그룹 1288">
              <a:extLst>
                <a:ext uri="{FF2B5EF4-FFF2-40B4-BE49-F238E27FC236}">
                  <a16:creationId xmlns:a16="http://schemas.microsoft.com/office/drawing/2014/main" id="{054AAB73-0CD8-079E-BE4E-0E74E87F9C80}"/>
                </a:ext>
              </a:extLst>
            </p:cNvPr>
            <p:cNvGrpSpPr/>
            <p:nvPr/>
          </p:nvGrpSpPr>
          <p:grpSpPr>
            <a:xfrm>
              <a:off x="5281530" y="1887837"/>
              <a:ext cx="320233" cy="255038"/>
              <a:chOff x="5289992" y="1439490"/>
              <a:chExt cx="400982" cy="284152"/>
            </a:xfrm>
          </p:grpSpPr>
          <p:pic>
            <p:nvPicPr>
              <p:cNvPr id="1290" name="그림 1289">
                <a:extLst>
                  <a:ext uri="{FF2B5EF4-FFF2-40B4-BE49-F238E27FC236}">
                    <a16:creationId xmlns:a16="http://schemas.microsoft.com/office/drawing/2014/main" id="{448586F2-FBA5-0603-2DED-927CC5C0A3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91" name="그림 1290">
                <a:extLst>
                  <a:ext uri="{FF2B5EF4-FFF2-40B4-BE49-F238E27FC236}">
                    <a16:creationId xmlns:a16="http://schemas.microsoft.com/office/drawing/2014/main" id="{61EEB568-3EBF-4EC4-0DA0-6D1B07CB0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292" name="그룹 1291">
              <a:extLst>
                <a:ext uri="{FF2B5EF4-FFF2-40B4-BE49-F238E27FC236}">
                  <a16:creationId xmlns:a16="http://schemas.microsoft.com/office/drawing/2014/main" id="{FB0B4E32-C5E0-BC54-911F-DBC571F5FD16}"/>
                </a:ext>
              </a:extLst>
            </p:cNvPr>
            <p:cNvGrpSpPr/>
            <p:nvPr/>
          </p:nvGrpSpPr>
          <p:grpSpPr>
            <a:xfrm>
              <a:off x="5291055" y="2135133"/>
              <a:ext cx="320233" cy="255038"/>
              <a:chOff x="5289992" y="1439490"/>
              <a:chExt cx="400982" cy="284152"/>
            </a:xfrm>
          </p:grpSpPr>
          <p:pic>
            <p:nvPicPr>
              <p:cNvPr id="1293" name="그림 1292">
                <a:extLst>
                  <a:ext uri="{FF2B5EF4-FFF2-40B4-BE49-F238E27FC236}">
                    <a16:creationId xmlns:a16="http://schemas.microsoft.com/office/drawing/2014/main" id="{A211AEC5-4731-EA02-65C7-E2ED5837B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94" name="그림 1293">
                <a:extLst>
                  <a:ext uri="{FF2B5EF4-FFF2-40B4-BE49-F238E27FC236}">
                    <a16:creationId xmlns:a16="http://schemas.microsoft.com/office/drawing/2014/main" id="{C6232894-AA01-8A20-AFAD-D2C092B39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295" name="사각형: 둥근 모서리 1294">
              <a:extLst>
                <a:ext uri="{FF2B5EF4-FFF2-40B4-BE49-F238E27FC236}">
                  <a16:creationId xmlns:a16="http://schemas.microsoft.com/office/drawing/2014/main" id="{0DD28170-8B2A-AF7D-FD8C-4EFCD5936168}"/>
                </a:ext>
              </a:extLst>
            </p:cNvPr>
            <p:cNvSpPr/>
            <p:nvPr/>
          </p:nvSpPr>
          <p:spPr>
            <a:xfrm>
              <a:off x="5340920" y="245051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sys-service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296" name="그룹 1295">
              <a:extLst>
                <a:ext uri="{FF2B5EF4-FFF2-40B4-BE49-F238E27FC236}">
                  <a16:creationId xmlns:a16="http://schemas.microsoft.com/office/drawing/2014/main" id="{D047F553-F09F-0BCF-FB55-A07B3A87AA5B}"/>
                </a:ext>
              </a:extLst>
            </p:cNvPr>
            <p:cNvGrpSpPr/>
            <p:nvPr/>
          </p:nvGrpSpPr>
          <p:grpSpPr>
            <a:xfrm>
              <a:off x="5291055" y="2390953"/>
              <a:ext cx="320233" cy="255038"/>
              <a:chOff x="5289992" y="1439490"/>
              <a:chExt cx="400982" cy="284152"/>
            </a:xfrm>
          </p:grpSpPr>
          <p:pic>
            <p:nvPicPr>
              <p:cNvPr id="1297" name="그림 1296">
                <a:extLst>
                  <a:ext uri="{FF2B5EF4-FFF2-40B4-BE49-F238E27FC236}">
                    <a16:creationId xmlns:a16="http://schemas.microsoft.com/office/drawing/2014/main" id="{2FC20C80-0260-6006-8B34-585F765C2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98" name="그림 1297">
                <a:extLst>
                  <a:ext uri="{FF2B5EF4-FFF2-40B4-BE49-F238E27FC236}">
                    <a16:creationId xmlns:a16="http://schemas.microsoft.com/office/drawing/2014/main" id="{00709EAF-6797-3B3D-E213-A04CE3BD75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pic>
          <p:nvPicPr>
            <p:cNvPr id="1303" name="그림 1302">
              <a:extLst>
                <a:ext uri="{FF2B5EF4-FFF2-40B4-BE49-F238E27FC236}">
                  <a16:creationId xmlns:a16="http://schemas.microsoft.com/office/drawing/2014/main" id="{6E98D043-7289-BAA3-F41B-713682B33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5761" y="1639779"/>
              <a:ext cx="284152" cy="284152"/>
            </a:xfrm>
            <a:prstGeom prst="rect">
              <a:avLst/>
            </a:prstGeom>
          </p:spPr>
        </p:pic>
        <p:sp>
          <p:nvSpPr>
            <p:cNvPr id="1304" name="사각형: 둥근 모서리 1303">
              <a:extLst>
                <a:ext uri="{FF2B5EF4-FFF2-40B4-BE49-F238E27FC236}">
                  <a16:creationId xmlns:a16="http://schemas.microsoft.com/office/drawing/2014/main" id="{FC44DBB5-5D65-C2A9-2B89-01372E656094}"/>
                </a:ext>
              </a:extLst>
            </p:cNvPr>
            <p:cNvSpPr/>
            <p:nvPr/>
          </p:nvSpPr>
          <p:spPr>
            <a:xfrm>
              <a:off x="6329506" y="1413346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schedule-service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CBEC2EEF-C656-1697-5856-834CEBB253F3}"/>
                </a:ext>
              </a:extLst>
            </p:cNvPr>
            <p:cNvGrpSpPr/>
            <p:nvPr/>
          </p:nvGrpSpPr>
          <p:grpSpPr>
            <a:xfrm>
              <a:off x="6279641" y="1353787"/>
              <a:ext cx="320233" cy="255038"/>
              <a:chOff x="5289992" y="1439490"/>
              <a:chExt cx="400982" cy="284152"/>
            </a:xfrm>
          </p:grpSpPr>
          <p:pic>
            <p:nvPicPr>
              <p:cNvPr id="1306" name="그림 1305">
                <a:extLst>
                  <a:ext uri="{FF2B5EF4-FFF2-40B4-BE49-F238E27FC236}">
                    <a16:creationId xmlns:a16="http://schemas.microsoft.com/office/drawing/2014/main" id="{88DC24B2-D5D0-66F7-874D-42E06D980F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307" name="그림 1306">
                <a:extLst>
                  <a:ext uri="{FF2B5EF4-FFF2-40B4-BE49-F238E27FC236}">
                    <a16:creationId xmlns:a16="http://schemas.microsoft.com/office/drawing/2014/main" id="{0CDA3B82-5EF7-6078-E9BD-79171829C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308" name="사각형: 둥근 모서리 1307">
              <a:extLst>
                <a:ext uri="{FF2B5EF4-FFF2-40B4-BE49-F238E27FC236}">
                  <a16:creationId xmlns:a16="http://schemas.microsoft.com/office/drawing/2014/main" id="{B93B0ED5-EFB7-2751-446F-99CDD416D62F}"/>
                </a:ext>
              </a:extLst>
            </p:cNvPr>
            <p:cNvSpPr/>
            <p:nvPr/>
          </p:nvSpPr>
          <p:spPr>
            <a:xfrm>
              <a:off x="6332741" y="2195519"/>
              <a:ext cx="930972" cy="228046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310" name="그림 1309">
              <a:extLst>
                <a:ext uri="{FF2B5EF4-FFF2-40B4-BE49-F238E27FC236}">
                  <a16:creationId xmlns:a16="http://schemas.microsoft.com/office/drawing/2014/main" id="{7979748F-718F-E30A-4C97-00D391C13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1690" y="1930063"/>
              <a:ext cx="206788" cy="219947"/>
            </a:xfrm>
            <a:prstGeom prst="rect">
              <a:avLst/>
            </a:prstGeom>
          </p:spPr>
        </p:pic>
        <p:pic>
          <p:nvPicPr>
            <p:cNvPr id="1342" name="Picture 2" descr="Redis Cluster: Should I go or should i stay?">
              <a:extLst>
                <a:ext uri="{FF2B5EF4-FFF2-40B4-BE49-F238E27FC236}">
                  <a16:creationId xmlns:a16="http://schemas.microsoft.com/office/drawing/2014/main" id="{BB2E99BE-45CA-14EE-832D-FDA5288550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274" y="2210096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46" name="사각형: 둥근 모서리 1345">
              <a:extLst>
                <a:ext uri="{FF2B5EF4-FFF2-40B4-BE49-F238E27FC236}">
                  <a16:creationId xmlns:a16="http://schemas.microsoft.com/office/drawing/2014/main" id="{8E322B3E-70EA-BC9A-2EAD-C25FFB888E7A}"/>
                </a:ext>
              </a:extLst>
            </p:cNvPr>
            <p:cNvSpPr/>
            <p:nvPr/>
          </p:nvSpPr>
          <p:spPr>
            <a:xfrm>
              <a:off x="6323480" y="2451962"/>
              <a:ext cx="930972" cy="228046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 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347" name="Picture 2" descr="Redis Cluster: Should I go or should i stay?">
              <a:extLst>
                <a:ext uri="{FF2B5EF4-FFF2-40B4-BE49-F238E27FC236}">
                  <a16:creationId xmlns:a16="http://schemas.microsoft.com/office/drawing/2014/main" id="{A6FE2987-80B9-D008-EC71-C9D85FC420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8013" y="2466539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87" name="그룹 1386">
            <a:extLst>
              <a:ext uri="{FF2B5EF4-FFF2-40B4-BE49-F238E27FC236}">
                <a16:creationId xmlns:a16="http://schemas.microsoft.com/office/drawing/2014/main" id="{20A31A29-F691-6989-F3FC-01DCBBD24702}"/>
              </a:ext>
            </a:extLst>
          </p:cNvPr>
          <p:cNvGrpSpPr/>
          <p:nvPr/>
        </p:nvGrpSpPr>
        <p:grpSpPr>
          <a:xfrm>
            <a:off x="5129822" y="3622936"/>
            <a:ext cx="2294196" cy="1949189"/>
            <a:chOff x="5146860" y="1081715"/>
            <a:chExt cx="2294196" cy="1949189"/>
          </a:xfrm>
        </p:grpSpPr>
        <p:sp>
          <p:nvSpPr>
            <p:cNvPr id="1388" name="사각형: 둥근 모서리 1387">
              <a:extLst>
                <a:ext uri="{FF2B5EF4-FFF2-40B4-BE49-F238E27FC236}">
                  <a16:creationId xmlns:a16="http://schemas.microsoft.com/office/drawing/2014/main" id="{4559BA4B-3ADA-3BB2-722E-3262C9C8CB35}"/>
                </a:ext>
              </a:extLst>
            </p:cNvPr>
            <p:cNvSpPr/>
            <p:nvPr/>
          </p:nvSpPr>
          <p:spPr>
            <a:xfrm>
              <a:off x="5146860" y="1210035"/>
              <a:ext cx="2294196" cy="1820869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89" name="직사각형 1388">
              <a:extLst>
                <a:ext uri="{FF2B5EF4-FFF2-40B4-BE49-F238E27FC236}">
                  <a16:creationId xmlns:a16="http://schemas.microsoft.com/office/drawing/2014/main" id="{F0C5C7A9-0580-F3BB-67B0-4149786B088B}"/>
                </a:ext>
              </a:extLst>
            </p:cNvPr>
            <p:cNvSpPr/>
            <p:nvPr/>
          </p:nvSpPr>
          <p:spPr>
            <a:xfrm>
              <a:off x="5784340" y="1081715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-node02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390" name="사각형: 둥근 모서리 1389">
              <a:extLst>
                <a:ext uri="{FF2B5EF4-FFF2-40B4-BE49-F238E27FC236}">
                  <a16:creationId xmlns:a16="http://schemas.microsoft.com/office/drawing/2014/main" id="{F91F65CB-D1F4-68C3-F2B6-9522FD14190B}"/>
                </a:ext>
              </a:extLst>
            </p:cNvPr>
            <p:cNvSpPr/>
            <p:nvPr/>
          </p:nvSpPr>
          <p:spPr>
            <a:xfrm>
              <a:off x="5222994" y="1285875"/>
              <a:ext cx="2157975" cy="1708373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1" name="사각형: 둥근 모서리 1390">
              <a:extLst>
                <a:ext uri="{FF2B5EF4-FFF2-40B4-BE49-F238E27FC236}">
                  <a16:creationId xmlns:a16="http://schemas.microsoft.com/office/drawing/2014/main" id="{DEDECB9E-FDA3-ED15-BD5C-6CEEC2F64FC4}"/>
                </a:ext>
              </a:extLst>
            </p:cNvPr>
            <p:cNvSpPr/>
            <p:nvPr/>
          </p:nvSpPr>
          <p:spPr>
            <a:xfrm>
              <a:off x="5296015" y="2700665"/>
              <a:ext cx="2024597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2" name="사각형: 둥근 모서리 1391">
              <a:extLst>
                <a:ext uri="{FF2B5EF4-FFF2-40B4-BE49-F238E27FC236}">
                  <a16:creationId xmlns:a16="http://schemas.microsoft.com/office/drawing/2014/main" id="{C046045A-0ADA-DB57-DBFE-29B2230A04E6}"/>
                </a:ext>
              </a:extLst>
            </p:cNvPr>
            <p:cNvSpPr/>
            <p:nvPr/>
          </p:nvSpPr>
          <p:spPr>
            <a:xfrm>
              <a:off x="5303076" y="1346074"/>
              <a:ext cx="2024597" cy="1391843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3" name="사각형: 둥근 모서리 1392">
              <a:extLst>
                <a:ext uri="{FF2B5EF4-FFF2-40B4-BE49-F238E27FC236}">
                  <a16:creationId xmlns:a16="http://schemas.microsoft.com/office/drawing/2014/main" id="{04093D9F-0DA4-CC95-A25B-D35E5D00F31E}"/>
                </a:ext>
              </a:extLst>
            </p:cNvPr>
            <p:cNvSpPr/>
            <p:nvPr/>
          </p:nvSpPr>
          <p:spPr>
            <a:xfrm>
              <a:off x="5355418" y="1412921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</a:p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fgnif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4" name="사각형: 둥근 모서리 1393">
              <a:extLst>
                <a:ext uri="{FF2B5EF4-FFF2-40B4-BE49-F238E27FC236}">
                  <a16:creationId xmlns:a16="http://schemas.microsoft.com/office/drawing/2014/main" id="{A0FABCF4-E8D9-D30A-B1C4-E31BC392B1B8}"/>
                </a:ext>
              </a:extLst>
            </p:cNvPr>
            <p:cNvSpPr/>
            <p:nvPr/>
          </p:nvSpPr>
          <p:spPr>
            <a:xfrm>
              <a:off x="5353623" y="1677694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biz-service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5" name="사각형: 둥근 모서리 1394">
              <a:extLst>
                <a:ext uri="{FF2B5EF4-FFF2-40B4-BE49-F238E27FC236}">
                  <a16:creationId xmlns:a16="http://schemas.microsoft.com/office/drawing/2014/main" id="{FC6EF535-880B-414B-9731-1FC7248E5C09}"/>
                </a:ext>
              </a:extLst>
            </p:cNvPr>
            <p:cNvSpPr/>
            <p:nvPr/>
          </p:nvSpPr>
          <p:spPr>
            <a:xfrm>
              <a:off x="5337784" y="1934010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6" name="사각형: 둥근 모서리 1395">
              <a:extLst>
                <a:ext uri="{FF2B5EF4-FFF2-40B4-BE49-F238E27FC236}">
                  <a16:creationId xmlns:a16="http://schemas.microsoft.com/office/drawing/2014/main" id="{11D24080-45D0-741D-0F9A-8B0CF5F850E7}"/>
                </a:ext>
              </a:extLst>
            </p:cNvPr>
            <p:cNvSpPr/>
            <p:nvPr/>
          </p:nvSpPr>
          <p:spPr>
            <a:xfrm>
              <a:off x="6334534" y="1674643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attendance-service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7" name="사각형: 둥근 모서리 1396">
              <a:extLst>
                <a:ext uri="{FF2B5EF4-FFF2-40B4-BE49-F238E27FC236}">
                  <a16:creationId xmlns:a16="http://schemas.microsoft.com/office/drawing/2014/main" id="{FE9EBABD-8C61-E511-2FBB-5A42F6070A12}"/>
                </a:ext>
              </a:extLst>
            </p:cNvPr>
            <p:cNvSpPr/>
            <p:nvPr/>
          </p:nvSpPr>
          <p:spPr>
            <a:xfrm>
              <a:off x="5340920" y="219469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doapi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98" name="사각형: 둥근 모서리 1397">
              <a:extLst>
                <a:ext uri="{FF2B5EF4-FFF2-40B4-BE49-F238E27FC236}">
                  <a16:creationId xmlns:a16="http://schemas.microsoft.com/office/drawing/2014/main" id="{5CA432DD-5CAF-0595-0EE7-ED5560E162C5}"/>
                </a:ext>
              </a:extLst>
            </p:cNvPr>
            <p:cNvSpPr/>
            <p:nvPr/>
          </p:nvSpPr>
          <p:spPr>
            <a:xfrm>
              <a:off x="6332741" y="1930638"/>
              <a:ext cx="930972" cy="228046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rabbitmq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399" name="그룹 1398">
              <a:extLst>
                <a:ext uri="{FF2B5EF4-FFF2-40B4-BE49-F238E27FC236}">
                  <a16:creationId xmlns:a16="http://schemas.microsoft.com/office/drawing/2014/main" id="{5C84F880-AD61-7BA3-C3E0-BEED774B88F4}"/>
                </a:ext>
              </a:extLst>
            </p:cNvPr>
            <p:cNvGrpSpPr/>
            <p:nvPr/>
          </p:nvGrpSpPr>
          <p:grpSpPr>
            <a:xfrm>
              <a:off x="5289992" y="1353765"/>
              <a:ext cx="320233" cy="255038"/>
              <a:chOff x="5289992" y="1439490"/>
              <a:chExt cx="400982" cy="284152"/>
            </a:xfrm>
          </p:grpSpPr>
          <p:pic>
            <p:nvPicPr>
              <p:cNvPr id="1423" name="그림 1422">
                <a:extLst>
                  <a:ext uri="{FF2B5EF4-FFF2-40B4-BE49-F238E27FC236}">
                    <a16:creationId xmlns:a16="http://schemas.microsoft.com/office/drawing/2014/main" id="{3191C06F-874C-83B1-827C-69FE7BB0B5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424" name="그림 1423">
                <a:extLst>
                  <a:ext uri="{FF2B5EF4-FFF2-40B4-BE49-F238E27FC236}">
                    <a16:creationId xmlns:a16="http://schemas.microsoft.com/office/drawing/2014/main" id="{83A3D0B7-94EB-B108-A3BB-8CEFB2AE6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400" name="그룹 1399">
              <a:extLst>
                <a:ext uri="{FF2B5EF4-FFF2-40B4-BE49-F238E27FC236}">
                  <a16:creationId xmlns:a16="http://schemas.microsoft.com/office/drawing/2014/main" id="{5142CE65-AA75-7F31-085B-82E1EBC44EA6}"/>
                </a:ext>
              </a:extLst>
            </p:cNvPr>
            <p:cNvGrpSpPr/>
            <p:nvPr/>
          </p:nvGrpSpPr>
          <p:grpSpPr>
            <a:xfrm>
              <a:off x="5300580" y="1639391"/>
              <a:ext cx="320233" cy="255038"/>
              <a:chOff x="5289992" y="1439490"/>
              <a:chExt cx="400982" cy="284152"/>
            </a:xfrm>
          </p:grpSpPr>
          <p:pic>
            <p:nvPicPr>
              <p:cNvPr id="1421" name="그림 1420">
                <a:extLst>
                  <a:ext uri="{FF2B5EF4-FFF2-40B4-BE49-F238E27FC236}">
                    <a16:creationId xmlns:a16="http://schemas.microsoft.com/office/drawing/2014/main" id="{3F6F64F6-C8DA-1BB5-CB11-54233E6E1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422" name="그림 1421">
                <a:extLst>
                  <a:ext uri="{FF2B5EF4-FFF2-40B4-BE49-F238E27FC236}">
                    <a16:creationId xmlns:a16="http://schemas.microsoft.com/office/drawing/2014/main" id="{C09079B0-ECE5-1EA7-5E91-9890CD16B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401" name="그룹 1400">
              <a:extLst>
                <a:ext uri="{FF2B5EF4-FFF2-40B4-BE49-F238E27FC236}">
                  <a16:creationId xmlns:a16="http://schemas.microsoft.com/office/drawing/2014/main" id="{F053265F-4FB8-281F-E8B1-FB4FC113CD16}"/>
                </a:ext>
              </a:extLst>
            </p:cNvPr>
            <p:cNvGrpSpPr/>
            <p:nvPr/>
          </p:nvGrpSpPr>
          <p:grpSpPr>
            <a:xfrm>
              <a:off x="5281530" y="1887837"/>
              <a:ext cx="320233" cy="255038"/>
              <a:chOff x="5289992" y="1439490"/>
              <a:chExt cx="400982" cy="284152"/>
            </a:xfrm>
          </p:grpSpPr>
          <p:pic>
            <p:nvPicPr>
              <p:cNvPr id="1419" name="그림 1418">
                <a:extLst>
                  <a:ext uri="{FF2B5EF4-FFF2-40B4-BE49-F238E27FC236}">
                    <a16:creationId xmlns:a16="http://schemas.microsoft.com/office/drawing/2014/main" id="{D5DF0E8F-45D9-9227-7233-31618C32EA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420" name="그림 1419">
                <a:extLst>
                  <a:ext uri="{FF2B5EF4-FFF2-40B4-BE49-F238E27FC236}">
                    <a16:creationId xmlns:a16="http://schemas.microsoft.com/office/drawing/2014/main" id="{B6B3FF33-FA97-9FF3-10A0-EA2178D50B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402" name="그룹 1401">
              <a:extLst>
                <a:ext uri="{FF2B5EF4-FFF2-40B4-BE49-F238E27FC236}">
                  <a16:creationId xmlns:a16="http://schemas.microsoft.com/office/drawing/2014/main" id="{F7991071-E023-A708-907B-DF9FC40E30EB}"/>
                </a:ext>
              </a:extLst>
            </p:cNvPr>
            <p:cNvGrpSpPr/>
            <p:nvPr/>
          </p:nvGrpSpPr>
          <p:grpSpPr>
            <a:xfrm>
              <a:off x="5291055" y="2135133"/>
              <a:ext cx="320233" cy="255038"/>
              <a:chOff x="5289992" y="1439490"/>
              <a:chExt cx="400982" cy="284152"/>
            </a:xfrm>
          </p:grpSpPr>
          <p:pic>
            <p:nvPicPr>
              <p:cNvPr id="1417" name="그림 1416">
                <a:extLst>
                  <a:ext uri="{FF2B5EF4-FFF2-40B4-BE49-F238E27FC236}">
                    <a16:creationId xmlns:a16="http://schemas.microsoft.com/office/drawing/2014/main" id="{3B8074A6-CF75-E18B-CF76-5AC519B25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418" name="그림 1417">
                <a:extLst>
                  <a:ext uri="{FF2B5EF4-FFF2-40B4-BE49-F238E27FC236}">
                    <a16:creationId xmlns:a16="http://schemas.microsoft.com/office/drawing/2014/main" id="{6CA34C53-3241-1DD3-3322-9B66503963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403" name="사각형: 둥근 모서리 1402">
              <a:extLst>
                <a:ext uri="{FF2B5EF4-FFF2-40B4-BE49-F238E27FC236}">
                  <a16:creationId xmlns:a16="http://schemas.microsoft.com/office/drawing/2014/main" id="{75CBBE5C-6C7E-B3A0-B08D-7189E5A4A46E}"/>
                </a:ext>
              </a:extLst>
            </p:cNvPr>
            <p:cNvSpPr/>
            <p:nvPr/>
          </p:nvSpPr>
          <p:spPr>
            <a:xfrm>
              <a:off x="5340920" y="245051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sys-service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404" name="그룹 1403">
              <a:extLst>
                <a:ext uri="{FF2B5EF4-FFF2-40B4-BE49-F238E27FC236}">
                  <a16:creationId xmlns:a16="http://schemas.microsoft.com/office/drawing/2014/main" id="{25192530-9A30-5945-AA63-ECA7C3035893}"/>
                </a:ext>
              </a:extLst>
            </p:cNvPr>
            <p:cNvGrpSpPr/>
            <p:nvPr/>
          </p:nvGrpSpPr>
          <p:grpSpPr>
            <a:xfrm>
              <a:off x="5291055" y="2390953"/>
              <a:ext cx="320233" cy="255038"/>
              <a:chOff x="5289992" y="1439490"/>
              <a:chExt cx="400982" cy="284152"/>
            </a:xfrm>
          </p:grpSpPr>
          <p:pic>
            <p:nvPicPr>
              <p:cNvPr id="1415" name="그림 1414">
                <a:extLst>
                  <a:ext uri="{FF2B5EF4-FFF2-40B4-BE49-F238E27FC236}">
                    <a16:creationId xmlns:a16="http://schemas.microsoft.com/office/drawing/2014/main" id="{A028EA02-BA0B-A898-E24A-F8C82B9AB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416" name="그림 1415">
                <a:extLst>
                  <a:ext uri="{FF2B5EF4-FFF2-40B4-BE49-F238E27FC236}">
                    <a16:creationId xmlns:a16="http://schemas.microsoft.com/office/drawing/2014/main" id="{8AB06B28-BD21-BFBA-99B1-F02C9BC13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pic>
          <p:nvPicPr>
            <p:cNvPr id="1405" name="그림 1404">
              <a:extLst>
                <a:ext uri="{FF2B5EF4-FFF2-40B4-BE49-F238E27FC236}">
                  <a16:creationId xmlns:a16="http://schemas.microsoft.com/office/drawing/2014/main" id="{D22DE572-A7A1-56C3-DF42-F0E65F825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5761" y="1639779"/>
              <a:ext cx="284152" cy="284152"/>
            </a:xfrm>
            <a:prstGeom prst="rect">
              <a:avLst/>
            </a:prstGeom>
          </p:spPr>
        </p:pic>
        <p:sp>
          <p:nvSpPr>
            <p:cNvPr id="1406" name="사각형: 둥근 모서리 1405">
              <a:extLst>
                <a:ext uri="{FF2B5EF4-FFF2-40B4-BE49-F238E27FC236}">
                  <a16:creationId xmlns:a16="http://schemas.microsoft.com/office/drawing/2014/main" id="{C73F8086-D2F4-FCA5-7E71-7F3E9DC32E18}"/>
                </a:ext>
              </a:extLst>
            </p:cNvPr>
            <p:cNvSpPr/>
            <p:nvPr/>
          </p:nvSpPr>
          <p:spPr>
            <a:xfrm>
              <a:off x="6329506" y="1413346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schedule-service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407" name="그룹 1406">
              <a:extLst>
                <a:ext uri="{FF2B5EF4-FFF2-40B4-BE49-F238E27FC236}">
                  <a16:creationId xmlns:a16="http://schemas.microsoft.com/office/drawing/2014/main" id="{6AA6391E-0204-A7A8-6700-0B30CB535B6B}"/>
                </a:ext>
              </a:extLst>
            </p:cNvPr>
            <p:cNvGrpSpPr/>
            <p:nvPr/>
          </p:nvGrpSpPr>
          <p:grpSpPr>
            <a:xfrm>
              <a:off x="6279641" y="1353787"/>
              <a:ext cx="320233" cy="255038"/>
              <a:chOff x="5289992" y="1439490"/>
              <a:chExt cx="400982" cy="284152"/>
            </a:xfrm>
          </p:grpSpPr>
          <p:pic>
            <p:nvPicPr>
              <p:cNvPr id="1413" name="그림 1412">
                <a:extLst>
                  <a:ext uri="{FF2B5EF4-FFF2-40B4-BE49-F238E27FC236}">
                    <a16:creationId xmlns:a16="http://schemas.microsoft.com/office/drawing/2014/main" id="{6FF01F87-93F9-C105-7D2D-95D4506384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414" name="그림 1413">
                <a:extLst>
                  <a:ext uri="{FF2B5EF4-FFF2-40B4-BE49-F238E27FC236}">
                    <a16:creationId xmlns:a16="http://schemas.microsoft.com/office/drawing/2014/main" id="{44F7467B-F10B-11F8-066C-B69BFAD059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408" name="사각형: 둥근 모서리 1407">
              <a:extLst>
                <a:ext uri="{FF2B5EF4-FFF2-40B4-BE49-F238E27FC236}">
                  <a16:creationId xmlns:a16="http://schemas.microsoft.com/office/drawing/2014/main" id="{4B79884A-D069-470E-773F-1C4629B7F5EB}"/>
                </a:ext>
              </a:extLst>
            </p:cNvPr>
            <p:cNvSpPr/>
            <p:nvPr/>
          </p:nvSpPr>
          <p:spPr>
            <a:xfrm>
              <a:off x="6332741" y="2195519"/>
              <a:ext cx="930972" cy="228046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409" name="그림 1408">
              <a:extLst>
                <a:ext uri="{FF2B5EF4-FFF2-40B4-BE49-F238E27FC236}">
                  <a16:creationId xmlns:a16="http://schemas.microsoft.com/office/drawing/2014/main" id="{5A24EDA0-654F-8B06-0F76-70978B6A1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1690" y="1930063"/>
              <a:ext cx="206788" cy="219947"/>
            </a:xfrm>
            <a:prstGeom prst="rect">
              <a:avLst/>
            </a:prstGeom>
          </p:spPr>
        </p:pic>
        <p:pic>
          <p:nvPicPr>
            <p:cNvPr id="1410" name="Picture 2" descr="Redis Cluster: Should I go or should i stay?">
              <a:extLst>
                <a:ext uri="{FF2B5EF4-FFF2-40B4-BE49-F238E27FC236}">
                  <a16:creationId xmlns:a16="http://schemas.microsoft.com/office/drawing/2014/main" id="{58EC8257-6DF4-956F-1E98-95637EE54F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274" y="2210096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11" name="사각형: 둥근 모서리 1410">
              <a:extLst>
                <a:ext uri="{FF2B5EF4-FFF2-40B4-BE49-F238E27FC236}">
                  <a16:creationId xmlns:a16="http://schemas.microsoft.com/office/drawing/2014/main" id="{92DE47C4-62DE-F97D-C68E-CBB7C4F821DA}"/>
                </a:ext>
              </a:extLst>
            </p:cNvPr>
            <p:cNvSpPr/>
            <p:nvPr/>
          </p:nvSpPr>
          <p:spPr>
            <a:xfrm>
              <a:off x="6323480" y="2451962"/>
              <a:ext cx="930972" cy="228046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412" name="Picture 2" descr="Redis Cluster: Should I go or should i stay?">
              <a:extLst>
                <a:ext uri="{FF2B5EF4-FFF2-40B4-BE49-F238E27FC236}">
                  <a16:creationId xmlns:a16="http://schemas.microsoft.com/office/drawing/2014/main" id="{FDA081A2-D799-D5A9-E51B-C9ABE93203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8013" y="2466539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25" name="Picture 6" descr="Mariadb, 로고 아이콘 에 Vector Logo">
            <a:extLst>
              <a:ext uri="{FF2B5EF4-FFF2-40B4-BE49-F238E27FC236}">
                <a16:creationId xmlns:a16="http://schemas.microsoft.com/office/drawing/2014/main" id="{6B51501B-37DD-1713-5817-B24C54D9E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701" y="2800143"/>
            <a:ext cx="393942" cy="19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29" name="연결선: 꺾임 1428">
            <a:extLst>
              <a:ext uri="{FF2B5EF4-FFF2-40B4-BE49-F238E27FC236}">
                <a16:creationId xmlns:a16="http://schemas.microsoft.com/office/drawing/2014/main" id="{AA8C329B-CB55-2D58-02FA-68AEE3C25EAC}"/>
              </a:ext>
            </a:extLst>
          </p:cNvPr>
          <p:cNvCxnSpPr>
            <a:stCxn id="1160" idx="0"/>
            <a:endCxn id="1256" idx="1"/>
          </p:cNvCxnSpPr>
          <p:nvPr/>
        </p:nvCxnSpPr>
        <p:spPr>
          <a:xfrm rot="5400000" flipH="1" flipV="1">
            <a:off x="4384421" y="2541227"/>
            <a:ext cx="1183196" cy="34168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연결선: 꺾임 1430">
            <a:extLst>
              <a:ext uri="{FF2B5EF4-FFF2-40B4-BE49-F238E27FC236}">
                <a16:creationId xmlns:a16="http://schemas.microsoft.com/office/drawing/2014/main" id="{E4DB2F61-92BF-B3C4-6A56-C15207E5AFEC}"/>
              </a:ext>
            </a:extLst>
          </p:cNvPr>
          <p:cNvCxnSpPr>
            <a:stCxn id="1160" idx="2"/>
            <a:endCxn id="1388" idx="1"/>
          </p:cNvCxnSpPr>
          <p:nvPr/>
        </p:nvCxnSpPr>
        <p:spPr>
          <a:xfrm rot="16200000" flipH="1">
            <a:off x="4412034" y="3943903"/>
            <a:ext cx="1110932" cy="3246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3" name="연결선: 꺾임 1432">
            <a:extLst>
              <a:ext uri="{FF2B5EF4-FFF2-40B4-BE49-F238E27FC236}">
                <a16:creationId xmlns:a16="http://schemas.microsoft.com/office/drawing/2014/main" id="{3AE9F7DF-2526-7671-9972-11B80CA51170}"/>
              </a:ext>
            </a:extLst>
          </p:cNvPr>
          <p:cNvCxnSpPr>
            <a:stCxn id="1256" idx="3"/>
            <a:endCxn id="51" idx="0"/>
          </p:cNvCxnSpPr>
          <p:nvPr/>
        </p:nvCxnSpPr>
        <p:spPr>
          <a:xfrm>
            <a:off x="7441056" y="2120470"/>
            <a:ext cx="347902" cy="123358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연결선: 꺾임 1434">
            <a:extLst>
              <a:ext uri="{FF2B5EF4-FFF2-40B4-BE49-F238E27FC236}">
                <a16:creationId xmlns:a16="http://schemas.microsoft.com/office/drawing/2014/main" id="{EA237E68-560A-4BFF-195A-00A65C5228FA}"/>
              </a:ext>
            </a:extLst>
          </p:cNvPr>
          <p:cNvCxnSpPr>
            <a:cxnSpLocks/>
            <a:stCxn id="1388" idx="3"/>
            <a:endCxn id="51" idx="2"/>
          </p:cNvCxnSpPr>
          <p:nvPr/>
        </p:nvCxnSpPr>
        <p:spPr>
          <a:xfrm flipV="1">
            <a:off x="7424018" y="3861285"/>
            <a:ext cx="364940" cy="80040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2" name="직사각형 1441">
            <a:extLst>
              <a:ext uri="{FF2B5EF4-FFF2-40B4-BE49-F238E27FC236}">
                <a16:creationId xmlns:a16="http://schemas.microsoft.com/office/drawing/2014/main" id="{E2C81587-07F1-4730-509C-90C79A0BFAD4}"/>
              </a:ext>
            </a:extLst>
          </p:cNvPr>
          <p:cNvSpPr/>
          <p:nvPr/>
        </p:nvSpPr>
        <p:spPr>
          <a:xfrm>
            <a:off x="4967500" y="5819775"/>
            <a:ext cx="4405100" cy="609861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3" name="Picture 2" descr="아파치 톰캣이란 ?">
            <a:extLst>
              <a:ext uri="{FF2B5EF4-FFF2-40B4-BE49-F238E27FC236}">
                <a16:creationId xmlns:a16="http://schemas.microsoft.com/office/drawing/2014/main" id="{4BE1B86F-FA94-7F9E-A202-9DCC18BDD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599" y="5912931"/>
            <a:ext cx="241532" cy="24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4" descr="Nginx Vector SVG Icon (6) - SVG Repo">
            <a:extLst>
              <a:ext uri="{FF2B5EF4-FFF2-40B4-BE49-F238E27FC236}">
                <a16:creationId xmlns:a16="http://schemas.microsoft.com/office/drawing/2014/main" id="{B90F2693-503B-8DAF-8177-3DCA890A0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611" y="6202413"/>
            <a:ext cx="221509" cy="22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2" name="TextBox 1091">
            <a:extLst>
              <a:ext uri="{FF2B5EF4-FFF2-40B4-BE49-F238E27FC236}">
                <a16:creationId xmlns:a16="http://schemas.microsoft.com/office/drawing/2014/main" id="{8B0799A0-FBD6-6D9D-0BD4-36C84B06974E}"/>
              </a:ext>
            </a:extLst>
          </p:cNvPr>
          <p:cNvSpPr txBox="1"/>
          <p:nvPr/>
        </p:nvSpPr>
        <p:spPr>
          <a:xfrm>
            <a:off x="7745375" y="5930461"/>
            <a:ext cx="16964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 Apache Tomcat Server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3D52C0BE-E2AF-B167-F52A-18DC4E128251}"/>
              </a:ext>
            </a:extLst>
          </p:cNvPr>
          <p:cNvSpPr txBox="1"/>
          <p:nvPr/>
        </p:nvSpPr>
        <p:spPr>
          <a:xfrm>
            <a:off x="7745376" y="6176682"/>
            <a:ext cx="16964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Nginx Server</a:t>
            </a:r>
          </a:p>
        </p:txBody>
      </p:sp>
      <p:pic>
        <p:nvPicPr>
          <p:cNvPr id="1279" name="그림 1278">
            <a:extLst>
              <a:ext uri="{FF2B5EF4-FFF2-40B4-BE49-F238E27FC236}">
                <a16:creationId xmlns:a16="http://schemas.microsoft.com/office/drawing/2014/main" id="{7CA9B6B5-FDAD-594B-70D5-4ECD9C3A6F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642" y="5886794"/>
            <a:ext cx="381312" cy="381312"/>
          </a:xfrm>
          <a:prstGeom prst="rect">
            <a:avLst/>
          </a:prstGeom>
        </p:spPr>
      </p:pic>
      <p:pic>
        <p:nvPicPr>
          <p:cNvPr id="1280" name="그림 1279">
            <a:extLst>
              <a:ext uri="{FF2B5EF4-FFF2-40B4-BE49-F238E27FC236}">
                <a16:creationId xmlns:a16="http://schemas.microsoft.com/office/drawing/2014/main" id="{B0F13813-0CC6-C48F-3B4D-055913B648E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517" y="6173958"/>
            <a:ext cx="248945" cy="248945"/>
          </a:xfrm>
          <a:prstGeom prst="rect">
            <a:avLst/>
          </a:prstGeom>
        </p:spPr>
      </p:pic>
      <p:pic>
        <p:nvPicPr>
          <p:cNvPr id="1311" name="그림 1310">
            <a:extLst>
              <a:ext uri="{FF2B5EF4-FFF2-40B4-BE49-F238E27FC236}">
                <a16:creationId xmlns:a16="http://schemas.microsoft.com/office/drawing/2014/main" id="{155CBB46-0E71-10A7-45CF-49DC46D2FF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01" y="6186295"/>
            <a:ext cx="236749" cy="251815"/>
          </a:xfrm>
          <a:prstGeom prst="rect">
            <a:avLst/>
          </a:prstGeom>
        </p:spPr>
      </p:pic>
      <p:pic>
        <p:nvPicPr>
          <p:cNvPr id="1339" name="Picture 2" descr="Redis Cluster: Should I go or should i stay?">
            <a:extLst>
              <a:ext uri="{FF2B5EF4-FFF2-40B4-BE49-F238E27FC236}">
                <a16:creationId xmlns:a16="http://schemas.microsoft.com/office/drawing/2014/main" id="{D1583DEE-E1F0-776C-AD89-7BC6E1AF1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159" y="5955927"/>
            <a:ext cx="241532" cy="21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6" name="TextBox 1435">
            <a:extLst>
              <a:ext uri="{FF2B5EF4-FFF2-40B4-BE49-F238E27FC236}">
                <a16:creationId xmlns:a16="http://schemas.microsoft.com/office/drawing/2014/main" id="{675B9CA2-09D4-A41B-99C4-51FA25417595}"/>
              </a:ext>
            </a:extLst>
          </p:cNvPr>
          <p:cNvSpPr txBox="1"/>
          <p:nvPr/>
        </p:nvSpPr>
        <p:spPr>
          <a:xfrm>
            <a:off x="6578026" y="5940389"/>
            <a:ext cx="5931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 Redis</a:t>
            </a:r>
          </a:p>
        </p:txBody>
      </p:sp>
      <p:sp>
        <p:nvSpPr>
          <p:cNvPr id="1437" name="TextBox 1436">
            <a:extLst>
              <a:ext uri="{FF2B5EF4-FFF2-40B4-BE49-F238E27FC236}">
                <a16:creationId xmlns:a16="http://schemas.microsoft.com/office/drawing/2014/main" id="{BC56C8C8-0F62-3420-CBC8-B521B1EC8811}"/>
              </a:ext>
            </a:extLst>
          </p:cNvPr>
          <p:cNvSpPr txBox="1"/>
          <p:nvPr/>
        </p:nvSpPr>
        <p:spPr>
          <a:xfrm>
            <a:off x="6598654" y="6188109"/>
            <a:ext cx="6841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rabbitmq</a:t>
            </a:r>
            <a:endParaRPr lang="en-US" altLang="ko-KR" sz="1000" dirty="0"/>
          </a:p>
        </p:txBody>
      </p:sp>
      <p:sp>
        <p:nvSpPr>
          <p:cNvPr id="1438" name="TextBox 1437">
            <a:extLst>
              <a:ext uri="{FF2B5EF4-FFF2-40B4-BE49-F238E27FC236}">
                <a16:creationId xmlns:a16="http://schemas.microsoft.com/office/drawing/2014/main" id="{9FCFCBD7-4D1F-ADC1-6B64-6EF3FCDC7DA2}"/>
              </a:ext>
            </a:extLst>
          </p:cNvPr>
          <p:cNvSpPr txBox="1"/>
          <p:nvPr/>
        </p:nvSpPr>
        <p:spPr>
          <a:xfrm>
            <a:off x="5340040" y="5945255"/>
            <a:ext cx="920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 Spring Boot</a:t>
            </a:r>
          </a:p>
        </p:txBody>
      </p:sp>
      <p:sp>
        <p:nvSpPr>
          <p:cNvPr id="1439" name="TextBox 1438">
            <a:extLst>
              <a:ext uri="{FF2B5EF4-FFF2-40B4-BE49-F238E27FC236}">
                <a16:creationId xmlns:a16="http://schemas.microsoft.com/office/drawing/2014/main" id="{5EA48323-543C-A121-805E-718FA4A8BA5C}"/>
              </a:ext>
            </a:extLst>
          </p:cNvPr>
          <p:cNvSpPr txBox="1"/>
          <p:nvPr/>
        </p:nvSpPr>
        <p:spPr>
          <a:xfrm>
            <a:off x="5348397" y="6162872"/>
            <a:ext cx="920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 Undertow</a:t>
            </a:r>
          </a:p>
        </p:txBody>
      </p:sp>
    </p:spTree>
    <p:extLst>
      <p:ext uri="{BB962C8B-B14F-4D97-AF65-F5344CB8AC3E}">
        <p14:creationId xmlns:p14="http://schemas.microsoft.com/office/powerpoint/2010/main" val="1641563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1CF0B-D8AF-4158-9540-704AE216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84" y="36194"/>
            <a:ext cx="7839641" cy="499721"/>
          </a:xfrm>
        </p:spPr>
        <p:txBody>
          <a:bodyPr/>
          <a:lstStyle/>
          <a:p>
            <a:r>
              <a:rPr lang="en-US" altLang="ko-KR" dirty="0"/>
              <a:t>Dev </a:t>
            </a:r>
            <a:r>
              <a:rPr lang="ko-KR" altLang="en-US" dirty="0"/>
              <a:t>서버 시스템 구성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EC22D-B309-4B4C-9EE9-CB910CC8B297}"/>
              </a:ext>
            </a:extLst>
          </p:cNvPr>
          <p:cNvSpPr txBox="1"/>
          <p:nvPr/>
        </p:nvSpPr>
        <p:spPr>
          <a:xfrm>
            <a:off x="283942" y="583409"/>
            <a:ext cx="647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Dev</a:t>
            </a:r>
            <a:r>
              <a:rPr lang="ko-KR" altLang="en-US" sz="1600" dirty="0"/>
              <a:t> 서버 </a:t>
            </a:r>
            <a:r>
              <a:rPr lang="en-US" altLang="ko-KR" sz="1600" dirty="0"/>
              <a:t>(Docker</a:t>
            </a:r>
            <a:r>
              <a:rPr lang="en-US" altLang="ko-KR" sz="1600" b="0" i="0" dirty="0">
                <a:solidFill>
                  <a:srgbClr val="4D5156"/>
                </a:solidFill>
                <a:effectLst/>
                <a:latin typeface="Apple SD Gothic Neo"/>
              </a:rPr>
              <a:t> Architecture)</a:t>
            </a:r>
            <a:r>
              <a:rPr lang="ko-KR" altLang="en-US" sz="1600" dirty="0"/>
              <a:t>시스템 구성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F2C2171-7062-4925-838E-141E26C785BB}"/>
              </a:ext>
            </a:extLst>
          </p:cNvPr>
          <p:cNvSpPr/>
          <p:nvPr/>
        </p:nvSpPr>
        <p:spPr>
          <a:xfrm>
            <a:off x="840882" y="982049"/>
            <a:ext cx="8873910" cy="5454512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1" name="Picture 2" descr="Deep dive – Azure Load Balancer | Marius Sandbu">
            <a:extLst>
              <a:ext uri="{FF2B5EF4-FFF2-40B4-BE49-F238E27FC236}">
                <a16:creationId xmlns:a16="http://schemas.microsoft.com/office/drawing/2014/main" id="{81E742EB-1965-7426-E378-BE712F1842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7781550" y="2499046"/>
            <a:ext cx="240668" cy="3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8CC8D09-B31F-1568-0467-5907AC2FD8ED}"/>
              </a:ext>
            </a:extLst>
          </p:cNvPr>
          <p:cNvSpPr txBox="1"/>
          <p:nvPr/>
        </p:nvSpPr>
        <p:spPr>
          <a:xfrm>
            <a:off x="7560573" y="2226705"/>
            <a:ext cx="746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maxScale</a:t>
            </a:r>
            <a:endParaRPr lang="en-US" altLang="ko-KR" sz="1000" dirty="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F79FEA0-2BDE-4060-3BC9-FB1E66812F31}"/>
              </a:ext>
            </a:extLst>
          </p:cNvPr>
          <p:cNvGrpSpPr/>
          <p:nvPr/>
        </p:nvGrpSpPr>
        <p:grpSpPr>
          <a:xfrm>
            <a:off x="8341548" y="1563951"/>
            <a:ext cx="1268435" cy="1957243"/>
            <a:chOff x="8350882" y="2042101"/>
            <a:chExt cx="1254591" cy="195724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9C30B69-7A2A-8A24-7986-6CB173BFBE89}"/>
                </a:ext>
              </a:extLst>
            </p:cNvPr>
            <p:cNvSpPr/>
            <p:nvPr/>
          </p:nvSpPr>
          <p:spPr>
            <a:xfrm>
              <a:off x="8350882" y="2289593"/>
              <a:ext cx="1254591" cy="1709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dirty="0"/>
                <a:t>     </a:t>
              </a:r>
              <a:endParaRPr lang="en-US" altLang="ko-KR" sz="800" dirty="0"/>
            </a:p>
            <a:p>
              <a:pPr algn="ctr"/>
              <a:endParaRPr lang="ko-KR" altLang="en-US" sz="700" dirty="0"/>
            </a:p>
          </p:txBody>
        </p:sp>
        <p:pic>
          <p:nvPicPr>
            <p:cNvPr id="32" name="그래픽 8" descr="데이터베이스">
              <a:extLst>
                <a:ext uri="{FF2B5EF4-FFF2-40B4-BE49-F238E27FC236}">
                  <a16:creationId xmlns:a16="http://schemas.microsoft.com/office/drawing/2014/main" id="{87AA98C9-D536-7CD0-D534-B6240C773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02152" y="2551745"/>
              <a:ext cx="497059" cy="419630"/>
            </a:xfrm>
            <a:prstGeom prst="rect">
              <a:avLst/>
            </a:prstGeom>
          </p:spPr>
        </p:pic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BDFD855B-F11B-2771-426D-E8646956640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H="1" flipV="1">
              <a:off x="8950681" y="2971375"/>
              <a:ext cx="826" cy="35058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3F829BE-F73A-50D8-2B47-1917DEAE7C75}"/>
                </a:ext>
              </a:extLst>
            </p:cNvPr>
            <p:cNvSpPr txBox="1"/>
            <p:nvPr/>
          </p:nvSpPr>
          <p:spPr>
            <a:xfrm>
              <a:off x="8535251" y="2395704"/>
              <a:ext cx="10136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-master</a:t>
              </a:r>
              <a:endParaRPr lang="ko-KR" altLang="en-US" sz="1000" dirty="0"/>
            </a:p>
          </p:txBody>
        </p:sp>
        <p:pic>
          <p:nvPicPr>
            <p:cNvPr id="28" name="그래픽 8" descr="데이터베이스">
              <a:extLst>
                <a:ext uri="{FF2B5EF4-FFF2-40B4-BE49-F238E27FC236}">
                  <a16:creationId xmlns:a16="http://schemas.microsoft.com/office/drawing/2014/main" id="{DBDAAAB4-38AE-43AA-5ECC-D7315B3BE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02977" y="3321958"/>
              <a:ext cx="497059" cy="431602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22220C5-49E5-2245-726F-77A37B0603A1}"/>
                </a:ext>
              </a:extLst>
            </p:cNvPr>
            <p:cNvSpPr txBox="1"/>
            <p:nvPr/>
          </p:nvSpPr>
          <p:spPr>
            <a:xfrm>
              <a:off x="8591784" y="3659142"/>
              <a:ext cx="9571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-slave</a:t>
              </a:r>
              <a:endParaRPr lang="ko-KR" altLang="en-US" sz="10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8580745-3EA9-C05D-0CB2-BE13E344DDCB}"/>
                </a:ext>
              </a:extLst>
            </p:cNvPr>
            <p:cNvSpPr txBox="1"/>
            <p:nvPr/>
          </p:nvSpPr>
          <p:spPr>
            <a:xfrm>
              <a:off x="8396704" y="2042101"/>
              <a:ext cx="117514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dirty="0"/>
                <a:t>서비스</a:t>
              </a:r>
              <a:endParaRPr lang="en-US" altLang="ko-KR" sz="10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E9FEF2-FB94-9E0F-C037-DF1F0F052CB1}"/>
                </a:ext>
              </a:extLst>
            </p:cNvPr>
            <p:cNvSpPr txBox="1"/>
            <p:nvPr/>
          </p:nvSpPr>
          <p:spPr>
            <a:xfrm>
              <a:off x="8563517" y="3041531"/>
              <a:ext cx="1013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REPLICATION</a:t>
              </a:r>
              <a:endParaRPr lang="ko-KR" altLang="en-US" sz="1000" dirty="0"/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32EE3E9-17F3-350A-82FF-9FFE8BED6F45}"/>
              </a:ext>
            </a:extLst>
          </p:cNvPr>
          <p:cNvGrpSpPr/>
          <p:nvPr/>
        </p:nvGrpSpPr>
        <p:grpSpPr>
          <a:xfrm>
            <a:off x="8350037" y="3666693"/>
            <a:ext cx="1266045" cy="1955972"/>
            <a:chOff x="8350882" y="2043372"/>
            <a:chExt cx="1266045" cy="1955972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3B141467-E190-325E-7B2D-C0D23682551D}"/>
                </a:ext>
              </a:extLst>
            </p:cNvPr>
            <p:cNvSpPr/>
            <p:nvPr/>
          </p:nvSpPr>
          <p:spPr>
            <a:xfrm>
              <a:off x="8350882" y="2289593"/>
              <a:ext cx="1254591" cy="1709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dirty="0"/>
                <a:t>     </a:t>
              </a:r>
              <a:endParaRPr lang="en-US" altLang="ko-KR" sz="800" dirty="0"/>
            </a:p>
            <a:p>
              <a:pPr algn="ctr"/>
              <a:endParaRPr lang="ko-KR" altLang="en-US" sz="700" dirty="0"/>
            </a:p>
          </p:txBody>
        </p:sp>
        <p:pic>
          <p:nvPicPr>
            <p:cNvPr id="82" name="그래픽 8" descr="데이터베이스">
              <a:extLst>
                <a:ext uri="{FF2B5EF4-FFF2-40B4-BE49-F238E27FC236}">
                  <a16:creationId xmlns:a16="http://schemas.microsoft.com/office/drawing/2014/main" id="{073B964A-0F99-B798-7049-863A9AE56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02152" y="2551745"/>
              <a:ext cx="497059" cy="419630"/>
            </a:xfrm>
            <a:prstGeom prst="rect">
              <a:avLst/>
            </a:prstGeom>
          </p:spPr>
        </p:pic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2ABCC54E-5C50-1BE0-229E-57AB51F031C9}"/>
                </a:ext>
              </a:extLst>
            </p:cNvPr>
            <p:cNvCxnSpPr>
              <a:cxnSpLocks/>
              <a:stCxn id="90" idx="0"/>
            </p:cNvCxnSpPr>
            <p:nvPr/>
          </p:nvCxnSpPr>
          <p:spPr>
            <a:xfrm flipH="1" flipV="1">
              <a:off x="8950681" y="2971375"/>
              <a:ext cx="826" cy="35058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80CE3D0-642D-403D-A13C-CFD1D1EC46B6}"/>
                </a:ext>
              </a:extLst>
            </p:cNvPr>
            <p:cNvSpPr txBox="1"/>
            <p:nvPr/>
          </p:nvSpPr>
          <p:spPr>
            <a:xfrm>
              <a:off x="8535251" y="2395704"/>
              <a:ext cx="10136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   master</a:t>
              </a:r>
              <a:endParaRPr lang="ko-KR" altLang="en-US" sz="1000" dirty="0"/>
            </a:p>
          </p:txBody>
        </p:sp>
        <p:pic>
          <p:nvPicPr>
            <p:cNvPr id="90" name="그래픽 8" descr="데이터베이스">
              <a:extLst>
                <a:ext uri="{FF2B5EF4-FFF2-40B4-BE49-F238E27FC236}">
                  <a16:creationId xmlns:a16="http://schemas.microsoft.com/office/drawing/2014/main" id="{FA11381E-5CA7-0701-AC04-8ED1DC8F6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02977" y="3321958"/>
              <a:ext cx="497059" cy="431602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595886B-E004-C499-0D56-E0514044F554}"/>
                </a:ext>
              </a:extLst>
            </p:cNvPr>
            <p:cNvSpPr txBox="1"/>
            <p:nvPr/>
          </p:nvSpPr>
          <p:spPr>
            <a:xfrm>
              <a:off x="8591784" y="3659142"/>
              <a:ext cx="9571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    slave</a:t>
              </a:r>
              <a:endParaRPr lang="ko-KR" altLang="en-US" sz="10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FFE2C43-518B-E5A4-8A1C-8B6BCAFDB24B}"/>
                </a:ext>
              </a:extLst>
            </p:cNvPr>
            <p:cNvSpPr txBox="1"/>
            <p:nvPr/>
          </p:nvSpPr>
          <p:spPr>
            <a:xfrm>
              <a:off x="8362336" y="2043372"/>
              <a:ext cx="12545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dirty="0"/>
                <a:t>서비스</a:t>
              </a:r>
              <a:endParaRPr lang="en-US" altLang="ko-KR" sz="1000" b="1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9AD9E3A-764A-CC54-953E-F4ABF55863AA}"/>
                </a:ext>
              </a:extLst>
            </p:cNvPr>
            <p:cNvSpPr txBox="1"/>
            <p:nvPr/>
          </p:nvSpPr>
          <p:spPr>
            <a:xfrm>
              <a:off x="8563517" y="3041531"/>
              <a:ext cx="1013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REPLICATION</a:t>
              </a:r>
              <a:endParaRPr lang="ko-KR" altLang="en-US" sz="1000" dirty="0"/>
            </a:p>
          </p:txBody>
        </p:sp>
      </p:grp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C18556D-60D0-5C9A-1419-DF9EF2376875}"/>
              </a:ext>
            </a:extLst>
          </p:cNvPr>
          <p:cNvCxnSpPr>
            <a:cxnSpLocks/>
            <a:stCxn id="51" idx="3"/>
            <a:endCxn id="32" idx="1"/>
          </p:cNvCxnSpPr>
          <p:nvPr/>
        </p:nvCxnSpPr>
        <p:spPr>
          <a:xfrm flipV="1">
            <a:off x="8022218" y="2283410"/>
            <a:ext cx="674476" cy="3683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DA6DF30-B394-F2E5-51C4-6B8E04EF513A}"/>
              </a:ext>
            </a:extLst>
          </p:cNvPr>
          <p:cNvCxnSpPr>
            <a:stCxn id="51" idx="3"/>
            <a:endCxn id="28" idx="1"/>
          </p:cNvCxnSpPr>
          <p:nvPr/>
        </p:nvCxnSpPr>
        <p:spPr>
          <a:xfrm>
            <a:off x="8022218" y="2651717"/>
            <a:ext cx="675310" cy="4078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B405FAC-4F7B-DF89-3847-56A7C977995F}"/>
              </a:ext>
            </a:extLst>
          </p:cNvPr>
          <p:cNvCxnSpPr>
            <a:cxnSpLocks/>
            <a:stCxn id="1529" idx="3"/>
            <a:endCxn id="82" idx="1"/>
          </p:cNvCxnSpPr>
          <p:nvPr/>
        </p:nvCxnSpPr>
        <p:spPr>
          <a:xfrm flipV="1">
            <a:off x="8030106" y="4384881"/>
            <a:ext cx="671201" cy="689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98C3E6D-7388-2C22-4559-28CEF5131FE5}"/>
              </a:ext>
            </a:extLst>
          </p:cNvPr>
          <p:cNvCxnSpPr>
            <a:cxnSpLocks/>
            <a:stCxn id="1529" idx="3"/>
            <a:endCxn id="90" idx="1"/>
          </p:cNvCxnSpPr>
          <p:nvPr/>
        </p:nvCxnSpPr>
        <p:spPr>
          <a:xfrm>
            <a:off x="8030106" y="4453786"/>
            <a:ext cx="672026" cy="7072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7696D0E2-EE79-5E21-4506-EFD5FEC27BF3}"/>
              </a:ext>
            </a:extLst>
          </p:cNvPr>
          <p:cNvSpPr/>
          <p:nvPr/>
        </p:nvSpPr>
        <p:spPr>
          <a:xfrm>
            <a:off x="701454" y="3328709"/>
            <a:ext cx="686171" cy="283484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B819A179-D84A-B845-CD62-83DFA9FE1EC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54163" y="2279243"/>
            <a:ext cx="432824" cy="372475"/>
          </a:xfrm>
          <a:prstGeom prst="rect">
            <a:avLst/>
          </a:prstGeom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66D2185-8E58-FFDD-6912-75162810C5EA}"/>
              </a:ext>
            </a:extLst>
          </p:cNvPr>
          <p:cNvSpPr/>
          <p:nvPr/>
        </p:nvSpPr>
        <p:spPr>
          <a:xfrm>
            <a:off x="135802" y="2109908"/>
            <a:ext cx="5934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User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39C32D37-A2DB-3E07-BACE-16CE4F62F7E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49578" y="4252118"/>
            <a:ext cx="432824" cy="372475"/>
          </a:xfrm>
          <a:prstGeom prst="rect">
            <a:avLst/>
          </a:prstGeom>
        </p:spPr>
      </p:pic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D40A8A6F-3D56-2FF5-A9D4-57E15634DAB3}"/>
              </a:ext>
            </a:extLst>
          </p:cNvPr>
          <p:cNvCxnSpPr>
            <a:cxnSpLocks/>
            <a:stCxn id="103" idx="2"/>
            <a:endCxn id="102" idx="1"/>
          </p:cNvCxnSpPr>
          <p:nvPr/>
        </p:nvCxnSpPr>
        <p:spPr>
          <a:xfrm rot="16200000" flipH="1">
            <a:off x="126648" y="2895644"/>
            <a:ext cx="818733" cy="3308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93949B6A-D948-8D99-687E-823518280297}"/>
              </a:ext>
            </a:extLst>
          </p:cNvPr>
          <p:cNvCxnSpPr>
            <a:cxnSpLocks/>
            <a:stCxn id="105" idx="0"/>
            <a:endCxn id="102" idx="1"/>
          </p:cNvCxnSpPr>
          <p:nvPr/>
        </p:nvCxnSpPr>
        <p:spPr>
          <a:xfrm rot="5400000" flipH="1" flipV="1">
            <a:off x="142889" y="3693553"/>
            <a:ext cx="781667" cy="3354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2" descr="HAProxy health checks | Geko Cloud">
            <a:extLst>
              <a:ext uri="{FF2B5EF4-FFF2-40B4-BE49-F238E27FC236}">
                <a16:creationId xmlns:a16="http://schemas.microsoft.com/office/drawing/2014/main" id="{E77CDDAF-6963-C649-6997-1EE7022E3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09" y="3335496"/>
            <a:ext cx="450916" cy="24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Deep dive – Azure Load Balancer | Marius Sandbu">
            <a:extLst>
              <a:ext uri="{FF2B5EF4-FFF2-40B4-BE49-F238E27FC236}">
                <a16:creationId xmlns:a16="http://schemas.microsoft.com/office/drawing/2014/main" id="{EE99F181-3FBE-520C-2706-FDAB3411E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689597" y="3329984"/>
            <a:ext cx="273874" cy="2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279C3DE9-F32C-6863-1C8E-580556E8613C}"/>
              </a:ext>
            </a:extLst>
          </p:cNvPr>
          <p:cNvSpPr txBox="1"/>
          <p:nvPr/>
        </p:nvSpPr>
        <p:spPr>
          <a:xfrm>
            <a:off x="649169" y="3574359"/>
            <a:ext cx="9295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 </a:t>
            </a:r>
            <a:r>
              <a:rPr lang="en-US" altLang="ko-KR" sz="800" b="1" dirty="0" err="1"/>
              <a:t>Haproxy</a:t>
            </a:r>
            <a:r>
              <a:rPr lang="en-US" altLang="ko-KR" sz="800" b="1" dirty="0"/>
              <a:t>-Front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7F6F39B-7A83-3125-C0B6-013D0C377EA1}"/>
              </a:ext>
            </a:extLst>
          </p:cNvPr>
          <p:cNvSpPr/>
          <p:nvPr/>
        </p:nvSpPr>
        <p:spPr>
          <a:xfrm>
            <a:off x="96120" y="4594696"/>
            <a:ext cx="5934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User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3C4C62FF-82B7-DBF8-E42F-9EAF1A625943}"/>
              </a:ext>
            </a:extLst>
          </p:cNvPr>
          <p:cNvGrpSpPr/>
          <p:nvPr/>
        </p:nvGrpSpPr>
        <p:grpSpPr>
          <a:xfrm>
            <a:off x="1774184" y="1076733"/>
            <a:ext cx="2203599" cy="2104259"/>
            <a:chOff x="2078984" y="1076733"/>
            <a:chExt cx="2203599" cy="2104259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D01244E0-7A52-0770-9F55-748834C3A48A}"/>
                </a:ext>
              </a:extLst>
            </p:cNvPr>
            <p:cNvSpPr/>
            <p:nvPr/>
          </p:nvSpPr>
          <p:spPr>
            <a:xfrm>
              <a:off x="2078984" y="1205054"/>
              <a:ext cx="2203599" cy="1975938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73BF8E86-4999-731D-CB11-3B09023A24E7}"/>
                </a:ext>
              </a:extLst>
            </p:cNvPr>
            <p:cNvSpPr/>
            <p:nvPr/>
          </p:nvSpPr>
          <p:spPr>
            <a:xfrm>
              <a:off x="2716464" y="1076733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-node03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5B52D734-DA96-25E8-4C7E-22B94664EFC2}"/>
                </a:ext>
              </a:extLst>
            </p:cNvPr>
            <p:cNvSpPr/>
            <p:nvPr/>
          </p:nvSpPr>
          <p:spPr>
            <a:xfrm>
              <a:off x="2155119" y="1346073"/>
              <a:ext cx="2049166" cy="1797735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6BA52444-77F1-7043-3838-9AC714A27EC8}"/>
                </a:ext>
              </a:extLst>
            </p:cNvPr>
            <p:cNvSpPr/>
            <p:nvPr/>
          </p:nvSpPr>
          <p:spPr>
            <a:xfrm>
              <a:off x="2237976" y="2808750"/>
              <a:ext cx="1885979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8C1CF3F5-A480-ECD4-E804-AEC4D94C61FA}"/>
                </a:ext>
              </a:extLst>
            </p:cNvPr>
            <p:cNvSpPr/>
            <p:nvPr/>
          </p:nvSpPr>
          <p:spPr>
            <a:xfrm>
              <a:off x="2235201" y="1402327"/>
              <a:ext cx="1888754" cy="1407276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46AC992-F099-D99F-D1A6-494694DE349D}"/>
                </a:ext>
              </a:extLst>
            </p:cNvPr>
            <p:cNvSpPr/>
            <p:nvPr/>
          </p:nvSpPr>
          <p:spPr>
            <a:xfrm>
              <a:off x="2287543" y="1462540"/>
              <a:ext cx="83718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basic-web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934CA07A-9244-86AA-FB2C-AB0EF606BC88}"/>
                </a:ext>
              </a:extLst>
            </p:cNvPr>
            <p:cNvSpPr/>
            <p:nvPr/>
          </p:nvSpPr>
          <p:spPr>
            <a:xfrm>
              <a:off x="2285747" y="1729862"/>
              <a:ext cx="83718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074689BB-048B-45EA-4FE1-7F2FDD617810}"/>
                </a:ext>
              </a:extLst>
            </p:cNvPr>
            <p:cNvSpPr/>
            <p:nvPr/>
          </p:nvSpPr>
          <p:spPr>
            <a:xfrm>
              <a:off x="2269908" y="1986178"/>
              <a:ext cx="85111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sys-web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DA104177-8E8B-9E88-11A8-808A83D63EFD}"/>
                </a:ext>
              </a:extLst>
            </p:cNvPr>
            <p:cNvSpPr/>
            <p:nvPr/>
          </p:nvSpPr>
          <p:spPr>
            <a:xfrm>
              <a:off x="3207456" y="1460138"/>
              <a:ext cx="83327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vacation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B84237A0-AF12-7BFC-3602-ABF7A7AEC244}"/>
                </a:ext>
              </a:extLst>
            </p:cNvPr>
            <p:cNvSpPr/>
            <p:nvPr/>
          </p:nvSpPr>
          <p:spPr>
            <a:xfrm>
              <a:off x="3196251" y="1732197"/>
              <a:ext cx="845468" cy="241960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education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398EB746-5720-0AAA-F515-FCF207063C02}"/>
                </a:ext>
              </a:extLst>
            </p:cNvPr>
            <p:cNvSpPr/>
            <p:nvPr/>
          </p:nvSpPr>
          <p:spPr>
            <a:xfrm>
              <a:off x="3200779" y="2020867"/>
              <a:ext cx="84188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contract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3EA65EA1-48AC-6A2B-53BD-34986AC156EC}"/>
                </a:ext>
              </a:extLst>
            </p:cNvPr>
            <p:cNvSpPr/>
            <p:nvPr/>
          </p:nvSpPr>
          <p:spPr>
            <a:xfrm>
              <a:off x="2273044" y="2284960"/>
              <a:ext cx="84835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-app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58966EC0-CA3F-AAB4-D740-EF9F23E5B351}"/>
                </a:ext>
              </a:extLst>
            </p:cNvPr>
            <p:cNvSpPr/>
            <p:nvPr/>
          </p:nvSpPr>
          <p:spPr>
            <a:xfrm>
              <a:off x="3196252" y="2293533"/>
              <a:ext cx="841870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attendance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026" name="Picture 2" descr="아파치 톰캣이란 ?">
              <a:extLst>
                <a:ext uri="{FF2B5EF4-FFF2-40B4-BE49-F238E27FC236}">
                  <a16:creationId xmlns:a16="http://schemas.microsoft.com/office/drawing/2014/main" id="{1CF3BB9D-1B71-29E0-AE66-B34A6584CA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7541" y="1447403"/>
              <a:ext cx="256074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Picture 2" descr="아파치 톰캣이란 ?">
              <a:extLst>
                <a:ext uri="{FF2B5EF4-FFF2-40B4-BE49-F238E27FC236}">
                  <a16:creationId xmlns:a16="http://schemas.microsoft.com/office/drawing/2014/main" id="{EBC6BD70-A232-DE50-9C26-A5372F23A9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672" y="1734894"/>
              <a:ext cx="252425" cy="219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" name="Picture 2" descr="아파치 톰캣이란 ?">
              <a:extLst>
                <a:ext uri="{FF2B5EF4-FFF2-40B4-BE49-F238E27FC236}">
                  <a16:creationId xmlns:a16="http://schemas.microsoft.com/office/drawing/2014/main" id="{AC32B06C-9F70-D505-278A-E661DB0963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2096" y="1988587"/>
              <a:ext cx="251396" cy="217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Nginx Vector SVG Icon (6) - SVG Repo">
              <a:extLst>
                <a:ext uri="{FF2B5EF4-FFF2-40B4-BE49-F238E27FC236}">
                  <a16:creationId xmlns:a16="http://schemas.microsoft.com/office/drawing/2014/main" id="{DE2A66BA-AACE-F94C-304B-189FFC810D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2301" y="2276324"/>
              <a:ext cx="255338" cy="231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5" name="Picture 4" descr="Nginx Vector SVG Icon (6) - SVG Repo">
              <a:extLst>
                <a:ext uri="{FF2B5EF4-FFF2-40B4-BE49-F238E27FC236}">
                  <a16:creationId xmlns:a16="http://schemas.microsoft.com/office/drawing/2014/main" id="{F750E65E-3E2D-3FD2-F034-3427AB3CA2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3759" y="1464931"/>
              <a:ext cx="251396" cy="225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4" descr="Nginx Vector SVG Icon (6) - SVG Repo">
              <a:extLst>
                <a:ext uri="{FF2B5EF4-FFF2-40B4-BE49-F238E27FC236}">
                  <a16:creationId xmlns:a16="http://schemas.microsoft.com/office/drawing/2014/main" id="{DA29059D-D270-60EE-5A6D-F76A15209D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440" y="1731065"/>
              <a:ext cx="251396" cy="244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4" descr="Nginx Vector SVG Icon (6) - SVG Repo">
              <a:extLst>
                <a:ext uri="{FF2B5EF4-FFF2-40B4-BE49-F238E27FC236}">
                  <a16:creationId xmlns:a16="http://schemas.microsoft.com/office/drawing/2014/main" id="{70F94158-5A4A-FDC6-1C6C-CE715A203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029414"/>
              <a:ext cx="251396" cy="230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4" descr="Nginx Vector SVG Icon (6) - SVG Repo">
              <a:extLst>
                <a:ext uri="{FF2B5EF4-FFF2-40B4-BE49-F238E27FC236}">
                  <a16:creationId xmlns:a16="http://schemas.microsoft.com/office/drawing/2014/main" id="{2D272903-8ADF-56F5-BC55-93155BDF8E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295418"/>
              <a:ext cx="251396" cy="224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5" name="사각형: 둥근 모서리 1034">
              <a:extLst>
                <a:ext uri="{FF2B5EF4-FFF2-40B4-BE49-F238E27FC236}">
                  <a16:creationId xmlns:a16="http://schemas.microsoft.com/office/drawing/2014/main" id="{3D3A8228-D50A-C78A-2068-49DA52978BFA}"/>
                </a:ext>
              </a:extLst>
            </p:cNvPr>
            <p:cNvSpPr/>
            <p:nvPr/>
          </p:nvSpPr>
          <p:spPr>
            <a:xfrm>
              <a:off x="2669425" y="2569950"/>
              <a:ext cx="1106784" cy="217409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rabbitmq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cxnSp>
        <p:nvCxnSpPr>
          <p:cNvPr id="1088" name="연결선: 꺾임 1087">
            <a:extLst>
              <a:ext uri="{FF2B5EF4-FFF2-40B4-BE49-F238E27FC236}">
                <a16:creationId xmlns:a16="http://schemas.microsoft.com/office/drawing/2014/main" id="{6A82BC85-996D-171E-6064-5FAACD506C15}"/>
              </a:ext>
            </a:extLst>
          </p:cNvPr>
          <p:cNvCxnSpPr>
            <a:cxnSpLocks/>
            <a:stCxn id="108" idx="0"/>
            <a:endCxn id="124" idx="1"/>
          </p:cNvCxnSpPr>
          <p:nvPr/>
        </p:nvCxnSpPr>
        <p:spPr>
          <a:xfrm rot="5400000" flipH="1" flipV="1">
            <a:off x="896939" y="2458252"/>
            <a:ext cx="1142473" cy="61201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연결선: 꺾임 1155">
            <a:extLst>
              <a:ext uri="{FF2B5EF4-FFF2-40B4-BE49-F238E27FC236}">
                <a16:creationId xmlns:a16="http://schemas.microsoft.com/office/drawing/2014/main" id="{15E9DAB2-0C7E-BF54-33A5-BE3C75C6F31E}"/>
              </a:ext>
            </a:extLst>
          </p:cNvPr>
          <p:cNvCxnSpPr>
            <a:cxnSpLocks/>
            <a:stCxn id="108" idx="2"/>
            <a:endCxn id="1313" idx="1"/>
          </p:cNvCxnSpPr>
          <p:nvPr/>
        </p:nvCxnSpPr>
        <p:spPr>
          <a:xfrm rot="16200000" flipH="1">
            <a:off x="943181" y="3801574"/>
            <a:ext cx="1049940" cy="61196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사각형: 둥근 모서리 1158">
            <a:extLst>
              <a:ext uri="{FF2B5EF4-FFF2-40B4-BE49-F238E27FC236}">
                <a16:creationId xmlns:a16="http://schemas.microsoft.com/office/drawing/2014/main" id="{75B40654-DAB6-0BB8-FED2-D99706686496}"/>
              </a:ext>
            </a:extLst>
          </p:cNvPr>
          <p:cNvSpPr/>
          <p:nvPr/>
        </p:nvSpPr>
        <p:spPr>
          <a:xfrm>
            <a:off x="4336042" y="3296879"/>
            <a:ext cx="716253" cy="283484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160" name="Picture 2" descr="HAProxy health checks | Geko Cloud">
            <a:extLst>
              <a:ext uri="{FF2B5EF4-FFF2-40B4-BE49-F238E27FC236}">
                <a16:creationId xmlns:a16="http://schemas.microsoft.com/office/drawing/2014/main" id="{4C1A20EB-B888-BD95-7E9F-B87A49C49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97" y="3303666"/>
            <a:ext cx="467762" cy="24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1" name="Picture 2" descr="Deep dive – Azure Load Balancer | Marius Sandbu">
            <a:extLst>
              <a:ext uri="{FF2B5EF4-FFF2-40B4-BE49-F238E27FC236}">
                <a16:creationId xmlns:a16="http://schemas.microsoft.com/office/drawing/2014/main" id="{1500D642-CCF2-A9B8-318C-16B92CB9AC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4324185" y="3298154"/>
            <a:ext cx="273874" cy="2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2" name="TextBox 1161">
            <a:extLst>
              <a:ext uri="{FF2B5EF4-FFF2-40B4-BE49-F238E27FC236}">
                <a16:creationId xmlns:a16="http://schemas.microsoft.com/office/drawing/2014/main" id="{E2A55BA9-5024-00FB-3180-4E96C1879B0C}"/>
              </a:ext>
            </a:extLst>
          </p:cNvPr>
          <p:cNvSpPr txBox="1"/>
          <p:nvPr/>
        </p:nvSpPr>
        <p:spPr>
          <a:xfrm>
            <a:off x="4124678" y="3524428"/>
            <a:ext cx="11357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 </a:t>
            </a:r>
            <a:r>
              <a:rPr lang="en-US" altLang="ko-KR" sz="800" b="1" dirty="0" err="1"/>
              <a:t>Haproxy</a:t>
            </a:r>
            <a:r>
              <a:rPr lang="en-US" altLang="ko-KR" sz="800" b="1" dirty="0"/>
              <a:t>-Backend</a:t>
            </a:r>
          </a:p>
        </p:txBody>
      </p:sp>
      <p:cxnSp>
        <p:nvCxnSpPr>
          <p:cNvPr id="1164" name="연결선: 꺾임 1163">
            <a:extLst>
              <a:ext uri="{FF2B5EF4-FFF2-40B4-BE49-F238E27FC236}">
                <a16:creationId xmlns:a16="http://schemas.microsoft.com/office/drawing/2014/main" id="{0C77D9A0-6520-38C4-0AFE-C659E8E3E602}"/>
              </a:ext>
            </a:extLst>
          </p:cNvPr>
          <p:cNvCxnSpPr>
            <a:cxnSpLocks/>
            <a:stCxn id="124" idx="3"/>
            <a:endCxn id="1161" idx="1"/>
          </p:cNvCxnSpPr>
          <p:nvPr/>
        </p:nvCxnSpPr>
        <p:spPr>
          <a:xfrm>
            <a:off x="3977783" y="2193023"/>
            <a:ext cx="346402" cy="123905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연결선: 꺾임 1165">
            <a:extLst>
              <a:ext uri="{FF2B5EF4-FFF2-40B4-BE49-F238E27FC236}">
                <a16:creationId xmlns:a16="http://schemas.microsoft.com/office/drawing/2014/main" id="{6A464E0E-56FF-8D2E-2568-CE67CFF4639C}"/>
              </a:ext>
            </a:extLst>
          </p:cNvPr>
          <p:cNvCxnSpPr>
            <a:cxnSpLocks/>
            <a:stCxn id="1313" idx="3"/>
            <a:endCxn id="1161" idx="1"/>
          </p:cNvCxnSpPr>
          <p:nvPr/>
        </p:nvCxnSpPr>
        <p:spPr>
          <a:xfrm flipV="1">
            <a:off x="3977735" y="3432082"/>
            <a:ext cx="346450" cy="120044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9" name="그림 1308">
            <a:extLst>
              <a:ext uri="{FF2B5EF4-FFF2-40B4-BE49-F238E27FC236}">
                <a16:creationId xmlns:a16="http://schemas.microsoft.com/office/drawing/2014/main" id="{9649CFD7-D8B4-FF56-F74F-6CE3E868BD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854" y="2568245"/>
            <a:ext cx="206788" cy="219947"/>
          </a:xfrm>
          <a:prstGeom prst="rect">
            <a:avLst/>
          </a:prstGeom>
        </p:spPr>
      </p:pic>
      <p:grpSp>
        <p:nvGrpSpPr>
          <p:cNvPr id="1312" name="그룹 1311">
            <a:extLst>
              <a:ext uri="{FF2B5EF4-FFF2-40B4-BE49-F238E27FC236}">
                <a16:creationId xmlns:a16="http://schemas.microsoft.com/office/drawing/2014/main" id="{A401E591-C87D-33A5-046D-1387CBCD767A}"/>
              </a:ext>
            </a:extLst>
          </p:cNvPr>
          <p:cNvGrpSpPr/>
          <p:nvPr/>
        </p:nvGrpSpPr>
        <p:grpSpPr>
          <a:xfrm>
            <a:off x="1774136" y="3516239"/>
            <a:ext cx="2203599" cy="2104259"/>
            <a:chOff x="2078984" y="1076733"/>
            <a:chExt cx="2203599" cy="2104259"/>
          </a:xfrm>
        </p:grpSpPr>
        <p:sp>
          <p:nvSpPr>
            <p:cNvPr id="1313" name="사각형: 둥근 모서리 1312">
              <a:extLst>
                <a:ext uri="{FF2B5EF4-FFF2-40B4-BE49-F238E27FC236}">
                  <a16:creationId xmlns:a16="http://schemas.microsoft.com/office/drawing/2014/main" id="{371A86AA-F378-EF56-51A2-72AE46B208CE}"/>
                </a:ext>
              </a:extLst>
            </p:cNvPr>
            <p:cNvSpPr/>
            <p:nvPr/>
          </p:nvSpPr>
          <p:spPr>
            <a:xfrm>
              <a:off x="2078984" y="1205054"/>
              <a:ext cx="2203599" cy="1975938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4" name="직사각형 1313">
              <a:extLst>
                <a:ext uri="{FF2B5EF4-FFF2-40B4-BE49-F238E27FC236}">
                  <a16:creationId xmlns:a16="http://schemas.microsoft.com/office/drawing/2014/main" id="{D86CA379-E8ED-D708-0310-E7C0709DA448}"/>
                </a:ext>
              </a:extLst>
            </p:cNvPr>
            <p:cNvSpPr/>
            <p:nvPr/>
          </p:nvSpPr>
          <p:spPr>
            <a:xfrm>
              <a:off x="2716464" y="1076733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-node03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315" name="사각형: 둥근 모서리 1314">
              <a:extLst>
                <a:ext uri="{FF2B5EF4-FFF2-40B4-BE49-F238E27FC236}">
                  <a16:creationId xmlns:a16="http://schemas.microsoft.com/office/drawing/2014/main" id="{07B3CA4B-6A60-0C6F-B368-56B6AAD7FC39}"/>
                </a:ext>
              </a:extLst>
            </p:cNvPr>
            <p:cNvSpPr/>
            <p:nvPr/>
          </p:nvSpPr>
          <p:spPr>
            <a:xfrm>
              <a:off x="2155119" y="1346073"/>
              <a:ext cx="2049166" cy="1797735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6" name="사각형: 둥근 모서리 1315">
              <a:extLst>
                <a:ext uri="{FF2B5EF4-FFF2-40B4-BE49-F238E27FC236}">
                  <a16:creationId xmlns:a16="http://schemas.microsoft.com/office/drawing/2014/main" id="{56EE5D30-2C66-8F4C-4BB4-390B59268702}"/>
                </a:ext>
              </a:extLst>
            </p:cNvPr>
            <p:cNvSpPr/>
            <p:nvPr/>
          </p:nvSpPr>
          <p:spPr>
            <a:xfrm>
              <a:off x="2237976" y="2808750"/>
              <a:ext cx="1885979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7" name="사각형: 둥근 모서리 1316">
              <a:extLst>
                <a:ext uri="{FF2B5EF4-FFF2-40B4-BE49-F238E27FC236}">
                  <a16:creationId xmlns:a16="http://schemas.microsoft.com/office/drawing/2014/main" id="{D0F9AACD-08F3-B6A1-D0F0-76E56894E407}"/>
                </a:ext>
              </a:extLst>
            </p:cNvPr>
            <p:cNvSpPr/>
            <p:nvPr/>
          </p:nvSpPr>
          <p:spPr>
            <a:xfrm>
              <a:off x="2235201" y="1402327"/>
              <a:ext cx="1888754" cy="1407276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8" name="사각형: 둥근 모서리 1317">
              <a:extLst>
                <a:ext uri="{FF2B5EF4-FFF2-40B4-BE49-F238E27FC236}">
                  <a16:creationId xmlns:a16="http://schemas.microsoft.com/office/drawing/2014/main" id="{ADC1DE3B-8F07-485A-D51C-D8C858C251FC}"/>
                </a:ext>
              </a:extLst>
            </p:cNvPr>
            <p:cNvSpPr/>
            <p:nvPr/>
          </p:nvSpPr>
          <p:spPr>
            <a:xfrm>
              <a:off x="2287543" y="1462540"/>
              <a:ext cx="83718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basic-web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19" name="사각형: 둥근 모서리 1318">
              <a:extLst>
                <a:ext uri="{FF2B5EF4-FFF2-40B4-BE49-F238E27FC236}">
                  <a16:creationId xmlns:a16="http://schemas.microsoft.com/office/drawing/2014/main" id="{1D591CE8-47E3-4428-C4CA-F45488456D81}"/>
                </a:ext>
              </a:extLst>
            </p:cNvPr>
            <p:cNvSpPr/>
            <p:nvPr/>
          </p:nvSpPr>
          <p:spPr>
            <a:xfrm>
              <a:off x="2285747" y="1729862"/>
              <a:ext cx="83718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0" name="사각형: 둥근 모서리 1319">
              <a:extLst>
                <a:ext uri="{FF2B5EF4-FFF2-40B4-BE49-F238E27FC236}">
                  <a16:creationId xmlns:a16="http://schemas.microsoft.com/office/drawing/2014/main" id="{FF286FBF-209B-75AC-2433-F5242536F121}"/>
                </a:ext>
              </a:extLst>
            </p:cNvPr>
            <p:cNvSpPr/>
            <p:nvPr/>
          </p:nvSpPr>
          <p:spPr>
            <a:xfrm>
              <a:off x="2269908" y="1986178"/>
              <a:ext cx="851114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sys-web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1" name="사각형: 둥근 모서리 1320">
              <a:extLst>
                <a:ext uri="{FF2B5EF4-FFF2-40B4-BE49-F238E27FC236}">
                  <a16:creationId xmlns:a16="http://schemas.microsoft.com/office/drawing/2014/main" id="{5711955B-9AE6-DB70-4CCE-BBF5B17498B6}"/>
                </a:ext>
              </a:extLst>
            </p:cNvPr>
            <p:cNvSpPr/>
            <p:nvPr/>
          </p:nvSpPr>
          <p:spPr>
            <a:xfrm>
              <a:off x="3207456" y="1460138"/>
              <a:ext cx="83327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vacation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2" name="사각형: 둥근 모서리 1321">
              <a:extLst>
                <a:ext uri="{FF2B5EF4-FFF2-40B4-BE49-F238E27FC236}">
                  <a16:creationId xmlns:a16="http://schemas.microsoft.com/office/drawing/2014/main" id="{BDA3B949-E2AF-4FD0-96AF-85ED577E2DE4}"/>
                </a:ext>
              </a:extLst>
            </p:cNvPr>
            <p:cNvSpPr/>
            <p:nvPr/>
          </p:nvSpPr>
          <p:spPr>
            <a:xfrm>
              <a:off x="3196251" y="1732197"/>
              <a:ext cx="845468" cy="241960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education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3" name="사각형: 둥근 모서리 1322">
              <a:extLst>
                <a:ext uri="{FF2B5EF4-FFF2-40B4-BE49-F238E27FC236}">
                  <a16:creationId xmlns:a16="http://schemas.microsoft.com/office/drawing/2014/main" id="{0E7A050F-15DD-4E87-8790-630B8C3FC0AC}"/>
                </a:ext>
              </a:extLst>
            </p:cNvPr>
            <p:cNvSpPr/>
            <p:nvPr/>
          </p:nvSpPr>
          <p:spPr>
            <a:xfrm>
              <a:off x="3200779" y="2020867"/>
              <a:ext cx="841887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contract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4" name="사각형: 둥근 모서리 1323">
              <a:extLst>
                <a:ext uri="{FF2B5EF4-FFF2-40B4-BE49-F238E27FC236}">
                  <a16:creationId xmlns:a16="http://schemas.microsoft.com/office/drawing/2014/main" id="{4325F828-E369-B6D1-0685-7F06B9718B32}"/>
                </a:ext>
              </a:extLst>
            </p:cNvPr>
            <p:cNvSpPr/>
            <p:nvPr/>
          </p:nvSpPr>
          <p:spPr>
            <a:xfrm>
              <a:off x="2273044" y="2284960"/>
              <a:ext cx="848355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-app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325" name="사각형: 둥근 모서리 1324">
              <a:extLst>
                <a:ext uri="{FF2B5EF4-FFF2-40B4-BE49-F238E27FC236}">
                  <a16:creationId xmlns:a16="http://schemas.microsoft.com/office/drawing/2014/main" id="{05E9FCB6-84EB-487A-5E34-E1452A5F4B4D}"/>
                </a:ext>
              </a:extLst>
            </p:cNvPr>
            <p:cNvSpPr/>
            <p:nvPr/>
          </p:nvSpPr>
          <p:spPr>
            <a:xfrm>
              <a:off x="3196252" y="2293533"/>
              <a:ext cx="841870" cy="225956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attendance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-web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326" name="Picture 2" descr="아파치 톰캣이란 ?">
              <a:extLst>
                <a:ext uri="{FF2B5EF4-FFF2-40B4-BE49-F238E27FC236}">
                  <a16:creationId xmlns:a16="http://schemas.microsoft.com/office/drawing/2014/main" id="{AA52D2C3-DF55-E31E-C1C0-F4E02CC70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7541" y="1447403"/>
              <a:ext cx="256074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7" name="Picture 2" descr="아파치 톰캣이란 ?">
              <a:extLst>
                <a:ext uri="{FF2B5EF4-FFF2-40B4-BE49-F238E27FC236}">
                  <a16:creationId xmlns:a16="http://schemas.microsoft.com/office/drawing/2014/main" id="{88A7CE98-2456-6023-5277-96292C14C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672" y="1734894"/>
              <a:ext cx="252425" cy="219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8" name="Picture 2" descr="아파치 톰캣이란 ?">
              <a:extLst>
                <a:ext uri="{FF2B5EF4-FFF2-40B4-BE49-F238E27FC236}">
                  <a16:creationId xmlns:a16="http://schemas.microsoft.com/office/drawing/2014/main" id="{6F6CA304-5912-73AB-F101-E0EB03E4F7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2096" y="1988587"/>
              <a:ext cx="251396" cy="217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9" name="Picture 4" descr="Nginx Vector SVG Icon (6) - SVG Repo">
              <a:extLst>
                <a:ext uri="{FF2B5EF4-FFF2-40B4-BE49-F238E27FC236}">
                  <a16:creationId xmlns:a16="http://schemas.microsoft.com/office/drawing/2014/main" id="{AE06903E-43FF-DBA1-74B2-017EF6F085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6243" y="2279890"/>
              <a:ext cx="251396" cy="2274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0" name="Picture 4" descr="Nginx Vector SVG Icon (6) - SVG Repo">
              <a:extLst>
                <a:ext uri="{FF2B5EF4-FFF2-40B4-BE49-F238E27FC236}">
                  <a16:creationId xmlns:a16="http://schemas.microsoft.com/office/drawing/2014/main" id="{6866143B-CFB1-359B-C051-65D5C269A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3759" y="1464931"/>
              <a:ext cx="251396" cy="225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" name="Picture 4" descr="Nginx Vector SVG Icon (6) - SVG Repo">
              <a:extLst>
                <a:ext uri="{FF2B5EF4-FFF2-40B4-BE49-F238E27FC236}">
                  <a16:creationId xmlns:a16="http://schemas.microsoft.com/office/drawing/2014/main" id="{CC5AD7A6-1C5E-ABB9-D74B-4A2EB76B5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440" y="1731065"/>
              <a:ext cx="251396" cy="244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2" name="Picture 4" descr="Nginx Vector SVG Icon (6) - SVG Repo">
              <a:extLst>
                <a:ext uri="{FF2B5EF4-FFF2-40B4-BE49-F238E27FC236}">
                  <a16:creationId xmlns:a16="http://schemas.microsoft.com/office/drawing/2014/main" id="{3CC10ED3-9C6C-EBAB-30FF-AA11E8A06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029414"/>
              <a:ext cx="251396" cy="230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" name="Picture 4" descr="Nginx Vector SVG Icon (6) - SVG Repo">
              <a:extLst>
                <a:ext uri="{FF2B5EF4-FFF2-40B4-BE49-F238E27FC236}">
                  <a16:creationId xmlns:a16="http://schemas.microsoft.com/office/drawing/2014/main" id="{091865B1-5E91-39C1-F3C8-9B01F3A0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11" y="2295418"/>
              <a:ext cx="251396" cy="224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34" name="사각형: 둥근 모서리 1333">
              <a:extLst>
                <a:ext uri="{FF2B5EF4-FFF2-40B4-BE49-F238E27FC236}">
                  <a16:creationId xmlns:a16="http://schemas.microsoft.com/office/drawing/2014/main" id="{FD2AD0BD-D781-EA8E-9B60-825A02E4BCC5}"/>
                </a:ext>
              </a:extLst>
            </p:cNvPr>
            <p:cNvSpPr/>
            <p:nvPr/>
          </p:nvSpPr>
          <p:spPr>
            <a:xfrm>
              <a:off x="2266243" y="2560965"/>
              <a:ext cx="854779" cy="187347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1338" name="사각형: 둥근 모서리 1337">
            <a:extLst>
              <a:ext uri="{FF2B5EF4-FFF2-40B4-BE49-F238E27FC236}">
                <a16:creationId xmlns:a16="http://schemas.microsoft.com/office/drawing/2014/main" id="{0E3065F4-576C-8FB8-46DB-697F5309FC30}"/>
              </a:ext>
            </a:extLst>
          </p:cNvPr>
          <p:cNvSpPr/>
          <p:nvPr/>
        </p:nvSpPr>
        <p:spPr>
          <a:xfrm>
            <a:off x="2894650" y="5000471"/>
            <a:ext cx="830506" cy="187347"/>
          </a:xfrm>
          <a:prstGeom prst="roundRect">
            <a:avLst>
              <a:gd name="adj" fmla="val 1252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     </a:t>
            </a:r>
            <a:r>
              <a:rPr lang="en-US" altLang="ko-KR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-</a:t>
            </a:r>
            <a:r>
              <a:rPr lang="en-US" altLang="ko-KR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redis</a:t>
            </a:r>
            <a:endParaRPr lang="ko-KR" altLang="en-US" sz="6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340" name="Picture 2" descr="Redis Cluster: Should I go or should i stay?">
            <a:extLst>
              <a:ext uri="{FF2B5EF4-FFF2-40B4-BE49-F238E27FC236}">
                <a16:creationId xmlns:a16="http://schemas.microsoft.com/office/drawing/2014/main" id="{366A0D12-0787-F3D4-8100-2314069F9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002" y="5021173"/>
            <a:ext cx="170918" cy="15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" name="Picture 2" descr="Redis Cluster: Should I go or should i stay?">
            <a:extLst>
              <a:ext uri="{FF2B5EF4-FFF2-40B4-BE49-F238E27FC236}">
                <a16:creationId xmlns:a16="http://schemas.microsoft.com/office/drawing/2014/main" id="{169548D1-2448-5D39-8F37-224395B65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915" y="5019226"/>
            <a:ext cx="170918" cy="15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5" name="Picture 6" descr="Mariadb, 로고 아이콘 에 Vector Logo">
            <a:extLst>
              <a:ext uri="{FF2B5EF4-FFF2-40B4-BE49-F238E27FC236}">
                <a16:creationId xmlns:a16="http://schemas.microsoft.com/office/drawing/2014/main" id="{6B51501B-37DD-1713-5817-B24C54D9E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701" y="1819068"/>
            <a:ext cx="393942" cy="19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7" name="Picture 6" descr="Mariadb, 로고 아이콘 에 Vector Logo">
            <a:extLst>
              <a:ext uri="{FF2B5EF4-FFF2-40B4-BE49-F238E27FC236}">
                <a16:creationId xmlns:a16="http://schemas.microsoft.com/office/drawing/2014/main" id="{E7B53E97-B169-0E7E-1D2A-CD99C6D88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877" y="3924019"/>
            <a:ext cx="393942" cy="19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29" name="연결선: 꺾임 1428">
            <a:extLst>
              <a:ext uri="{FF2B5EF4-FFF2-40B4-BE49-F238E27FC236}">
                <a16:creationId xmlns:a16="http://schemas.microsoft.com/office/drawing/2014/main" id="{AA8C329B-CB55-2D58-02FA-68AEE3C25EAC}"/>
              </a:ext>
            </a:extLst>
          </p:cNvPr>
          <p:cNvCxnSpPr>
            <a:cxnSpLocks/>
            <a:stCxn id="1160" idx="0"/>
            <a:endCxn id="1256" idx="1"/>
          </p:cNvCxnSpPr>
          <p:nvPr/>
        </p:nvCxnSpPr>
        <p:spPr>
          <a:xfrm rot="5400000" flipH="1" flipV="1">
            <a:off x="4417896" y="2574702"/>
            <a:ext cx="1116246" cy="34168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연결선: 꺾임 1430">
            <a:extLst>
              <a:ext uri="{FF2B5EF4-FFF2-40B4-BE49-F238E27FC236}">
                <a16:creationId xmlns:a16="http://schemas.microsoft.com/office/drawing/2014/main" id="{E4DB2F61-92BF-B3C4-6A56-C15207E5AFEC}"/>
              </a:ext>
            </a:extLst>
          </p:cNvPr>
          <p:cNvCxnSpPr>
            <a:cxnSpLocks/>
            <a:stCxn id="1160" idx="2"/>
            <a:endCxn id="1484" idx="1"/>
          </p:cNvCxnSpPr>
          <p:nvPr/>
        </p:nvCxnSpPr>
        <p:spPr>
          <a:xfrm rot="16200000" flipH="1">
            <a:off x="4390630" y="3965306"/>
            <a:ext cx="1162179" cy="33308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5" name="그룹 1444">
            <a:extLst>
              <a:ext uri="{FF2B5EF4-FFF2-40B4-BE49-F238E27FC236}">
                <a16:creationId xmlns:a16="http://schemas.microsoft.com/office/drawing/2014/main" id="{8C9143F6-420B-0135-FAAC-B9830B4124D6}"/>
              </a:ext>
            </a:extLst>
          </p:cNvPr>
          <p:cNvGrpSpPr/>
          <p:nvPr/>
        </p:nvGrpSpPr>
        <p:grpSpPr>
          <a:xfrm>
            <a:off x="3977734" y="5819775"/>
            <a:ext cx="5464113" cy="609861"/>
            <a:chOff x="3977734" y="5819775"/>
            <a:chExt cx="5464113" cy="609861"/>
          </a:xfrm>
        </p:grpSpPr>
        <p:sp>
          <p:nvSpPr>
            <p:cNvPr id="1442" name="직사각형 1441">
              <a:extLst>
                <a:ext uri="{FF2B5EF4-FFF2-40B4-BE49-F238E27FC236}">
                  <a16:creationId xmlns:a16="http://schemas.microsoft.com/office/drawing/2014/main" id="{E2C81587-07F1-4730-509C-90C79A0BFAD4}"/>
                </a:ext>
              </a:extLst>
            </p:cNvPr>
            <p:cNvSpPr/>
            <p:nvPr/>
          </p:nvSpPr>
          <p:spPr>
            <a:xfrm>
              <a:off x="3977734" y="5819775"/>
              <a:ext cx="5394865" cy="609861"/>
            </a:xfrm>
            <a:prstGeom prst="rect">
              <a:avLst/>
            </a:prstGeom>
            <a:ln w="9525"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3" name="Picture 2" descr="아파치 톰캣이란 ?">
              <a:extLst>
                <a:ext uri="{FF2B5EF4-FFF2-40B4-BE49-F238E27FC236}">
                  <a16:creationId xmlns:a16="http://schemas.microsoft.com/office/drawing/2014/main" id="{4BE1B86F-FA94-7F9E-A202-9DCC18BDD8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2599" y="5884356"/>
              <a:ext cx="241532" cy="245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4" descr="Nginx Vector SVG Icon (6) - SVG Repo">
              <a:extLst>
                <a:ext uri="{FF2B5EF4-FFF2-40B4-BE49-F238E27FC236}">
                  <a16:creationId xmlns:a16="http://schemas.microsoft.com/office/drawing/2014/main" id="{B90F2693-503B-8DAF-8177-3DCA890A0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2611" y="6173838"/>
              <a:ext cx="221509" cy="227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8B0799A0-FBD6-6D9D-0BD4-36C84B06974E}"/>
                </a:ext>
              </a:extLst>
            </p:cNvPr>
            <p:cNvSpPr txBox="1"/>
            <p:nvPr/>
          </p:nvSpPr>
          <p:spPr>
            <a:xfrm>
              <a:off x="7745375" y="5901886"/>
              <a:ext cx="169647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 Apache Tomcat Server</a:t>
              </a:r>
            </a:p>
          </p:txBody>
        </p: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3D52C0BE-E2AF-B167-F52A-18DC4E128251}"/>
                </a:ext>
              </a:extLst>
            </p:cNvPr>
            <p:cNvSpPr txBox="1"/>
            <p:nvPr/>
          </p:nvSpPr>
          <p:spPr>
            <a:xfrm>
              <a:off x="7745376" y="6148107"/>
              <a:ext cx="169647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Nginx Server</a:t>
              </a:r>
            </a:p>
          </p:txBody>
        </p:sp>
        <p:pic>
          <p:nvPicPr>
            <p:cNvPr id="1279" name="그림 1278">
              <a:extLst>
                <a:ext uri="{FF2B5EF4-FFF2-40B4-BE49-F238E27FC236}">
                  <a16:creationId xmlns:a16="http://schemas.microsoft.com/office/drawing/2014/main" id="{7CA9B6B5-FDAD-594B-70D5-4ECD9C3A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6642" y="5829644"/>
              <a:ext cx="381312" cy="381312"/>
            </a:xfrm>
            <a:prstGeom prst="rect">
              <a:avLst/>
            </a:prstGeom>
          </p:spPr>
        </p:pic>
        <p:pic>
          <p:nvPicPr>
            <p:cNvPr id="1280" name="그림 1279">
              <a:extLst>
                <a:ext uri="{FF2B5EF4-FFF2-40B4-BE49-F238E27FC236}">
                  <a16:creationId xmlns:a16="http://schemas.microsoft.com/office/drawing/2014/main" id="{B0F13813-0CC6-C48F-3B4D-055913B64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4517" y="6145383"/>
              <a:ext cx="248945" cy="248945"/>
            </a:xfrm>
            <a:prstGeom prst="rect">
              <a:avLst/>
            </a:prstGeom>
          </p:spPr>
        </p:pic>
        <p:pic>
          <p:nvPicPr>
            <p:cNvPr id="1311" name="그림 1310">
              <a:extLst>
                <a:ext uri="{FF2B5EF4-FFF2-40B4-BE49-F238E27FC236}">
                  <a16:creationId xmlns:a16="http://schemas.microsoft.com/office/drawing/2014/main" id="{155CBB46-0E71-10A7-45CF-49DC46D2F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0201" y="6157720"/>
              <a:ext cx="236749" cy="251815"/>
            </a:xfrm>
            <a:prstGeom prst="rect">
              <a:avLst/>
            </a:prstGeom>
          </p:spPr>
        </p:pic>
        <p:pic>
          <p:nvPicPr>
            <p:cNvPr id="1339" name="Picture 2" descr="Redis Cluster: Should I go or should i stay?">
              <a:extLst>
                <a:ext uri="{FF2B5EF4-FFF2-40B4-BE49-F238E27FC236}">
                  <a16:creationId xmlns:a16="http://schemas.microsoft.com/office/drawing/2014/main" id="{D1583DEE-E1F0-776C-AD89-7BC6E1AF1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4159" y="5927352"/>
              <a:ext cx="241532" cy="215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6" name="TextBox 1435">
              <a:extLst>
                <a:ext uri="{FF2B5EF4-FFF2-40B4-BE49-F238E27FC236}">
                  <a16:creationId xmlns:a16="http://schemas.microsoft.com/office/drawing/2014/main" id="{675B9CA2-09D4-A41B-99C4-51FA25417595}"/>
                </a:ext>
              </a:extLst>
            </p:cNvPr>
            <p:cNvSpPr txBox="1"/>
            <p:nvPr/>
          </p:nvSpPr>
          <p:spPr>
            <a:xfrm>
              <a:off x="6578026" y="5911814"/>
              <a:ext cx="59319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 Redis</a:t>
              </a:r>
            </a:p>
          </p:txBody>
        </p:sp>
        <p:sp>
          <p:nvSpPr>
            <p:cNvPr id="1437" name="TextBox 1436">
              <a:extLst>
                <a:ext uri="{FF2B5EF4-FFF2-40B4-BE49-F238E27FC236}">
                  <a16:creationId xmlns:a16="http://schemas.microsoft.com/office/drawing/2014/main" id="{BC56C8C8-0F62-3420-CBC8-B521B1EC8811}"/>
                </a:ext>
              </a:extLst>
            </p:cNvPr>
            <p:cNvSpPr txBox="1"/>
            <p:nvPr/>
          </p:nvSpPr>
          <p:spPr>
            <a:xfrm>
              <a:off x="6598654" y="6159534"/>
              <a:ext cx="68417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rabbitmq</a:t>
              </a:r>
              <a:endParaRPr lang="en-US" altLang="ko-KR" sz="1000" dirty="0"/>
            </a:p>
          </p:txBody>
        </p:sp>
        <p:sp>
          <p:nvSpPr>
            <p:cNvPr id="1438" name="TextBox 1437">
              <a:extLst>
                <a:ext uri="{FF2B5EF4-FFF2-40B4-BE49-F238E27FC236}">
                  <a16:creationId xmlns:a16="http://schemas.microsoft.com/office/drawing/2014/main" id="{9FCFCBD7-4D1F-ADC1-6B64-6EF3FCDC7DA2}"/>
                </a:ext>
              </a:extLst>
            </p:cNvPr>
            <p:cNvSpPr txBox="1"/>
            <p:nvPr/>
          </p:nvSpPr>
          <p:spPr>
            <a:xfrm>
              <a:off x="5340040" y="5888105"/>
              <a:ext cx="92032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 Spring Boot</a:t>
              </a:r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5EA48323-543C-A121-805E-718FA4A8BA5C}"/>
                </a:ext>
              </a:extLst>
            </p:cNvPr>
            <p:cNvSpPr txBox="1"/>
            <p:nvPr/>
          </p:nvSpPr>
          <p:spPr>
            <a:xfrm>
              <a:off x="5348397" y="6134297"/>
              <a:ext cx="92032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 Undertow</a:t>
              </a:r>
            </a:p>
          </p:txBody>
        </p:sp>
        <p:sp>
          <p:nvSpPr>
            <p:cNvPr id="1443" name="사각형: 둥근 모서리 1442">
              <a:extLst>
                <a:ext uri="{FF2B5EF4-FFF2-40B4-BE49-F238E27FC236}">
                  <a16:creationId xmlns:a16="http://schemas.microsoft.com/office/drawing/2014/main" id="{19A3203A-75C7-422B-8C1D-D8D4932AF532}"/>
                </a:ext>
              </a:extLst>
            </p:cNvPr>
            <p:cNvSpPr/>
            <p:nvPr/>
          </p:nvSpPr>
          <p:spPr>
            <a:xfrm>
              <a:off x="4116570" y="5912931"/>
              <a:ext cx="904635" cy="196607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ko-KR" altLang="en-US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근태연차</a:t>
              </a:r>
              <a:r>
                <a:rPr lang="ko-KR" altLang="en-US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서비스 </a:t>
              </a:r>
            </a:p>
          </p:txBody>
        </p:sp>
        <p:sp>
          <p:nvSpPr>
            <p:cNvPr id="1444" name="사각형: 둥근 모서리 1443">
              <a:extLst>
                <a:ext uri="{FF2B5EF4-FFF2-40B4-BE49-F238E27FC236}">
                  <a16:creationId xmlns:a16="http://schemas.microsoft.com/office/drawing/2014/main" id="{8C959C1B-0CF0-3F14-6334-B43607924F0B}"/>
                </a:ext>
              </a:extLst>
            </p:cNvPr>
            <p:cNvSpPr/>
            <p:nvPr/>
          </p:nvSpPr>
          <p:spPr>
            <a:xfrm>
              <a:off x="4124904" y="6158704"/>
              <a:ext cx="896301" cy="21603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ko-KR" altLang="en-US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경리회계 서비스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grpSp>
        <p:nvGrpSpPr>
          <p:cNvPr id="1482" name="그룹 1481">
            <a:extLst>
              <a:ext uri="{FF2B5EF4-FFF2-40B4-BE49-F238E27FC236}">
                <a16:creationId xmlns:a16="http://schemas.microsoft.com/office/drawing/2014/main" id="{3B807ED9-DC5A-485E-2819-DB1D5E40D4EA}"/>
              </a:ext>
            </a:extLst>
          </p:cNvPr>
          <p:cNvGrpSpPr/>
          <p:nvPr/>
        </p:nvGrpSpPr>
        <p:grpSpPr>
          <a:xfrm>
            <a:off x="5146860" y="1005515"/>
            <a:ext cx="2294196" cy="2235489"/>
            <a:chOff x="5146860" y="1005515"/>
            <a:chExt cx="2294196" cy="2235489"/>
          </a:xfrm>
        </p:grpSpPr>
        <p:sp>
          <p:nvSpPr>
            <p:cNvPr id="1256" name="사각형: 둥근 모서리 1255">
              <a:extLst>
                <a:ext uri="{FF2B5EF4-FFF2-40B4-BE49-F238E27FC236}">
                  <a16:creationId xmlns:a16="http://schemas.microsoft.com/office/drawing/2014/main" id="{22F23467-9AE4-B112-76F5-284DE2B63519}"/>
                </a:ext>
              </a:extLst>
            </p:cNvPr>
            <p:cNvSpPr/>
            <p:nvPr/>
          </p:nvSpPr>
          <p:spPr>
            <a:xfrm>
              <a:off x="5146860" y="1133835"/>
              <a:ext cx="2294196" cy="2107169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57" name="직사각형 1256">
              <a:extLst>
                <a:ext uri="{FF2B5EF4-FFF2-40B4-BE49-F238E27FC236}">
                  <a16:creationId xmlns:a16="http://schemas.microsoft.com/office/drawing/2014/main" id="{5B039950-FADB-04F1-8313-B70661898778}"/>
                </a:ext>
              </a:extLst>
            </p:cNvPr>
            <p:cNvSpPr/>
            <p:nvPr/>
          </p:nvSpPr>
          <p:spPr>
            <a:xfrm>
              <a:off x="5784340" y="1005515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-node01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258" name="사각형: 둥근 모서리 1257">
              <a:extLst>
                <a:ext uri="{FF2B5EF4-FFF2-40B4-BE49-F238E27FC236}">
                  <a16:creationId xmlns:a16="http://schemas.microsoft.com/office/drawing/2014/main" id="{7E0B8F7D-5DAA-5815-EB0A-A5619E96CF28}"/>
                </a:ext>
              </a:extLst>
            </p:cNvPr>
            <p:cNvSpPr/>
            <p:nvPr/>
          </p:nvSpPr>
          <p:spPr>
            <a:xfrm>
              <a:off x="5222994" y="1209674"/>
              <a:ext cx="2157975" cy="1971317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59" name="사각형: 둥근 모서리 1258">
              <a:extLst>
                <a:ext uri="{FF2B5EF4-FFF2-40B4-BE49-F238E27FC236}">
                  <a16:creationId xmlns:a16="http://schemas.microsoft.com/office/drawing/2014/main" id="{F59C6EBF-2083-7671-56D0-4F7A7439B46E}"/>
                </a:ext>
              </a:extLst>
            </p:cNvPr>
            <p:cNvSpPr/>
            <p:nvPr/>
          </p:nvSpPr>
          <p:spPr>
            <a:xfrm>
              <a:off x="5296015" y="2891165"/>
              <a:ext cx="2024597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0" name="사각형: 둥근 모서리 1259">
              <a:extLst>
                <a:ext uri="{FF2B5EF4-FFF2-40B4-BE49-F238E27FC236}">
                  <a16:creationId xmlns:a16="http://schemas.microsoft.com/office/drawing/2014/main" id="{9DD064B6-8F7D-09CC-8A4A-EB9A6FAB3BA6}"/>
                </a:ext>
              </a:extLst>
            </p:cNvPr>
            <p:cNvSpPr/>
            <p:nvPr/>
          </p:nvSpPr>
          <p:spPr>
            <a:xfrm>
              <a:off x="5303076" y="1269874"/>
              <a:ext cx="2024597" cy="1614366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1" name="사각형: 둥근 모서리 1260">
              <a:extLst>
                <a:ext uri="{FF2B5EF4-FFF2-40B4-BE49-F238E27FC236}">
                  <a16:creationId xmlns:a16="http://schemas.microsoft.com/office/drawing/2014/main" id="{6B15B072-4799-8649-D7CB-9301B94043D6}"/>
                </a:ext>
              </a:extLst>
            </p:cNvPr>
            <p:cNvSpPr/>
            <p:nvPr/>
          </p:nvSpPr>
          <p:spPr>
            <a:xfrm>
              <a:off x="5355418" y="1333500"/>
              <a:ext cx="921557" cy="219221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</a:p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fgnif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2" name="사각형: 둥근 모서리 1261">
              <a:extLst>
                <a:ext uri="{FF2B5EF4-FFF2-40B4-BE49-F238E27FC236}">
                  <a16:creationId xmlns:a16="http://schemas.microsoft.com/office/drawing/2014/main" id="{818CF63B-5FE3-DD07-CA4D-94261E904B3B}"/>
                </a:ext>
              </a:extLst>
            </p:cNvPr>
            <p:cNvSpPr/>
            <p:nvPr/>
          </p:nvSpPr>
          <p:spPr>
            <a:xfrm>
              <a:off x="5353623" y="1601494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biz-service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3" name="사각형: 둥근 모서리 1262">
              <a:extLst>
                <a:ext uri="{FF2B5EF4-FFF2-40B4-BE49-F238E27FC236}">
                  <a16:creationId xmlns:a16="http://schemas.microsoft.com/office/drawing/2014/main" id="{9C2D1E6E-2A42-7DC1-8E2D-8AC98198A542}"/>
                </a:ext>
              </a:extLst>
            </p:cNvPr>
            <p:cNvSpPr/>
            <p:nvPr/>
          </p:nvSpPr>
          <p:spPr>
            <a:xfrm>
              <a:off x="5337784" y="1857810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4" name="사각형: 둥근 모서리 1263">
              <a:extLst>
                <a:ext uri="{FF2B5EF4-FFF2-40B4-BE49-F238E27FC236}">
                  <a16:creationId xmlns:a16="http://schemas.microsoft.com/office/drawing/2014/main" id="{9356BC13-95DD-36D9-43D9-E4F9E3B417E2}"/>
                </a:ext>
              </a:extLst>
            </p:cNvPr>
            <p:cNvSpPr/>
            <p:nvPr/>
          </p:nvSpPr>
          <p:spPr>
            <a:xfrm>
              <a:off x="6334534" y="1331743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attendance-service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67" name="사각형: 둥근 모서리 1266">
              <a:extLst>
                <a:ext uri="{FF2B5EF4-FFF2-40B4-BE49-F238E27FC236}">
                  <a16:creationId xmlns:a16="http://schemas.microsoft.com/office/drawing/2014/main" id="{3F991208-46A5-9E85-6567-1A0C186A70D6}"/>
                </a:ext>
              </a:extLst>
            </p:cNvPr>
            <p:cNvSpPr/>
            <p:nvPr/>
          </p:nvSpPr>
          <p:spPr>
            <a:xfrm>
              <a:off x="5340920" y="211849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dmcif</a:t>
              </a:r>
              <a:endParaRPr lang="en-US" altLang="ko-KR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doapi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277" name="사각형: 둥근 모서리 1276">
              <a:extLst>
                <a:ext uri="{FF2B5EF4-FFF2-40B4-BE49-F238E27FC236}">
                  <a16:creationId xmlns:a16="http://schemas.microsoft.com/office/drawing/2014/main" id="{4C383591-78DB-8577-C2F7-C80EEBF5F997}"/>
                </a:ext>
              </a:extLst>
            </p:cNvPr>
            <p:cNvSpPr/>
            <p:nvPr/>
          </p:nvSpPr>
          <p:spPr>
            <a:xfrm>
              <a:off x="6332741" y="2359263"/>
              <a:ext cx="930972" cy="228046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      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                              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rabbitmq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285" name="그룹 1284">
              <a:extLst>
                <a:ext uri="{FF2B5EF4-FFF2-40B4-BE49-F238E27FC236}">
                  <a16:creationId xmlns:a16="http://schemas.microsoft.com/office/drawing/2014/main" id="{8F9B62FA-387A-6B8C-2F7A-A5748D5A0B84}"/>
                </a:ext>
              </a:extLst>
            </p:cNvPr>
            <p:cNvGrpSpPr/>
            <p:nvPr/>
          </p:nvGrpSpPr>
          <p:grpSpPr>
            <a:xfrm>
              <a:off x="5289992" y="1277565"/>
              <a:ext cx="320233" cy="255038"/>
              <a:chOff x="5289992" y="1439490"/>
              <a:chExt cx="400982" cy="284152"/>
            </a:xfrm>
          </p:grpSpPr>
          <p:pic>
            <p:nvPicPr>
              <p:cNvPr id="1281" name="그림 1280">
                <a:extLst>
                  <a:ext uri="{FF2B5EF4-FFF2-40B4-BE49-F238E27FC236}">
                    <a16:creationId xmlns:a16="http://schemas.microsoft.com/office/drawing/2014/main" id="{45256311-4644-746F-3616-0F095FAD5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82" name="그림 1281">
                <a:extLst>
                  <a:ext uri="{FF2B5EF4-FFF2-40B4-BE49-F238E27FC236}">
                    <a16:creationId xmlns:a16="http://schemas.microsoft.com/office/drawing/2014/main" id="{B7429B93-EB06-AECE-DD55-AF6EEF78F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286" name="그룹 1285">
              <a:extLst>
                <a:ext uri="{FF2B5EF4-FFF2-40B4-BE49-F238E27FC236}">
                  <a16:creationId xmlns:a16="http://schemas.microsoft.com/office/drawing/2014/main" id="{755CB7F1-0070-D2AC-976A-9CD37C38A6E5}"/>
                </a:ext>
              </a:extLst>
            </p:cNvPr>
            <p:cNvGrpSpPr/>
            <p:nvPr/>
          </p:nvGrpSpPr>
          <p:grpSpPr>
            <a:xfrm>
              <a:off x="5300580" y="1563191"/>
              <a:ext cx="320233" cy="255038"/>
              <a:chOff x="5289992" y="1439490"/>
              <a:chExt cx="400982" cy="284152"/>
            </a:xfrm>
          </p:grpSpPr>
          <p:pic>
            <p:nvPicPr>
              <p:cNvPr id="1287" name="그림 1286">
                <a:extLst>
                  <a:ext uri="{FF2B5EF4-FFF2-40B4-BE49-F238E27FC236}">
                    <a16:creationId xmlns:a16="http://schemas.microsoft.com/office/drawing/2014/main" id="{D5BF5649-837C-00B0-82B9-E5616819CB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88" name="그림 1287">
                <a:extLst>
                  <a:ext uri="{FF2B5EF4-FFF2-40B4-BE49-F238E27FC236}">
                    <a16:creationId xmlns:a16="http://schemas.microsoft.com/office/drawing/2014/main" id="{810D610F-CA07-6BD7-BA33-E7C7FB7B34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289" name="그룹 1288">
              <a:extLst>
                <a:ext uri="{FF2B5EF4-FFF2-40B4-BE49-F238E27FC236}">
                  <a16:creationId xmlns:a16="http://schemas.microsoft.com/office/drawing/2014/main" id="{054AAB73-0CD8-079E-BE4E-0E74E87F9C80}"/>
                </a:ext>
              </a:extLst>
            </p:cNvPr>
            <p:cNvGrpSpPr/>
            <p:nvPr/>
          </p:nvGrpSpPr>
          <p:grpSpPr>
            <a:xfrm>
              <a:off x="5281530" y="1811637"/>
              <a:ext cx="320233" cy="255038"/>
              <a:chOff x="5289992" y="1439490"/>
              <a:chExt cx="400982" cy="284152"/>
            </a:xfrm>
          </p:grpSpPr>
          <p:pic>
            <p:nvPicPr>
              <p:cNvPr id="1290" name="그림 1289">
                <a:extLst>
                  <a:ext uri="{FF2B5EF4-FFF2-40B4-BE49-F238E27FC236}">
                    <a16:creationId xmlns:a16="http://schemas.microsoft.com/office/drawing/2014/main" id="{448586F2-FBA5-0603-2DED-927CC5C0A3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91" name="그림 1290">
                <a:extLst>
                  <a:ext uri="{FF2B5EF4-FFF2-40B4-BE49-F238E27FC236}">
                    <a16:creationId xmlns:a16="http://schemas.microsoft.com/office/drawing/2014/main" id="{61EEB568-3EBF-4EC4-0DA0-6D1B07CB0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292" name="그룹 1291">
              <a:extLst>
                <a:ext uri="{FF2B5EF4-FFF2-40B4-BE49-F238E27FC236}">
                  <a16:creationId xmlns:a16="http://schemas.microsoft.com/office/drawing/2014/main" id="{FB0B4E32-C5E0-BC54-911F-DBC571F5FD16}"/>
                </a:ext>
              </a:extLst>
            </p:cNvPr>
            <p:cNvGrpSpPr/>
            <p:nvPr/>
          </p:nvGrpSpPr>
          <p:grpSpPr>
            <a:xfrm>
              <a:off x="5291055" y="2058933"/>
              <a:ext cx="320233" cy="255038"/>
              <a:chOff x="5289992" y="1439490"/>
              <a:chExt cx="400982" cy="284152"/>
            </a:xfrm>
          </p:grpSpPr>
          <p:pic>
            <p:nvPicPr>
              <p:cNvPr id="1293" name="그림 1292">
                <a:extLst>
                  <a:ext uri="{FF2B5EF4-FFF2-40B4-BE49-F238E27FC236}">
                    <a16:creationId xmlns:a16="http://schemas.microsoft.com/office/drawing/2014/main" id="{A211AEC5-4731-EA02-65C7-E2ED5837B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94" name="그림 1293">
                <a:extLst>
                  <a:ext uri="{FF2B5EF4-FFF2-40B4-BE49-F238E27FC236}">
                    <a16:creationId xmlns:a16="http://schemas.microsoft.com/office/drawing/2014/main" id="{C6232894-AA01-8A20-AFAD-D2C092B39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295" name="사각형: 둥근 모서리 1294">
              <a:extLst>
                <a:ext uri="{FF2B5EF4-FFF2-40B4-BE49-F238E27FC236}">
                  <a16:creationId xmlns:a16="http://schemas.microsoft.com/office/drawing/2014/main" id="{0DD28170-8B2A-AF7D-FD8C-4EFCD5936168}"/>
                </a:ext>
              </a:extLst>
            </p:cNvPr>
            <p:cNvSpPr/>
            <p:nvPr/>
          </p:nvSpPr>
          <p:spPr>
            <a:xfrm>
              <a:off x="5340920" y="237431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US" altLang="ko-KR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sys-service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296" name="그룹 1295">
              <a:extLst>
                <a:ext uri="{FF2B5EF4-FFF2-40B4-BE49-F238E27FC236}">
                  <a16:creationId xmlns:a16="http://schemas.microsoft.com/office/drawing/2014/main" id="{D047F553-F09F-0BCF-FB55-A07B3A87AA5B}"/>
                </a:ext>
              </a:extLst>
            </p:cNvPr>
            <p:cNvGrpSpPr/>
            <p:nvPr/>
          </p:nvGrpSpPr>
          <p:grpSpPr>
            <a:xfrm>
              <a:off x="5291055" y="2314753"/>
              <a:ext cx="320233" cy="255038"/>
              <a:chOff x="5289992" y="1439490"/>
              <a:chExt cx="400982" cy="284152"/>
            </a:xfrm>
          </p:grpSpPr>
          <p:pic>
            <p:nvPicPr>
              <p:cNvPr id="1297" name="그림 1296">
                <a:extLst>
                  <a:ext uri="{FF2B5EF4-FFF2-40B4-BE49-F238E27FC236}">
                    <a16:creationId xmlns:a16="http://schemas.microsoft.com/office/drawing/2014/main" id="{2FC20C80-0260-6006-8B34-585F765C2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298" name="그림 1297">
                <a:extLst>
                  <a:ext uri="{FF2B5EF4-FFF2-40B4-BE49-F238E27FC236}">
                    <a16:creationId xmlns:a16="http://schemas.microsoft.com/office/drawing/2014/main" id="{00709EAF-6797-3B3D-E213-A04CE3BD75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304" name="사각형: 둥근 모서리 1303">
              <a:extLst>
                <a:ext uri="{FF2B5EF4-FFF2-40B4-BE49-F238E27FC236}">
                  <a16:creationId xmlns:a16="http://schemas.microsoft.com/office/drawing/2014/main" id="{FC44DBB5-5D65-C2A9-2B89-01372E656094}"/>
                </a:ext>
              </a:extLst>
            </p:cNvPr>
            <p:cNvSpPr/>
            <p:nvPr/>
          </p:nvSpPr>
          <p:spPr>
            <a:xfrm>
              <a:off x="5339268" y="2643021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US" altLang="ko-KR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schedule-service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CBEC2EEF-C656-1697-5856-834CEBB253F3}"/>
                </a:ext>
              </a:extLst>
            </p:cNvPr>
            <p:cNvGrpSpPr/>
            <p:nvPr/>
          </p:nvGrpSpPr>
          <p:grpSpPr>
            <a:xfrm>
              <a:off x="5289403" y="2583462"/>
              <a:ext cx="320233" cy="255038"/>
              <a:chOff x="5289992" y="1439490"/>
              <a:chExt cx="400982" cy="284152"/>
            </a:xfrm>
          </p:grpSpPr>
          <p:pic>
            <p:nvPicPr>
              <p:cNvPr id="1306" name="그림 1305">
                <a:extLst>
                  <a:ext uri="{FF2B5EF4-FFF2-40B4-BE49-F238E27FC236}">
                    <a16:creationId xmlns:a16="http://schemas.microsoft.com/office/drawing/2014/main" id="{88DC24B2-D5D0-66F7-874D-42E06D980F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307" name="그림 1306">
                <a:extLst>
                  <a:ext uri="{FF2B5EF4-FFF2-40B4-BE49-F238E27FC236}">
                    <a16:creationId xmlns:a16="http://schemas.microsoft.com/office/drawing/2014/main" id="{0CDA3B82-5EF7-6078-E9BD-79171829C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308" name="사각형: 둥근 모서리 1307">
              <a:extLst>
                <a:ext uri="{FF2B5EF4-FFF2-40B4-BE49-F238E27FC236}">
                  <a16:creationId xmlns:a16="http://schemas.microsoft.com/office/drawing/2014/main" id="{B93B0ED5-EFB7-2751-446F-99CDD416D62F}"/>
                </a:ext>
              </a:extLst>
            </p:cNvPr>
            <p:cNvSpPr/>
            <p:nvPr/>
          </p:nvSpPr>
          <p:spPr>
            <a:xfrm>
              <a:off x="6332740" y="2637034"/>
              <a:ext cx="668651" cy="234205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        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310" name="그림 1309">
              <a:extLst>
                <a:ext uri="{FF2B5EF4-FFF2-40B4-BE49-F238E27FC236}">
                  <a16:creationId xmlns:a16="http://schemas.microsoft.com/office/drawing/2014/main" id="{7979748F-718F-E30A-4C97-00D391C13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1690" y="2358688"/>
              <a:ext cx="206788" cy="219947"/>
            </a:xfrm>
            <a:prstGeom prst="rect">
              <a:avLst/>
            </a:prstGeom>
          </p:spPr>
        </p:pic>
        <p:pic>
          <p:nvPicPr>
            <p:cNvPr id="1342" name="Picture 2" descr="Redis Cluster: Should I go or should i stay?">
              <a:extLst>
                <a:ext uri="{FF2B5EF4-FFF2-40B4-BE49-F238E27FC236}">
                  <a16:creationId xmlns:a16="http://schemas.microsoft.com/office/drawing/2014/main" id="{BB2E99BE-45CA-14EE-832D-FDA5288550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274" y="2657771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61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F5C0329E-9FA7-59E5-CCB4-01E5C790C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415" y="1342601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63" name="사각형: 둥근 모서리 1462">
              <a:extLst>
                <a:ext uri="{FF2B5EF4-FFF2-40B4-BE49-F238E27FC236}">
                  <a16:creationId xmlns:a16="http://schemas.microsoft.com/office/drawing/2014/main" id="{4D9768E5-18BF-2DD9-3303-FFF6FE663013}"/>
                </a:ext>
              </a:extLst>
            </p:cNvPr>
            <p:cNvSpPr/>
            <p:nvPr/>
          </p:nvSpPr>
          <p:spPr>
            <a:xfrm>
              <a:off x="6345833" y="1596855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vacation-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464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A57F0BBE-9A43-9DD6-14CB-E793407AB9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714" y="1607713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65" name="사각형: 둥근 모서리 1464">
              <a:extLst>
                <a:ext uri="{FF2B5EF4-FFF2-40B4-BE49-F238E27FC236}">
                  <a16:creationId xmlns:a16="http://schemas.microsoft.com/office/drawing/2014/main" id="{F7C9A331-2B80-AFCB-35F5-3B1DC98EC1E5}"/>
                </a:ext>
              </a:extLst>
            </p:cNvPr>
            <p:cNvSpPr/>
            <p:nvPr/>
          </p:nvSpPr>
          <p:spPr>
            <a:xfrm>
              <a:off x="6334775" y="1861887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contract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466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97B902C5-3B04-8478-6990-335A64808C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656" y="1872745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8" name="사각형: 둥근 모서리 1477">
              <a:extLst>
                <a:ext uri="{FF2B5EF4-FFF2-40B4-BE49-F238E27FC236}">
                  <a16:creationId xmlns:a16="http://schemas.microsoft.com/office/drawing/2014/main" id="{1029F1E7-45F2-F6DA-DFE6-999B425B513B}"/>
                </a:ext>
              </a:extLst>
            </p:cNvPr>
            <p:cNvSpPr/>
            <p:nvPr/>
          </p:nvSpPr>
          <p:spPr>
            <a:xfrm>
              <a:off x="6334775" y="2119062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education-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479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6AB4CEE6-738D-7A2F-891C-6E34A86ADC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656" y="2129920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80" name="사각형: 둥근 모서리 1479">
              <a:extLst>
                <a:ext uri="{FF2B5EF4-FFF2-40B4-BE49-F238E27FC236}">
                  <a16:creationId xmlns:a16="http://schemas.microsoft.com/office/drawing/2014/main" id="{E93049C0-3A2A-F629-F31E-0F696FE4F87E}"/>
                </a:ext>
              </a:extLst>
            </p:cNvPr>
            <p:cNvSpPr/>
            <p:nvPr/>
          </p:nvSpPr>
          <p:spPr>
            <a:xfrm>
              <a:off x="6855928" y="2638533"/>
              <a:ext cx="403944" cy="234205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</a:t>
              </a:r>
              <a:r>
                <a:rPr lang="en-US" altLang="ko-KR" sz="6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481" name="Picture 2" descr="Redis Cluster: Should I go or should i stay?">
              <a:extLst>
                <a:ext uri="{FF2B5EF4-FFF2-40B4-BE49-F238E27FC236}">
                  <a16:creationId xmlns:a16="http://schemas.microsoft.com/office/drawing/2014/main" id="{B5DB3B2A-4BFC-6A48-92CC-63F3EB4E77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0461" y="2659270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83" name="그룹 1482">
            <a:extLst>
              <a:ext uri="{FF2B5EF4-FFF2-40B4-BE49-F238E27FC236}">
                <a16:creationId xmlns:a16="http://schemas.microsoft.com/office/drawing/2014/main" id="{535A96DF-0175-0549-ACB1-625A972AF024}"/>
              </a:ext>
            </a:extLst>
          </p:cNvPr>
          <p:cNvGrpSpPr/>
          <p:nvPr/>
        </p:nvGrpSpPr>
        <p:grpSpPr>
          <a:xfrm>
            <a:off x="5138261" y="3482311"/>
            <a:ext cx="2294196" cy="2284211"/>
            <a:chOff x="5146860" y="956793"/>
            <a:chExt cx="2294196" cy="2284211"/>
          </a:xfrm>
        </p:grpSpPr>
        <p:sp>
          <p:nvSpPr>
            <p:cNvPr id="1484" name="사각형: 둥근 모서리 1483">
              <a:extLst>
                <a:ext uri="{FF2B5EF4-FFF2-40B4-BE49-F238E27FC236}">
                  <a16:creationId xmlns:a16="http://schemas.microsoft.com/office/drawing/2014/main" id="{21747E85-588B-3D7B-9CD5-FE9744D9521F}"/>
                </a:ext>
              </a:extLst>
            </p:cNvPr>
            <p:cNvSpPr/>
            <p:nvPr/>
          </p:nvSpPr>
          <p:spPr>
            <a:xfrm>
              <a:off x="5146860" y="1133835"/>
              <a:ext cx="2294196" cy="2107169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85" name="직사각형 1484">
              <a:extLst>
                <a:ext uri="{FF2B5EF4-FFF2-40B4-BE49-F238E27FC236}">
                  <a16:creationId xmlns:a16="http://schemas.microsoft.com/office/drawing/2014/main" id="{6CB54294-E6C2-A1A7-EF39-BAB385AFD43A}"/>
                </a:ext>
              </a:extLst>
            </p:cNvPr>
            <p:cNvSpPr/>
            <p:nvPr/>
          </p:nvSpPr>
          <p:spPr>
            <a:xfrm>
              <a:off x="5727310" y="956793"/>
              <a:ext cx="133059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다키 M Title" pitchFamily="2" charset="-127"/>
                  <a:ea typeface="다키 M Title" pitchFamily="2" charset="-127"/>
                </a:rPr>
                <a:t>-node02</a:t>
              </a:r>
              <a:endParaRPr lang="ko-KR" altLang="en-US" sz="1200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486" name="사각형: 둥근 모서리 1485">
              <a:extLst>
                <a:ext uri="{FF2B5EF4-FFF2-40B4-BE49-F238E27FC236}">
                  <a16:creationId xmlns:a16="http://schemas.microsoft.com/office/drawing/2014/main" id="{3C58DFDB-A3FF-5E8B-7C11-C8534B35784D}"/>
                </a:ext>
              </a:extLst>
            </p:cNvPr>
            <p:cNvSpPr/>
            <p:nvPr/>
          </p:nvSpPr>
          <p:spPr>
            <a:xfrm>
              <a:off x="5222994" y="1209674"/>
              <a:ext cx="2157975" cy="1971317"/>
            </a:xfrm>
            <a:prstGeom prst="roundRect">
              <a:avLst>
                <a:gd name="adj" fmla="val 1252"/>
              </a:avLst>
            </a:prstGeom>
            <a:solidFill>
              <a:srgbClr val="ECECEB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87" name="사각형: 둥근 모서리 1486">
              <a:extLst>
                <a:ext uri="{FF2B5EF4-FFF2-40B4-BE49-F238E27FC236}">
                  <a16:creationId xmlns:a16="http://schemas.microsoft.com/office/drawing/2014/main" id="{12BFC0C7-EDA6-CFA7-E6D8-2962B1A02F73}"/>
                </a:ext>
              </a:extLst>
            </p:cNvPr>
            <p:cNvSpPr/>
            <p:nvPr/>
          </p:nvSpPr>
          <p:spPr>
            <a:xfrm>
              <a:off x="5296015" y="2891165"/>
              <a:ext cx="2024597" cy="244825"/>
            </a:xfrm>
            <a:prstGeom prst="roundRect">
              <a:avLst>
                <a:gd name="adj" fmla="val 1252"/>
              </a:avLst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Docker Daemon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88" name="사각형: 둥근 모서리 1487">
              <a:extLst>
                <a:ext uri="{FF2B5EF4-FFF2-40B4-BE49-F238E27FC236}">
                  <a16:creationId xmlns:a16="http://schemas.microsoft.com/office/drawing/2014/main" id="{09917BA8-669C-4BC3-5ABC-ECC52B906F27}"/>
                </a:ext>
              </a:extLst>
            </p:cNvPr>
            <p:cNvSpPr/>
            <p:nvPr/>
          </p:nvSpPr>
          <p:spPr>
            <a:xfrm>
              <a:off x="5303076" y="1269874"/>
              <a:ext cx="2024597" cy="1614366"/>
            </a:xfrm>
            <a:prstGeom prst="roundRect">
              <a:avLst>
                <a:gd name="adj" fmla="val 1252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AB8D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89" name="사각형: 둥근 모서리 1488">
              <a:extLst>
                <a:ext uri="{FF2B5EF4-FFF2-40B4-BE49-F238E27FC236}">
                  <a16:creationId xmlns:a16="http://schemas.microsoft.com/office/drawing/2014/main" id="{0D5D639B-E064-21F3-4E97-ECE99746C91D}"/>
                </a:ext>
              </a:extLst>
            </p:cNvPr>
            <p:cNvSpPr/>
            <p:nvPr/>
          </p:nvSpPr>
          <p:spPr>
            <a:xfrm>
              <a:off x="5355418" y="1336721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</a:p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fgnif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90" name="사각형: 둥근 모서리 1489">
              <a:extLst>
                <a:ext uri="{FF2B5EF4-FFF2-40B4-BE49-F238E27FC236}">
                  <a16:creationId xmlns:a16="http://schemas.microsoft.com/office/drawing/2014/main" id="{EBB4E995-3E64-CB70-41BF-7C27AD43CDA4}"/>
                </a:ext>
              </a:extLst>
            </p:cNvPr>
            <p:cNvSpPr/>
            <p:nvPr/>
          </p:nvSpPr>
          <p:spPr>
            <a:xfrm>
              <a:off x="5353623" y="1601494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biz-service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91" name="사각형: 둥근 모서리 1490">
              <a:extLst>
                <a:ext uri="{FF2B5EF4-FFF2-40B4-BE49-F238E27FC236}">
                  <a16:creationId xmlns:a16="http://schemas.microsoft.com/office/drawing/2014/main" id="{85A98ABC-FE4C-325F-8C28-B4562F44477F}"/>
                </a:ext>
              </a:extLst>
            </p:cNvPr>
            <p:cNvSpPr/>
            <p:nvPr/>
          </p:nvSpPr>
          <p:spPr>
            <a:xfrm>
              <a:off x="5337784" y="1857810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ess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92" name="사각형: 둥근 모서리 1491">
              <a:extLst>
                <a:ext uri="{FF2B5EF4-FFF2-40B4-BE49-F238E27FC236}">
                  <a16:creationId xmlns:a16="http://schemas.microsoft.com/office/drawing/2014/main" id="{8E9559DC-AB76-D0EE-873E-9F791DD3248B}"/>
                </a:ext>
              </a:extLst>
            </p:cNvPr>
            <p:cNvSpPr/>
            <p:nvPr/>
          </p:nvSpPr>
          <p:spPr>
            <a:xfrm>
              <a:off x="6334534" y="1331743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attendance-service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93" name="사각형: 둥근 모서리 1492">
              <a:extLst>
                <a:ext uri="{FF2B5EF4-FFF2-40B4-BE49-F238E27FC236}">
                  <a16:creationId xmlns:a16="http://schemas.microsoft.com/office/drawing/2014/main" id="{5027EC95-6328-0361-3ACB-BED28036F9F9}"/>
                </a:ext>
              </a:extLst>
            </p:cNvPr>
            <p:cNvSpPr/>
            <p:nvPr/>
          </p:nvSpPr>
          <p:spPr>
            <a:xfrm>
              <a:off x="5340920" y="211849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dmcif</a:t>
              </a:r>
              <a:endParaRPr lang="en-US" altLang="ko-KR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doapi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1494" name="사각형: 둥근 모서리 1493">
              <a:extLst>
                <a:ext uri="{FF2B5EF4-FFF2-40B4-BE49-F238E27FC236}">
                  <a16:creationId xmlns:a16="http://schemas.microsoft.com/office/drawing/2014/main" id="{E9306460-4AD0-2C55-8D97-99BB22EBD8B4}"/>
                </a:ext>
              </a:extLst>
            </p:cNvPr>
            <p:cNvSpPr/>
            <p:nvPr/>
          </p:nvSpPr>
          <p:spPr>
            <a:xfrm>
              <a:off x="6332741" y="2360511"/>
              <a:ext cx="930972" cy="226798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latin typeface="다키 L" pitchFamily="2" charset="-127"/>
                  <a:ea typeface="다키 L" pitchFamily="2" charset="-127"/>
                </a:rPr>
                <a:t>           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                                  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rabbitmq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495" name="그룹 1494">
              <a:extLst>
                <a:ext uri="{FF2B5EF4-FFF2-40B4-BE49-F238E27FC236}">
                  <a16:creationId xmlns:a16="http://schemas.microsoft.com/office/drawing/2014/main" id="{8F02EF45-BDFA-5313-C9AC-FA80F5B8DAD9}"/>
                </a:ext>
              </a:extLst>
            </p:cNvPr>
            <p:cNvGrpSpPr/>
            <p:nvPr/>
          </p:nvGrpSpPr>
          <p:grpSpPr>
            <a:xfrm>
              <a:off x="5289992" y="1277565"/>
              <a:ext cx="320233" cy="255038"/>
              <a:chOff x="5289992" y="1439490"/>
              <a:chExt cx="400982" cy="284152"/>
            </a:xfrm>
          </p:grpSpPr>
          <p:pic>
            <p:nvPicPr>
              <p:cNvPr id="1525" name="그림 1524">
                <a:extLst>
                  <a:ext uri="{FF2B5EF4-FFF2-40B4-BE49-F238E27FC236}">
                    <a16:creationId xmlns:a16="http://schemas.microsoft.com/office/drawing/2014/main" id="{4641A405-FFA9-7235-1861-7234305961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526" name="그림 1525">
                <a:extLst>
                  <a:ext uri="{FF2B5EF4-FFF2-40B4-BE49-F238E27FC236}">
                    <a16:creationId xmlns:a16="http://schemas.microsoft.com/office/drawing/2014/main" id="{1C022C7D-B7E3-F73E-6DCE-429FA7A73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496" name="그룹 1495">
              <a:extLst>
                <a:ext uri="{FF2B5EF4-FFF2-40B4-BE49-F238E27FC236}">
                  <a16:creationId xmlns:a16="http://schemas.microsoft.com/office/drawing/2014/main" id="{7834699A-4E52-8D23-D415-32D368A98028}"/>
                </a:ext>
              </a:extLst>
            </p:cNvPr>
            <p:cNvGrpSpPr/>
            <p:nvPr/>
          </p:nvGrpSpPr>
          <p:grpSpPr>
            <a:xfrm>
              <a:off x="5300580" y="1563191"/>
              <a:ext cx="320233" cy="255038"/>
              <a:chOff x="5289992" y="1439490"/>
              <a:chExt cx="400982" cy="284152"/>
            </a:xfrm>
          </p:grpSpPr>
          <p:pic>
            <p:nvPicPr>
              <p:cNvPr id="1523" name="그림 1522">
                <a:extLst>
                  <a:ext uri="{FF2B5EF4-FFF2-40B4-BE49-F238E27FC236}">
                    <a16:creationId xmlns:a16="http://schemas.microsoft.com/office/drawing/2014/main" id="{9EC50969-B5B9-1BEE-2574-F82E7ADAEC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524" name="그림 1523">
                <a:extLst>
                  <a:ext uri="{FF2B5EF4-FFF2-40B4-BE49-F238E27FC236}">
                    <a16:creationId xmlns:a16="http://schemas.microsoft.com/office/drawing/2014/main" id="{6E24BEAB-E27B-C279-AA5D-BF7606D9D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497" name="그룹 1496">
              <a:extLst>
                <a:ext uri="{FF2B5EF4-FFF2-40B4-BE49-F238E27FC236}">
                  <a16:creationId xmlns:a16="http://schemas.microsoft.com/office/drawing/2014/main" id="{D1A33DEC-A3F8-1D0D-5CF3-4D1854088869}"/>
                </a:ext>
              </a:extLst>
            </p:cNvPr>
            <p:cNvGrpSpPr/>
            <p:nvPr/>
          </p:nvGrpSpPr>
          <p:grpSpPr>
            <a:xfrm>
              <a:off x="5281530" y="1811637"/>
              <a:ext cx="320233" cy="255038"/>
              <a:chOff x="5289992" y="1439490"/>
              <a:chExt cx="400982" cy="284152"/>
            </a:xfrm>
          </p:grpSpPr>
          <p:pic>
            <p:nvPicPr>
              <p:cNvPr id="1521" name="그림 1520">
                <a:extLst>
                  <a:ext uri="{FF2B5EF4-FFF2-40B4-BE49-F238E27FC236}">
                    <a16:creationId xmlns:a16="http://schemas.microsoft.com/office/drawing/2014/main" id="{509D30E2-31CD-74A8-21BA-0D0608C719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522" name="그림 1521">
                <a:extLst>
                  <a:ext uri="{FF2B5EF4-FFF2-40B4-BE49-F238E27FC236}">
                    <a16:creationId xmlns:a16="http://schemas.microsoft.com/office/drawing/2014/main" id="{08D56F6A-D5B1-F753-A1E5-0023D7F32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grpSp>
          <p:nvGrpSpPr>
            <p:cNvPr id="1498" name="그룹 1497">
              <a:extLst>
                <a:ext uri="{FF2B5EF4-FFF2-40B4-BE49-F238E27FC236}">
                  <a16:creationId xmlns:a16="http://schemas.microsoft.com/office/drawing/2014/main" id="{046DBBEA-8BBD-75FE-CA2F-5904D6C58E4C}"/>
                </a:ext>
              </a:extLst>
            </p:cNvPr>
            <p:cNvGrpSpPr/>
            <p:nvPr/>
          </p:nvGrpSpPr>
          <p:grpSpPr>
            <a:xfrm>
              <a:off x="5291055" y="2058933"/>
              <a:ext cx="320233" cy="255038"/>
              <a:chOff x="5289992" y="1439490"/>
              <a:chExt cx="400982" cy="284152"/>
            </a:xfrm>
          </p:grpSpPr>
          <p:pic>
            <p:nvPicPr>
              <p:cNvPr id="1519" name="그림 1518">
                <a:extLst>
                  <a:ext uri="{FF2B5EF4-FFF2-40B4-BE49-F238E27FC236}">
                    <a16:creationId xmlns:a16="http://schemas.microsoft.com/office/drawing/2014/main" id="{D83048ED-711C-CF19-C241-6DCF266BA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520" name="그림 1519">
                <a:extLst>
                  <a:ext uri="{FF2B5EF4-FFF2-40B4-BE49-F238E27FC236}">
                    <a16:creationId xmlns:a16="http://schemas.microsoft.com/office/drawing/2014/main" id="{DB999C3D-F3AE-BAFF-1278-845A811E76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499" name="사각형: 둥근 모서리 1498">
              <a:extLst>
                <a:ext uri="{FF2B5EF4-FFF2-40B4-BE49-F238E27FC236}">
                  <a16:creationId xmlns:a16="http://schemas.microsoft.com/office/drawing/2014/main" id="{D28A4505-CD00-CED4-5F55-FCE722867ECF}"/>
                </a:ext>
              </a:extLst>
            </p:cNvPr>
            <p:cNvSpPr/>
            <p:nvPr/>
          </p:nvSpPr>
          <p:spPr>
            <a:xfrm>
              <a:off x="5340920" y="2374312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US" altLang="ko-KR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sys-service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500" name="그룹 1499">
              <a:extLst>
                <a:ext uri="{FF2B5EF4-FFF2-40B4-BE49-F238E27FC236}">
                  <a16:creationId xmlns:a16="http://schemas.microsoft.com/office/drawing/2014/main" id="{2071A163-73E1-6B2F-8970-D64752229013}"/>
                </a:ext>
              </a:extLst>
            </p:cNvPr>
            <p:cNvGrpSpPr/>
            <p:nvPr/>
          </p:nvGrpSpPr>
          <p:grpSpPr>
            <a:xfrm>
              <a:off x="5291055" y="2314753"/>
              <a:ext cx="320233" cy="255038"/>
              <a:chOff x="5289992" y="1439490"/>
              <a:chExt cx="400982" cy="284152"/>
            </a:xfrm>
          </p:grpSpPr>
          <p:pic>
            <p:nvPicPr>
              <p:cNvPr id="1517" name="그림 1516">
                <a:extLst>
                  <a:ext uri="{FF2B5EF4-FFF2-40B4-BE49-F238E27FC236}">
                    <a16:creationId xmlns:a16="http://schemas.microsoft.com/office/drawing/2014/main" id="{5497A92C-49D1-B148-FDEE-2BD3397CB2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518" name="그림 1517">
                <a:extLst>
                  <a:ext uri="{FF2B5EF4-FFF2-40B4-BE49-F238E27FC236}">
                    <a16:creationId xmlns:a16="http://schemas.microsoft.com/office/drawing/2014/main" id="{5028D02F-FC07-01C5-31D4-C85ED5BB04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501" name="사각형: 둥근 모서리 1500">
              <a:extLst>
                <a:ext uri="{FF2B5EF4-FFF2-40B4-BE49-F238E27FC236}">
                  <a16:creationId xmlns:a16="http://schemas.microsoft.com/office/drawing/2014/main" id="{75AA989A-F4A7-8515-300B-7F108A1EDC29}"/>
                </a:ext>
              </a:extLst>
            </p:cNvPr>
            <p:cNvSpPr/>
            <p:nvPr/>
          </p:nvSpPr>
          <p:spPr>
            <a:xfrm>
              <a:off x="5339268" y="2643021"/>
              <a:ext cx="936000" cy="216000"/>
            </a:xfrm>
            <a:prstGeom prst="roundRect">
              <a:avLst>
                <a:gd name="adj" fmla="val 125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US" altLang="ko-KR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schedule-service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grpSp>
          <p:nvGrpSpPr>
            <p:cNvPr id="1502" name="그룹 1501">
              <a:extLst>
                <a:ext uri="{FF2B5EF4-FFF2-40B4-BE49-F238E27FC236}">
                  <a16:creationId xmlns:a16="http://schemas.microsoft.com/office/drawing/2014/main" id="{BA2F7202-7034-1497-A479-9537D8BC5884}"/>
                </a:ext>
              </a:extLst>
            </p:cNvPr>
            <p:cNvGrpSpPr/>
            <p:nvPr/>
          </p:nvGrpSpPr>
          <p:grpSpPr>
            <a:xfrm>
              <a:off x="5289403" y="2583462"/>
              <a:ext cx="320233" cy="255038"/>
              <a:chOff x="5289992" y="1439490"/>
              <a:chExt cx="400982" cy="284152"/>
            </a:xfrm>
          </p:grpSpPr>
          <p:pic>
            <p:nvPicPr>
              <p:cNvPr id="1515" name="그림 1514">
                <a:extLst>
                  <a:ext uri="{FF2B5EF4-FFF2-40B4-BE49-F238E27FC236}">
                    <a16:creationId xmlns:a16="http://schemas.microsoft.com/office/drawing/2014/main" id="{0A7D5F04-F813-DD0F-97C0-439CB26A5F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9992" y="1439490"/>
                <a:ext cx="284152" cy="284152"/>
              </a:xfrm>
              <a:prstGeom prst="rect">
                <a:avLst/>
              </a:prstGeom>
            </p:spPr>
          </p:pic>
          <p:pic>
            <p:nvPicPr>
              <p:cNvPr id="1516" name="그림 1515">
                <a:extLst>
                  <a:ext uri="{FF2B5EF4-FFF2-40B4-BE49-F238E27FC236}">
                    <a16:creationId xmlns:a16="http://schemas.microsoft.com/office/drawing/2014/main" id="{2879567F-CFB8-77D0-A134-A700D6BF5A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4698" y="1467522"/>
                <a:ext cx="236276" cy="236276"/>
              </a:xfrm>
              <a:prstGeom prst="rect">
                <a:avLst/>
              </a:prstGeom>
            </p:spPr>
          </p:pic>
        </p:grpSp>
        <p:sp>
          <p:nvSpPr>
            <p:cNvPr id="1503" name="사각형: 둥근 모서리 1502">
              <a:extLst>
                <a:ext uri="{FF2B5EF4-FFF2-40B4-BE49-F238E27FC236}">
                  <a16:creationId xmlns:a16="http://schemas.microsoft.com/office/drawing/2014/main" id="{3BCF8593-846F-5EB0-8169-F9704D454A29}"/>
                </a:ext>
              </a:extLst>
            </p:cNvPr>
            <p:cNvSpPr/>
            <p:nvPr/>
          </p:nvSpPr>
          <p:spPr>
            <a:xfrm>
              <a:off x="6332740" y="2637034"/>
              <a:ext cx="668651" cy="234205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</a:t>
              </a:r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                          </a:t>
              </a:r>
              <a:r>
                <a:rPr lang="en-US" altLang="ko-KR" sz="7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504" name="그림 1503">
              <a:extLst>
                <a:ext uri="{FF2B5EF4-FFF2-40B4-BE49-F238E27FC236}">
                  <a16:creationId xmlns:a16="http://schemas.microsoft.com/office/drawing/2014/main" id="{DFE99ADF-7768-A1EA-62C2-2AF5B445D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1690" y="2358688"/>
              <a:ext cx="206788" cy="219947"/>
            </a:xfrm>
            <a:prstGeom prst="rect">
              <a:avLst/>
            </a:prstGeom>
          </p:spPr>
        </p:pic>
        <p:pic>
          <p:nvPicPr>
            <p:cNvPr id="1505" name="Picture 2" descr="Redis Cluster: Should I go or should i stay?">
              <a:extLst>
                <a:ext uri="{FF2B5EF4-FFF2-40B4-BE49-F238E27FC236}">
                  <a16:creationId xmlns:a16="http://schemas.microsoft.com/office/drawing/2014/main" id="{B2A18FDE-0ACB-B699-C989-1071CF674D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274" y="2657771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6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4B810476-3D85-33F7-69A9-222DD9EE5C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415" y="1342601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07" name="사각형: 둥근 모서리 1506">
              <a:extLst>
                <a:ext uri="{FF2B5EF4-FFF2-40B4-BE49-F238E27FC236}">
                  <a16:creationId xmlns:a16="http://schemas.microsoft.com/office/drawing/2014/main" id="{C91351D0-9153-AC3B-4CDC-80639E6B7568}"/>
                </a:ext>
              </a:extLst>
            </p:cNvPr>
            <p:cNvSpPr/>
            <p:nvPr/>
          </p:nvSpPr>
          <p:spPr>
            <a:xfrm>
              <a:off x="6336308" y="1596855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vacation-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508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7E77F3CC-D6D5-2542-5B89-0FC463030C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8189" y="1607713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09" name="사각형: 둥근 모서리 1508">
              <a:extLst>
                <a:ext uri="{FF2B5EF4-FFF2-40B4-BE49-F238E27FC236}">
                  <a16:creationId xmlns:a16="http://schemas.microsoft.com/office/drawing/2014/main" id="{DDA0B65C-FD92-600B-C906-06BB3CC770E3}"/>
                </a:ext>
              </a:extLst>
            </p:cNvPr>
            <p:cNvSpPr/>
            <p:nvPr/>
          </p:nvSpPr>
          <p:spPr>
            <a:xfrm>
              <a:off x="6334775" y="1861887"/>
              <a:ext cx="930972" cy="219051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contract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510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2358465F-828D-9B2D-D588-3D4D837D75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656" y="1872745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11" name="사각형: 둥근 모서리 1510">
              <a:extLst>
                <a:ext uri="{FF2B5EF4-FFF2-40B4-BE49-F238E27FC236}">
                  <a16:creationId xmlns:a16="http://schemas.microsoft.com/office/drawing/2014/main" id="{9FC9DE79-A082-320F-1123-756EC231C545}"/>
                </a:ext>
              </a:extLst>
            </p:cNvPr>
            <p:cNvSpPr/>
            <p:nvPr/>
          </p:nvSpPr>
          <p:spPr>
            <a:xfrm>
              <a:off x="6334775" y="2119063"/>
              <a:ext cx="930972" cy="212290"/>
            </a:xfrm>
            <a:prstGeom prst="roundRect">
              <a:avLst>
                <a:gd name="adj" fmla="val 12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  education-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service</a:t>
              </a:r>
              <a:endPara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512" name="Picture 14" descr="How to Deploy a Spring Boot WAR to Tomcat - Hire Amir">
              <a:extLst>
                <a:ext uri="{FF2B5EF4-FFF2-40B4-BE49-F238E27FC236}">
                  <a16:creationId xmlns:a16="http://schemas.microsoft.com/office/drawing/2014/main" id="{E801E74B-A0F3-971A-C22C-D9B7CAC268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656" y="2129920"/>
              <a:ext cx="263402" cy="172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13" name="사각형: 둥근 모서리 1512">
              <a:extLst>
                <a:ext uri="{FF2B5EF4-FFF2-40B4-BE49-F238E27FC236}">
                  <a16:creationId xmlns:a16="http://schemas.microsoft.com/office/drawing/2014/main" id="{EFB0090E-295E-65C0-0862-1FB2870F058A}"/>
                </a:ext>
              </a:extLst>
            </p:cNvPr>
            <p:cNvSpPr/>
            <p:nvPr/>
          </p:nvSpPr>
          <p:spPr>
            <a:xfrm>
              <a:off x="6855928" y="2638533"/>
              <a:ext cx="403944" cy="234205"/>
            </a:xfrm>
            <a:prstGeom prst="roundRect">
              <a:avLst>
                <a:gd name="adj" fmla="val 125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ko-KR" sz="600" dirty="0" err="1">
                  <a:solidFill>
                    <a:schemeClr val="tx1"/>
                  </a:solidFill>
                  <a:latin typeface="다키 L" pitchFamily="2" charset="-127"/>
                  <a:ea typeface="다키 L" pitchFamily="2" charset="-127"/>
                </a:rPr>
                <a:t>redis</a:t>
              </a:r>
              <a:endParaRPr lang="ko-KR" altLang="en-US" sz="6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1514" name="Picture 2" descr="Redis Cluster: Should I go or should i stay?">
              <a:extLst>
                <a:ext uri="{FF2B5EF4-FFF2-40B4-BE49-F238E27FC236}">
                  <a16:creationId xmlns:a16="http://schemas.microsoft.com/office/drawing/2014/main" id="{3B63619C-A757-A0B3-754F-5710BCE963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0461" y="2659270"/>
              <a:ext cx="204618" cy="18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29" name="Picture 2" descr="Deep dive – Azure Load Balancer | Marius Sandbu">
            <a:extLst>
              <a:ext uri="{FF2B5EF4-FFF2-40B4-BE49-F238E27FC236}">
                <a16:creationId xmlns:a16="http://schemas.microsoft.com/office/drawing/2014/main" id="{72F37ED5-87EA-FAA9-B77C-BEA0A857C5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7789438" y="4301115"/>
            <a:ext cx="240668" cy="3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8" name="연결선: 꺾임 1537">
            <a:extLst>
              <a:ext uri="{FF2B5EF4-FFF2-40B4-BE49-F238E27FC236}">
                <a16:creationId xmlns:a16="http://schemas.microsoft.com/office/drawing/2014/main" id="{07B6C14A-D34B-20AE-7B2E-D1F276A38F54}"/>
              </a:ext>
            </a:extLst>
          </p:cNvPr>
          <p:cNvCxnSpPr>
            <a:cxnSpLocks/>
            <a:stCxn id="1529" idx="0"/>
          </p:cNvCxnSpPr>
          <p:nvPr/>
        </p:nvCxnSpPr>
        <p:spPr>
          <a:xfrm rot="16200000" flipV="1">
            <a:off x="6419107" y="2810449"/>
            <a:ext cx="2492133" cy="489199"/>
          </a:xfrm>
          <a:prstGeom prst="bentConnector3">
            <a:avLst>
              <a:gd name="adj1" fmla="val 9968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연결선: 구부러짐 1541">
            <a:extLst>
              <a:ext uri="{FF2B5EF4-FFF2-40B4-BE49-F238E27FC236}">
                <a16:creationId xmlns:a16="http://schemas.microsoft.com/office/drawing/2014/main" id="{76E494B8-1CF9-D8D3-04A5-D5B0C166A2D6}"/>
              </a:ext>
            </a:extLst>
          </p:cNvPr>
          <p:cNvCxnSpPr>
            <a:cxnSpLocks/>
            <a:stCxn id="1256" idx="3"/>
            <a:endCxn id="51" idx="1"/>
          </p:cNvCxnSpPr>
          <p:nvPr/>
        </p:nvCxnSpPr>
        <p:spPr>
          <a:xfrm>
            <a:off x="7441056" y="2187420"/>
            <a:ext cx="340494" cy="46429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4" name="연결선: 구부러짐 1543">
            <a:extLst>
              <a:ext uri="{FF2B5EF4-FFF2-40B4-BE49-F238E27FC236}">
                <a16:creationId xmlns:a16="http://schemas.microsoft.com/office/drawing/2014/main" id="{EC486639-0A12-A263-BB34-F2D6E4A2E681}"/>
              </a:ext>
            </a:extLst>
          </p:cNvPr>
          <p:cNvCxnSpPr>
            <a:cxnSpLocks/>
            <a:stCxn id="1484" idx="3"/>
            <a:endCxn id="51" idx="1"/>
          </p:cNvCxnSpPr>
          <p:nvPr/>
        </p:nvCxnSpPr>
        <p:spPr>
          <a:xfrm flipV="1">
            <a:off x="7432457" y="2651717"/>
            <a:ext cx="349093" cy="2061221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2" name="연결선: 꺾임 1551">
            <a:extLst>
              <a:ext uri="{FF2B5EF4-FFF2-40B4-BE49-F238E27FC236}">
                <a16:creationId xmlns:a16="http://schemas.microsoft.com/office/drawing/2014/main" id="{5F47D875-E8AA-B574-B5B8-34426B389B7C}"/>
              </a:ext>
            </a:extLst>
          </p:cNvPr>
          <p:cNvCxnSpPr>
            <a:cxnSpLocks/>
            <a:endCxn id="1529" idx="2"/>
          </p:cNvCxnSpPr>
          <p:nvPr/>
        </p:nvCxnSpPr>
        <p:spPr>
          <a:xfrm flipV="1">
            <a:off x="7402705" y="4606456"/>
            <a:ext cx="507067" cy="42035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4" name="TextBox 1553">
            <a:extLst>
              <a:ext uri="{FF2B5EF4-FFF2-40B4-BE49-F238E27FC236}">
                <a16:creationId xmlns:a16="http://schemas.microsoft.com/office/drawing/2014/main" id="{5C0D15EE-6D18-68BA-F60E-630251EA8B93}"/>
              </a:ext>
            </a:extLst>
          </p:cNvPr>
          <p:cNvSpPr txBox="1"/>
          <p:nvPr/>
        </p:nvSpPr>
        <p:spPr>
          <a:xfrm>
            <a:off x="7531709" y="4646577"/>
            <a:ext cx="746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maxScale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06363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1CF0B-D8AF-4158-9540-704AE216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</a:t>
            </a:r>
            <a:r>
              <a:rPr lang="ko-KR" altLang="en-US" dirty="0" err="1"/>
              <a:t>스텍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EC22D-B309-4B4C-9EE9-CB910CC8B297}"/>
              </a:ext>
            </a:extLst>
          </p:cNvPr>
          <p:cNvSpPr txBox="1"/>
          <p:nvPr/>
        </p:nvSpPr>
        <p:spPr>
          <a:xfrm>
            <a:off x="328522" y="611659"/>
            <a:ext cx="9031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기술 </a:t>
            </a:r>
            <a:r>
              <a:rPr lang="ko-KR" altLang="en-US" sz="1600" dirty="0" err="1"/>
              <a:t>스텍</a:t>
            </a:r>
            <a:endParaRPr lang="ko-KR" altLang="en-US" sz="16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FF2292E-BFDE-C58F-C178-CC8494239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62916"/>
              </p:ext>
            </p:extLst>
          </p:nvPr>
        </p:nvGraphicFramePr>
        <p:xfrm>
          <a:off x="208984" y="1016433"/>
          <a:ext cx="9401742" cy="53176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3256">
                  <a:extLst>
                    <a:ext uri="{9D8B030D-6E8A-4147-A177-3AD203B41FA5}">
                      <a16:colId xmlns:a16="http://schemas.microsoft.com/office/drawing/2014/main" val="4059158278"/>
                    </a:ext>
                  </a:extLst>
                </a:gridCol>
                <a:gridCol w="874148">
                  <a:extLst>
                    <a:ext uri="{9D8B030D-6E8A-4147-A177-3AD203B41FA5}">
                      <a16:colId xmlns:a16="http://schemas.microsoft.com/office/drawing/2014/main" val="3430699750"/>
                    </a:ext>
                  </a:extLst>
                </a:gridCol>
                <a:gridCol w="2068862">
                  <a:extLst>
                    <a:ext uri="{9D8B030D-6E8A-4147-A177-3AD203B41FA5}">
                      <a16:colId xmlns:a16="http://schemas.microsoft.com/office/drawing/2014/main" val="3237271705"/>
                    </a:ext>
                  </a:extLst>
                </a:gridCol>
                <a:gridCol w="2952840">
                  <a:extLst>
                    <a:ext uri="{9D8B030D-6E8A-4147-A177-3AD203B41FA5}">
                      <a16:colId xmlns:a16="http://schemas.microsoft.com/office/drawing/2014/main" val="531525496"/>
                    </a:ext>
                  </a:extLst>
                </a:gridCol>
                <a:gridCol w="1219110">
                  <a:extLst>
                    <a:ext uri="{9D8B030D-6E8A-4147-A177-3AD203B41FA5}">
                      <a16:colId xmlns:a16="http://schemas.microsoft.com/office/drawing/2014/main" val="858762683"/>
                    </a:ext>
                  </a:extLst>
                </a:gridCol>
                <a:gridCol w="1533526">
                  <a:extLst>
                    <a:ext uri="{9D8B030D-6E8A-4147-A177-3AD203B41FA5}">
                      <a16:colId xmlns:a16="http://schemas.microsoft.com/office/drawing/2014/main" val="2357802600"/>
                    </a:ext>
                  </a:extLst>
                </a:gridCol>
              </a:tblGrid>
              <a:tr h="15697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>
                          <a:effectLst/>
                        </a:rPr>
                        <a:t>구분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&quot;Apple SD Gothic Neo&quot;"/>
                      </a:endParaRPr>
                    </a:p>
                  </a:txBody>
                  <a:tcPr marL="7282" marR="7282" marT="72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>
                          <a:effectLst/>
                        </a:rPr>
                        <a:t>이름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&quot;Apple SD Gothic Neo&quot;"/>
                      </a:endParaRPr>
                    </a:p>
                  </a:txBody>
                  <a:tcPr marL="7282" marR="7282" marT="72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>
                          <a:effectLst/>
                        </a:rPr>
                        <a:t>홈페이지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&quot;Apple SD Gothic Neo&quot;"/>
                      </a:endParaRPr>
                    </a:p>
                  </a:txBody>
                  <a:tcPr marL="7282" marR="7282" marT="72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&quot;Apple SD Gothic Neo&quot;"/>
                      </a:endParaRPr>
                    </a:p>
                  </a:txBody>
                  <a:tcPr marL="7282" marR="7282" marT="72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>
                          <a:effectLst/>
                        </a:rPr>
                        <a:t>사용버전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&quot;Apple SD Gothic Neo&quot;"/>
                      </a:endParaRPr>
                    </a:p>
                  </a:txBody>
                  <a:tcPr marL="7282" marR="7282" marT="72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>
                          <a:effectLst/>
                        </a:rPr>
                        <a:t>라이선스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&quot;Apple SD Gothic Neo&quot;"/>
                      </a:endParaRPr>
                    </a:p>
                  </a:txBody>
                  <a:tcPr marL="7282" marR="7282" marT="7282" marB="0" anchor="b"/>
                </a:tc>
                <a:extLst>
                  <a:ext uri="{0D108BD9-81ED-4DB2-BD59-A6C34878D82A}">
                    <a16:rowId xmlns:a16="http://schemas.microsoft.com/office/drawing/2014/main" val="2626496926"/>
                  </a:ext>
                </a:extLst>
              </a:tr>
              <a:tr h="150399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infrastructure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Centos7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2"/>
                        </a:rPr>
                        <a:t>https://www.centos.org/download/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Server OS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7.9.2009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무료 배포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4014990952"/>
                  </a:ext>
                </a:extLst>
              </a:tr>
              <a:tr h="156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Docker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3"/>
                        </a:rPr>
                        <a:t>https://www.docker.com/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컨테이너로 실행하고 관리하는 오픈 소스 플랫폼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20.10.6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3272853633"/>
                  </a:ext>
                </a:extLst>
              </a:tr>
              <a:tr h="156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portainer.io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4"/>
                        </a:rPr>
                        <a:t>https://www.portainer.io/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Docker </a:t>
                      </a:r>
                      <a:r>
                        <a:rPr lang="ko-KR" altLang="en-US" sz="700" u="none" strike="noStrike">
                          <a:effectLst/>
                        </a:rPr>
                        <a:t>를 웹상에서 관리할 수 있게 도와주는 플랫폼 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2.9.1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Community Edition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3354485688"/>
                  </a:ext>
                </a:extLst>
              </a:tr>
              <a:tr h="268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Vault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5"/>
                        </a:rPr>
                        <a:t>https://www.vaultproject.io/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키 관리 시스템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HashiCorp Vault Open-source (OSS)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4230505443"/>
                  </a:ext>
                </a:extLst>
              </a:tr>
              <a:tr h="156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Harbor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6"/>
                        </a:rPr>
                        <a:t>https://goharbor.io/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Docker </a:t>
                      </a:r>
                      <a:r>
                        <a:rPr lang="ko-KR" altLang="en-US" sz="700" u="none" strike="noStrike">
                          <a:effectLst/>
                        </a:rPr>
                        <a:t>이미지를 저장할 수 있는 저장소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2.1.1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4115947471"/>
                  </a:ext>
                </a:extLst>
              </a:tr>
              <a:tr h="156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Nexus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7"/>
                        </a:rPr>
                        <a:t>https://help.sonatype.com/repomanager3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maven</a:t>
                      </a:r>
                      <a:r>
                        <a:rPr lang="ko-KR" altLang="en-US" sz="700" u="none" strike="noStrike">
                          <a:effectLst/>
                        </a:rPr>
                        <a:t>에서 사용하는 사설 저장소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3.28.1-01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OSS Nexus3( EPL)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485606275"/>
                  </a:ext>
                </a:extLst>
              </a:tr>
              <a:tr h="2680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Application Server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Tomcat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8"/>
                        </a:rPr>
                        <a:t>https://tomcat.apache.org/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Web Server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9.0.36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756630832"/>
                  </a:ext>
                </a:extLst>
              </a:tr>
              <a:tr h="1503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Database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Maria DB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9"/>
                        </a:rPr>
                        <a:t>https://mariadb.org/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RDS for Mariadb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10.5.4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GPL v2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487150165"/>
                  </a:ext>
                </a:extLst>
              </a:tr>
              <a:tr h="150399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Front-end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Component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Sencha ExtJs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0"/>
                        </a:rPr>
                        <a:t>https://www.sencha.com/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Client-Side </a:t>
                      </a:r>
                      <a:r>
                        <a:rPr lang="ko-KR" altLang="en-US" sz="700" u="none" strike="noStrike">
                          <a:effectLst/>
                        </a:rPr>
                        <a:t>기반의 </a:t>
                      </a:r>
                      <a:r>
                        <a:rPr lang="en-US" sz="700" u="none" strike="noStrike">
                          <a:effectLst/>
                        </a:rPr>
                        <a:t>JavaScript Framework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7.2.0.84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MIT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3936448812"/>
                  </a:ext>
                </a:extLst>
              </a:tr>
              <a:tr h="150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npm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1"/>
                        </a:rPr>
                        <a:t>https://nodejs.org/ko/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Node.js</a:t>
                      </a:r>
                      <a:r>
                        <a:rPr lang="ko-KR" altLang="en-US" sz="700" u="none" strike="noStrike">
                          <a:effectLst/>
                        </a:rPr>
                        <a:t>의 기본 패키지 관리자</a:t>
                      </a:r>
                      <a:endParaRPr lang="ko-KR" altLang="en-US" sz="700" b="0" i="0" u="none" strike="noStrike">
                        <a:solidFill>
                          <a:srgbClr val="4D515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Artistic License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150639683"/>
                  </a:ext>
                </a:extLst>
              </a:tr>
              <a:tr h="150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vue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2"/>
                        </a:rPr>
                        <a:t>https://kr.vuejs.org/v2/guide/index.html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클라이언트 프레임워크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2.6.11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MIT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656703992"/>
                  </a:ext>
                </a:extLst>
              </a:tr>
              <a:tr h="150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vue/cli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3"/>
                        </a:rPr>
                        <a:t>https://cli.vuejs.org/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Vue.js </a:t>
                      </a:r>
                      <a:r>
                        <a:rPr lang="ko-KR" altLang="en-US" sz="700" u="none" strike="noStrike">
                          <a:effectLst/>
                        </a:rPr>
                        <a:t>개발을 위한 표준 도구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MIT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3235958225"/>
                  </a:ext>
                </a:extLst>
              </a:tr>
              <a:tr h="150399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Server-side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SpringBoot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4"/>
                        </a:rPr>
                        <a:t>https://spring.io/projects/spring-boot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서버 프레임워크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2.3.1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3133451608"/>
                  </a:ext>
                </a:extLst>
              </a:tr>
              <a:tr h="150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Open JDK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5"/>
                        </a:rPr>
                        <a:t>https://openjdk.java.net/</a:t>
                      </a:r>
                      <a:endParaRPr lang="en-US" sz="700" b="0" i="0" u="sng" strike="noStrike">
                        <a:solidFill>
                          <a:srgbClr val="0B4CB4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자바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temurin-8-jdk-8.0.345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1112492560"/>
                  </a:ext>
                </a:extLst>
              </a:tr>
              <a:tr h="150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mybatis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6"/>
                        </a:rPr>
                        <a:t>https://mybatis.org/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ORM(Object relational Mapping)</a:t>
                      </a:r>
                      <a:r>
                        <a:rPr lang="ko-KR" altLang="en-US" sz="700" u="none" strike="noStrike">
                          <a:effectLst/>
                        </a:rPr>
                        <a:t>프레임워크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2.1.3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4145581706"/>
                  </a:ext>
                </a:extLst>
              </a:tr>
              <a:tr h="150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logback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7"/>
                        </a:rPr>
                        <a:t>https://logback.qos.ch/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 Logging Framework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1.2.8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 EPL v1.0 </a:t>
                      </a:r>
                      <a:r>
                        <a:rPr lang="ko-KR" altLang="en-US" sz="700" u="none" strike="noStrike">
                          <a:effectLst/>
                        </a:rPr>
                        <a:t>및 </a:t>
                      </a:r>
                      <a:r>
                        <a:rPr lang="en-US" sz="700" u="none" strike="noStrike">
                          <a:effectLst/>
                        </a:rPr>
                        <a:t>LGPL 2.1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766244347"/>
                  </a:ext>
                </a:extLst>
              </a:tr>
              <a:tr h="268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embedded undertow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4"/>
                        </a:rPr>
                        <a:t>https://spring.io/projects/spring-boot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SpringBoot </a:t>
                      </a:r>
                      <a:r>
                        <a:rPr lang="ko-KR" altLang="en-US" sz="700" u="none" strike="noStrike">
                          <a:effectLst/>
                        </a:rPr>
                        <a:t>내장 웹 애플리케이션 서버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2.3.7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338927607"/>
                  </a:ext>
                </a:extLst>
              </a:tr>
              <a:tr h="1503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cache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Redis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8"/>
                        </a:rPr>
                        <a:t>https://redis.io/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r>
                        <a:rPr lang="ko-KR" altLang="en-US" sz="700" u="none" strike="noStrike">
                          <a:effectLst/>
                        </a:rPr>
                        <a:t>차 캐시</a:t>
                      </a:r>
                      <a:r>
                        <a:rPr lang="en-US" altLang="ko-KR" sz="700" u="none" strike="noStrike">
                          <a:effectLst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</a:rPr>
                        <a:t>검색 </a:t>
                      </a:r>
                      <a:r>
                        <a:rPr lang="en-US" altLang="ko-KR" sz="700" u="none" strike="noStrike">
                          <a:effectLst/>
                        </a:rPr>
                        <a:t>database, </a:t>
                      </a:r>
                      <a:r>
                        <a:rPr lang="ko-KR" altLang="en-US" sz="700" u="none" strike="noStrike">
                          <a:effectLst/>
                        </a:rPr>
                        <a:t>큐 서버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6.0.8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BSD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952578767"/>
                  </a:ext>
                </a:extLst>
              </a:tr>
              <a:tr h="2680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Cloud Messaging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Firebase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19"/>
                        </a:rPr>
                        <a:t>https://firebase.google.com/?hl=ko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FCM, </a:t>
                      </a:r>
                      <a:r>
                        <a:rPr lang="ko-KR" altLang="en-US" sz="700" u="none" strike="noStrike">
                          <a:effectLst/>
                        </a:rPr>
                        <a:t>알림 메시지 전송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8.0.0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100048212"/>
                  </a:ext>
                </a:extLst>
              </a:tr>
              <a:tr h="1503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message broker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RabbitMQ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>
                          <a:effectLst/>
                          <a:hlinkClick r:id="rId20"/>
                        </a:rPr>
                        <a:t>https://www.rabbitmq.com/</a:t>
                      </a:r>
                      <a:endParaRPr lang="en-US" sz="700" b="0" i="0" u="sng" strike="noStrike">
                        <a:solidFill>
                          <a:srgbClr val="1155CC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큐 서버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3.8.9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Mozilla Public License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1918102008"/>
                  </a:ext>
                </a:extLst>
              </a:tr>
              <a:tr h="26807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CI/CD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Jenkins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21"/>
                        </a:rPr>
                        <a:t>https://www.jenkins.io/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>
                          <a:effectLst/>
                        </a:rPr>
                        <a:t>소프트웨어 개발 시 지속적으로 통합 서비스를 제공하는 플랫폼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2.361.2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MIT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83315313"/>
                  </a:ext>
                </a:extLst>
              </a:tr>
              <a:tr h="268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Gitlab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22"/>
                        </a:rPr>
                        <a:t>https://about.gitlab.com/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u="none" strike="noStrike">
                          <a:effectLst/>
                        </a:rPr>
                        <a:t>Git</a:t>
                      </a:r>
                      <a:r>
                        <a:rPr lang="ko-KR" altLang="en-US" sz="700" u="none" strike="noStrike">
                          <a:effectLst/>
                        </a:rPr>
                        <a:t>의 원격 저장소와 코드 리뷰</a:t>
                      </a:r>
                      <a:r>
                        <a:rPr lang="en-US" altLang="ko-KR" sz="700" u="none" strike="noStrike">
                          <a:effectLst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</a:rPr>
                        <a:t>이슈 트래커 기능 등을 제공하는 플랫폼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13.3.5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Community Edition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1981372366"/>
                  </a:ext>
                </a:extLst>
              </a:tr>
              <a:tr h="397681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Monitoring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Pinpoint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23"/>
                        </a:rPr>
                        <a:t>https://github.com/pinpoint-apm/pinpoint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>
                          <a:effectLst/>
                        </a:rPr>
                        <a:t>대규모 분산 시스템의 성능을 분석하고 문제를 진단</a:t>
                      </a:r>
                      <a:r>
                        <a:rPr lang="en-US" altLang="ko-KR" sz="700" u="none" strike="noStrike">
                          <a:effectLst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</a:rPr>
                        <a:t>처리하는 플랫폼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2.2.2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Apache 2.0, </a:t>
                      </a:r>
                      <a:br>
                        <a:rPr lang="en-US" altLang="ko-KR" sz="700" u="none" strike="noStrike">
                          <a:effectLst/>
                        </a:rPr>
                      </a:br>
                      <a:r>
                        <a:rPr lang="ko-KR" altLang="en-US" sz="700" u="none" strike="noStrike">
                          <a:effectLst/>
                        </a:rPr>
                        <a:t>네이버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주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r>
                        <a:rPr lang="ko-KR" altLang="en-US" sz="700" u="none" strike="noStrike">
                          <a:effectLst/>
                        </a:rPr>
                        <a:t>와 </a:t>
                      </a:r>
                      <a:r>
                        <a:rPr lang="en-US" altLang="ko-KR" sz="700" u="none" strike="noStrike">
                          <a:effectLst/>
                        </a:rPr>
                        <a:t>GoJS</a:t>
                      </a:r>
                      <a:r>
                        <a:rPr lang="ko-KR" altLang="en-US" sz="700" u="none" strike="noStrike">
                          <a:effectLst/>
                        </a:rPr>
                        <a:t>의 라이선스 규정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3010261459"/>
                  </a:ext>
                </a:extLst>
              </a:tr>
              <a:tr h="268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Grafana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24"/>
                        </a:rPr>
                        <a:t>https://grafana.com/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>
                          <a:effectLst/>
                        </a:rPr>
                        <a:t>데이터를 시각화 하는데 가장 최적화된 대시보드를 제공해주는 오픈소스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7.3.6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2.0-&gt;AGPLv3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547819847"/>
                  </a:ext>
                </a:extLst>
              </a:tr>
              <a:tr h="185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Prometheus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25"/>
                        </a:rPr>
                        <a:t>https://prometheus.io/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>
                          <a:effectLst/>
                        </a:rPr>
                        <a:t>메트릭을 저장하기 위한 모니터링 플랫폼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Apache 2.0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1051522182"/>
                  </a:ext>
                </a:extLst>
              </a:tr>
              <a:tr h="268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Sentry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sng" strike="noStrike">
                          <a:effectLst/>
                          <a:hlinkClick r:id="rId26"/>
                        </a:rPr>
                        <a:t>https://sentry.io/</a:t>
                      </a:r>
                      <a:endParaRPr lang="en-US" sz="800" b="0" i="0" u="sng" strike="noStrike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>
                          <a:effectLst/>
                        </a:rPr>
                        <a:t>어플리케이션에서 오류가 발생하면 알려주는 에러 트래킹 플랫폼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</a:rPr>
                        <a:t>23.4.0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BSL(Business Source License),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Local - Free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7282" marR="7282" marT="7282" marB="0" anchor="ctr"/>
                </a:tc>
                <a:extLst>
                  <a:ext uri="{0D108BD9-81ED-4DB2-BD59-A6C34878D82A}">
                    <a16:rowId xmlns:a16="http://schemas.microsoft.com/office/drawing/2014/main" val="256342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6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6FED6-BD1D-4EA0-8EC5-9C42937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3" y="11326"/>
            <a:ext cx="7839641" cy="499721"/>
          </a:xfrm>
        </p:spPr>
        <p:txBody>
          <a:bodyPr/>
          <a:lstStyle/>
          <a:p>
            <a:r>
              <a:rPr lang="ko-KR" altLang="en-US" dirty="0"/>
              <a:t>소프트웨어 아키텍처 구성도</a:t>
            </a:r>
          </a:p>
        </p:txBody>
      </p:sp>
      <p:sp>
        <p:nvSpPr>
          <p:cNvPr id="323" name="사각형: 둥근 모서리 322">
            <a:extLst>
              <a:ext uri="{FF2B5EF4-FFF2-40B4-BE49-F238E27FC236}">
                <a16:creationId xmlns:a16="http://schemas.microsoft.com/office/drawing/2014/main" id="{CB9787A6-B3DC-47D4-96D4-AF1000FB2096}"/>
              </a:ext>
            </a:extLst>
          </p:cNvPr>
          <p:cNvSpPr/>
          <p:nvPr/>
        </p:nvSpPr>
        <p:spPr>
          <a:xfrm>
            <a:off x="670457" y="725009"/>
            <a:ext cx="7440562" cy="4465037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29" name="사각형: 둥근 모서리 328">
            <a:extLst>
              <a:ext uri="{FF2B5EF4-FFF2-40B4-BE49-F238E27FC236}">
                <a16:creationId xmlns:a16="http://schemas.microsoft.com/office/drawing/2014/main" id="{CDA24F58-EEF9-4F13-9145-3804C3E0B2DA}"/>
              </a:ext>
            </a:extLst>
          </p:cNvPr>
          <p:cNvSpPr/>
          <p:nvPr/>
        </p:nvSpPr>
        <p:spPr>
          <a:xfrm>
            <a:off x="2904506" y="2680845"/>
            <a:ext cx="1100287" cy="10049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30" name="그림 329">
            <a:extLst>
              <a:ext uri="{FF2B5EF4-FFF2-40B4-BE49-F238E27FC236}">
                <a16:creationId xmlns:a16="http://schemas.microsoft.com/office/drawing/2014/main" id="{A8DE2F54-7937-469F-A536-04D26FDF1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791" y="2678527"/>
            <a:ext cx="355086" cy="198081"/>
          </a:xfrm>
          <a:prstGeom prst="rect">
            <a:avLst/>
          </a:prstGeom>
        </p:spPr>
      </p:pic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8630F171-26DF-4EFC-BA3C-793076D5840C}"/>
              </a:ext>
            </a:extLst>
          </p:cNvPr>
          <p:cNvSpPr/>
          <p:nvPr/>
        </p:nvSpPr>
        <p:spPr>
          <a:xfrm>
            <a:off x="3128543" y="2664842"/>
            <a:ext cx="8442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[Ingress]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399" name="사각형: 둥근 모서리 398">
            <a:extLst>
              <a:ext uri="{FF2B5EF4-FFF2-40B4-BE49-F238E27FC236}">
                <a16:creationId xmlns:a16="http://schemas.microsoft.com/office/drawing/2014/main" id="{54C2BD22-D5F6-4215-91FD-78063506A736}"/>
              </a:ext>
            </a:extLst>
          </p:cNvPr>
          <p:cNvSpPr/>
          <p:nvPr/>
        </p:nvSpPr>
        <p:spPr>
          <a:xfrm>
            <a:off x="147052" y="5302423"/>
            <a:ext cx="3358227" cy="10866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2" name="사각형: 둥근 모서리 401">
            <a:extLst>
              <a:ext uri="{FF2B5EF4-FFF2-40B4-BE49-F238E27FC236}">
                <a16:creationId xmlns:a16="http://schemas.microsoft.com/office/drawing/2014/main" id="{D5571137-888B-4569-810F-6E4B2FC041E3}"/>
              </a:ext>
            </a:extLst>
          </p:cNvPr>
          <p:cNvSpPr/>
          <p:nvPr/>
        </p:nvSpPr>
        <p:spPr>
          <a:xfrm>
            <a:off x="2909223" y="1017288"/>
            <a:ext cx="1093311" cy="14909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405" name="그림 404">
            <a:extLst>
              <a:ext uri="{FF2B5EF4-FFF2-40B4-BE49-F238E27FC236}">
                <a16:creationId xmlns:a16="http://schemas.microsoft.com/office/drawing/2014/main" id="{F0EE7B31-90F3-4379-B1C9-CC9F87A2B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59" y="5408206"/>
            <a:ext cx="901055" cy="368613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0D9CD039-4E01-47A9-83EE-10E3E51D7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286" y="5382820"/>
            <a:ext cx="416988" cy="416988"/>
          </a:xfrm>
          <a:prstGeom prst="rect">
            <a:avLst/>
          </a:prstGeom>
        </p:spPr>
      </p:pic>
      <p:pic>
        <p:nvPicPr>
          <p:cNvPr id="407" name="그림 406">
            <a:extLst>
              <a:ext uri="{FF2B5EF4-FFF2-40B4-BE49-F238E27FC236}">
                <a16:creationId xmlns:a16="http://schemas.microsoft.com/office/drawing/2014/main" id="{9C612BD9-ECAC-44A4-8F91-8F391D52E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898" y="5667614"/>
            <a:ext cx="451246" cy="428159"/>
          </a:xfrm>
          <a:prstGeom prst="rect">
            <a:avLst/>
          </a:prstGeom>
        </p:spPr>
      </p:pic>
      <p:cxnSp>
        <p:nvCxnSpPr>
          <p:cNvPr id="409" name="연결선: 꺾임 408">
            <a:extLst>
              <a:ext uri="{FF2B5EF4-FFF2-40B4-BE49-F238E27FC236}">
                <a16:creationId xmlns:a16="http://schemas.microsoft.com/office/drawing/2014/main" id="{7694B11D-E6EF-4093-8CDC-CBA544670CE7}"/>
              </a:ext>
            </a:extLst>
          </p:cNvPr>
          <p:cNvCxnSpPr>
            <a:cxnSpLocks/>
            <a:stCxn id="405" idx="3"/>
            <a:endCxn id="406" idx="1"/>
          </p:cNvCxnSpPr>
          <p:nvPr/>
        </p:nvCxnSpPr>
        <p:spPr>
          <a:xfrm flipV="1">
            <a:off x="1147114" y="5591314"/>
            <a:ext cx="1583172" cy="11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연결선: 꺾임 409">
            <a:extLst>
              <a:ext uri="{FF2B5EF4-FFF2-40B4-BE49-F238E27FC236}">
                <a16:creationId xmlns:a16="http://schemas.microsoft.com/office/drawing/2014/main" id="{064271D5-E96F-4B9B-A4AE-65EFD48847B8}"/>
              </a:ext>
            </a:extLst>
          </p:cNvPr>
          <p:cNvCxnSpPr>
            <a:cxnSpLocks/>
            <a:stCxn id="405" idx="2"/>
            <a:endCxn id="407" idx="1"/>
          </p:cNvCxnSpPr>
          <p:nvPr/>
        </p:nvCxnSpPr>
        <p:spPr>
          <a:xfrm rot="16200000" flipH="1">
            <a:off x="936305" y="5537100"/>
            <a:ext cx="104875" cy="584311"/>
          </a:xfrm>
          <a:prstGeom prst="bentConnector2">
            <a:avLst/>
          </a:prstGeom>
          <a:ln>
            <a:prstDash val="lg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1" name="그림 410">
            <a:extLst>
              <a:ext uri="{FF2B5EF4-FFF2-40B4-BE49-F238E27FC236}">
                <a16:creationId xmlns:a16="http://schemas.microsoft.com/office/drawing/2014/main" id="{7C2E18A1-153C-4F00-8169-78425F63E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80" y="999628"/>
            <a:ext cx="383946" cy="227165"/>
          </a:xfrm>
          <a:prstGeom prst="rect">
            <a:avLst/>
          </a:prstGeom>
        </p:spPr>
      </p:pic>
      <p:sp>
        <p:nvSpPr>
          <p:cNvPr id="416" name="직사각형 415">
            <a:extLst>
              <a:ext uri="{FF2B5EF4-FFF2-40B4-BE49-F238E27FC236}">
                <a16:creationId xmlns:a16="http://schemas.microsoft.com/office/drawing/2014/main" id="{5FA8ACCC-128D-42EF-BBB0-487E0A7C30BB}"/>
              </a:ext>
            </a:extLst>
          </p:cNvPr>
          <p:cNvSpPr/>
          <p:nvPr/>
        </p:nvSpPr>
        <p:spPr>
          <a:xfrm>
            <a:off x="2434959" y="5238264"/>
            <a:ext cx="94288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17" name="직사각형 416">
            <a:extLst>
              <a:ext uri="{FF2B5EF4-FFF2-40B4-BE49-F238E27FC236}">
                <a16:creationId xmlns:a16="http://schemas.microsoft.com/office/drawing/2014/main" id="{2806A066-6E44-4B50-B202-08EA193679B8}"/>
              </a:ext>
            </a:extLst>
          </p:cNvPr>
          <p:cNvSpPr/>
          <p:nvPr/>
        </p:nvSpPr>
        <p:spPr>
          <a:xfrm>
            <a:off x="262989" y="5272441"/>
            <a:ext cx="94288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18" name="직사각형 417">
            <a:extLst>
              <a:ext uri="{FF2B5EF4-FFF2-40B4-BE49-F238E27FC236}">
                <a16:creationId xmlns:a16="http://schemas.microsoft.com/office/drawing/2014/main" id="{FC11BCC2-B144-4A3A-8FB8-B916464EAB79}"/>
              </a:ext>
            </a:extLst>
          </p:cNvPr>
          <p:cNvSpPr/>
          <p:nvPr/>
        </p:nvSpPr>
        <p:spPr>
          <a:xfrm>
            <a:off x="8405747" y="5540422"/>
            <a:ext cx="110158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Cloud Bus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419" name="그림 418">
            <a:extLst>
              <a:ext uri="{FF2B5EF4-FFF2-40B4-BE49-F238E27FC236}">
                <a16:creationId xmlns:a16="http://schemas.microsoft.com/office/drawing/2014/main" id="{73FE6F3F-406A-4B64-925A-04D78B56D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213" y="5429981"/>
            <a:ext cx="165100" cy="97683"/>
          </a:xfrm>
          <a:prstGeom prst="rect">
            <a:avLst/>
          </a:prstGeom>
        </p:spPr>
      </p:pic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34B07AD5-2F5A-4D5F-A476-EBE384E0097B}"/>
              </a:ext>
            </a:extLst>
          </p:cNvPr>
          <p:cNvSpPr/>
          <p:nvPr/>
        </p:nvSpPr>
        <p:spPr>
          <a:xfrm>
            <a:off x="8405747" y="5374413"/>
            <a:ext cx="534256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Server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9CBFA7E7-A1CE-444A-B7E3-879A5387EC92}"/>
              </a:ext>
            </a:extLst>
          </p:cNvPr>
          <p:cNvSpPr/>
          <p:nvPr/>
        </p:nvSpPr>
        <p:spPr>
          <a:xfrm>
            <a:off x="3095831" y="1003284"/>
            <a:ext cx="5757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Master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AEBF10CE-0FCE-4F9E-9291-34FB512C80FD}"/>
              </a:ext>
            </a:extLst>
          </p:cNvPr>
          <p:cNvSpPr/>
          <p:nvPr/>
        </p:nvSpPr>
        <p:spPr>
          <a:xfrm>
            <a:off x="8405747" y="5710138"/>
            <a:ext cx="74411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Rabbit MQ</a:t>
            </a:r>
          </a:p>
        </p:txBody>
      </p:sp>
      <p:pic>
        <p:nvPicPr>
          <p:cNvPr id="427" name="그림 426">
            <a:extLst>
              <a:ext uri="{FF2B5EF4-FFF2-40B4-BE49-F238E27FC236}">
                <a16:creationId xmlns:a16="http://schemas.microsoft.com/office/drawing/2014/main" id="{6322FF57-CDDE-4CE3-95A1-953A29747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568" y="5749325"/>
            <a:ext cx="126790" cy="134859"/>
          </a:xfrm>
          <a:prstGeom prst="rect">
            <a:avLst/>
          </a:prstGeom>
        </p:spPr>
      </p:pic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92EBFDBC-48CD-4902-B217-CBC4FA06BAA1}"/>
              </a:ext>
            </a:extLst>
          </p:cNvPr>
          <p:cNvGrpSpPr/>
          <p:nvPr/>
        </p:nvGrpSpPr>
        <p:grpSpPr>
          <a:xfrm>
            <a:off x="8104213" y="5577647"/>
            <a:ext cx="128666" cy="130100"/>
            <a:chOff x="5213886" y="1690790"/>
            <a:chExt cx="205187" cy="198343"/>
          </a:xfrm>
        </p:grpSpPr>
        <p:sp>
          <p:nvSpPr>
            <p:cNvPr id="431" name="Oval 159">
              <a:extLst>
                <a:ext uri="{FF2B5EF4-FFF2-40B4-BE49-F238E27FC236}">
                  <a16:creationId xmlns:a16="http://schemas.microsoft.com/office/drawing/2014/main" id="{BB4CFA37-A164-4B85-952A-D78C7B6F76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432" name="그림 431">
              <a:extLst>
                <a:ext uri="{FF2B5EF4-FFF2-40B4-BE49-F238E27FC236}">
                  <a16:creationId xmlns:a16="http://schemas.microsoft.com/office/drawing/2014/main" id="{FA77AC9C-08F4-4352-9900-2F0BA5D0D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434" name="사각형: 둥근 모서리 433">
            <a:extLst>
              <a:ext uri="{FF2B5EF4-FFF2-40B4-BE49-F238E27FC236}">
                <a16:creationId xmlns:a16="http://schemas.microsoft.com/office/drawing/2014/main" id="{C4B25B3B-B644-4974-B26F-599471E9EE1A}"/>
              </a:ext>
            </a:extLst>
          </p:cNvPr>
          <p:cNvSpPr/>
          <p:nvPr/>
        </p:nvSpPr>
        <p:spPr>
          <a:xfrm>
            <a:off x="7948067" y="5323709"/>
            <a:ext cx="1789985" cy="1067565"/>
          </a:xfrm>
          <a:prstGeom prst="roundRect">
            <a:avLst/>
          </a:prstGeom>
          <a:noFill/>
          <a:ln w="28575">
            <a:solidFill>
              <a:schemeClr val="accent6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5" name="AutoShape 48">
            <a:extLst>
              <a:ext uri="{FF2B5EF4-FFF2-40B4-BE49-F238E27FC236}">
                <a16:creationId xmlns:a16="http://schemas.microsoft.com/office/drawing/2014/main" id="{9666AAFA-37FB-4511-AEC8-FDADA6A1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461" y="5587573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                 Sleuth</a:t>
            </a:r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AC247982-15F8-4CB2-AAB9-3658A419D2BC}"/>
              </a:ext>
            </a:extLst>
          </p:cNvPr>
          <p:cNvSpPr/>
          <p:nvPr/>
        </p:nvSpPr>
        <p:spPr>
          <a:xfrm>
            <a:off x="3662360" y="5335256"/>
            <a:ext cx="114618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Monitoring</a:t>
            </a:r>
          </a:p>
        </p:txBody>
      </p:sp>
      <p:pic>
        <p:nvPicPr>
          <p:cNvPr id="437" name="그림 436">
            <a:extLst>
              <a:ext uri="{FF2B5EF4-FFF2-40B4-BE49-F238E27FC236}">
                <a16:creationId xmlns:a16="http://schemas.microsoft.com/office/drawing/2014/main" id="{25C51B6B-E1FB-435D-A48D-67F3E69BBE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27" y="5581721"/>
            <a:ext cx="702535" cy="204906"/>
          </a:xfrm>
          <a:prstGeom prst="rect">
            <a:avLst/>
          </a:prstGeom>
        </p:spPr>
      </p:pic>
      <p:cxnSp>
        <p:nvCxnSpPr>
          <p:cNvPr id="440" name="직선 화살표 연결선 439">
            <a:extLst>
              <a:ext uri="{FF2B5EF4-FFF2-40B4-BE49-F238E27FC236}">
                <a16:creationId xmlns:a16="http://schemas.microsoft.com/office/drawing/2014/main" id="{656E98D0-3DFC-4B71-92BC-A160875F8773}"/>
              </a:ext>
            </a:extLst>
          </p:cNvPr>
          <p:cNvCxnSpPr>
            <a:cxnSpLocks/>
          </p:cNvCxnSpPr>
          <p:nvPr/>
        </p:nvCxnSpPr>
        <p:spPr>
          <a:xfrm flipV="1">
            <a:off x="8078720" y="5969654"/>
            <a:ext cx="340847" cy="33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2E2843CE-76B6-4366-817B-B335AA6B3125}"/>
              </a:ext>
            </a:extLst>
          </p:cNvPr>
          <p:cNvSpPr/>
          <p:nvPr/>
        </p:nvSpPr>
        <p:spPr>
          <a:xfrm>
            <a:off x="8408104" y="5869250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서비스 연계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442" name="그림 441">
            <a:extLst>
              <a:ext uri="{FF2B5EF4-FFF2-40B4-BE49-F238E27FC236}">
                <a16:creationId xmlns:a16="http://schemas.microsoft.com/office/drawing/2014/main" id="{11186C93-71B5-4C0F-A27B-30EAFDC2022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41455" y="1695721"/>
            <a:ext cx="432824" cy="372475"/>
          </a:xfrm>
          <a:prstGeom prst="rect">
            <a:avLst/>
          </a:prstGeom>
        </p:spPr>
      </p:pic>
      <p:sp>
        <p:nvSpPr>
          <p:cNvPr id="443" name="사각형: 둥근 모서리 442">
            <a:extLst>
              <a:ext uri="{FF2B5EF4-FFF2-40B4-BE49-F238E27FC236}">
                <a16:creationId xmlns:a16="http://schemas.microsoft.com/office/drawing/2014/main" id="{6D115966-D8CD-4A7D-B429-4A461D695978}"/>
              </a:ext>
            </a:extLst>
          </p:cNvPr>
          <p:cNvSpPr/>
          <p:nvPr/>
        </p:nvSpPr>
        <p:spPr>
          <a:xfrm>
            <a:off x="3642107" y="5323709"/>
            <a:ext cx="4167001" cy="1065386"/>
          </a:xfrm>
          <a:prstGeom prst="round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4" name="그림 443">
            <a:extLst>
              <a:ext uri="{FF2B5EF4-FFF2-40B4-BE49-F238E27FC236}">
                <a16:creationId xmlns:a16="http://schemas.microsoft.com/office/drawing/2014/main" id="{0A150D94-152D-4B99-A734-2BAE199858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778" y="6075267"/>
            <a:ext cx="1087478" cy="231289"/>
          </a:xfrm>
          <a:prstGeom prst="rect">
            <a:avLst/>
          </a:prstGeom>
        </p:spPr>
      </p:pic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67D93250-E465-4CD5-B46C-181813231F92}"/>
              </a:ext>
            </a:extLst>
          </p:cNvPr>
          <p:cNvSpPr/>
          <p:nvPr/>
        </p:nvSpPr>
        <p:spPr>
          <a:xfrm>
            <a:off x="8402315" y="6023482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비동기 통신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456" name="연결선: 꺾임 455">
            <a:extLst>
              <a:ext uri="{FF2B5EF4-FFF2-40B4-BE49-F238E27FC236}">
                <a16:creationId xmlns:a16="http://schemas.microsoft.com/office/drawing/2014/main" id="{400EF4F3-E3F7-473E-A2BB-DC3EF6C8B130}"/>
              </a:ext>
            </a:extLst>
          </p:cNvPr>
          <p:cNvCxnSpPr>
            <a:cxnSpLocks/>
          </p:cNvCxnSpPr>
          <p:nvPr/>
        </p:nvCxnSpPr>
        <p:spPr>
          <a:xfrm rot="10800000">
            <a:off x="8040193" y="6112457"/>
            <a:ext cx="379374" cy="205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7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FCB16DE4-E191-4609-96CA-B02225FFD8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2940855" y="1218041"/>
            <a:ext cx="548567" cy="13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B5C2339A-FBEF-46C0-912D-D405203FE00B}"/>
              </a:ext>
            </a:extLst>
          </p:cNvPr>
          <p:cNvSpPr/>
          <p:nvPr/>
        </p:nvSpPr>
        <p:spPr>
          <a:xfrm>
            <a:off x="3010363" y="1368562"/>
            <a:ext cx="886385" cy="20933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-API Server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59" name="직사각형 458">
            <a:extLst>
              <a:ext uri="{FF2B5EF4-FFF2-40B4-BE49-F238E27FC236}">
                <a16:creationId xmlns:a16="http://schemas.microsoft.com/office/drawing/2014/main" id="{4639FCE7-1CA7-42DE-9C10-DEA6967484BA}"/>
              </a:ext>
            </a:extLst>
          </p:cNvPr>
          <p:cNvSpPr/>
          <p:nvPr/>
        </p:nvSpPr>
        <p:spPr>
          <a:xfrm>
            <a:off x="3012580" y="1608240"/>
            <a:ext cx="886385" cy="22578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-scheduler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60" name="사각형: 둥근 모서리 459">
            <a:extLst>
              <a:ext uri="{FF2B5EF4-FFF2-40B4-BE49-F238E27FC236}">
                <a16:creationId xmlns:a16="http://schemas.microsoft.com/office/drawing/2014/main" id="{CA8C0467-C362-45D9-85A0-3CF9EEA38959}"/>
              </a:ext>
            </a:extLst>
          </p:cNvPr>
          <p:cNvSpPr/>
          <p:nvPr/>
        </p:nvSpPr>
        <p:spPr>
          <a:xfrm>
            <a:off x="828104" y="3268646"/>
            <a:ext cx="1849201" cy="1836337"/>
          </a:xfrm>
          <a:prstGeom prst="roundRect">
            <a:avLst>
              <a:gd name="adj" fmla="val 125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119E2C02-F327-46F7-A8C4-88E27AF08D82}"/>
              </a:ext>
            </a:extLst>
          </p:cNvPr>
          <p:cNvSpPr/>
          <p:nvPr/>
        </p:nvSpPr>
        <p:spPr>
          <a:xfrm>
            <a:off x="3007072" y="1874054"/>
            <a:ext cx="886385" cy="32182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-controller-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+mn-cs"/>
              </a:rPr>
              <a:t>manager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D01A7912-3B1B-4C20-8F92-3C9A77252E59}"/>
              </a:ext>
            </a:extLst>
          </p:cNvPr>
          <p:cNvSpPr/>
          <p:nvPr/>
        </p:nvSpPr>
        <p:spPr>
          <a:xfrm>
            <a:off x="3007072" y="2235826"/>
            <a:ext cx="886385" cy="18580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etcd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63" name="직사각형 462">
            <a:extLst>
              <a:ext uri="{FF2B5EF4-FFF2-40B4-BE49-F238E27FC236}">
                <a16:creationId xmlns:a16="http://schemas.microsoft.com/office/drawing/2014/main" id="{84607134-568C-454D-AEC9-C8537D847DD1}"/>
              </a:ext>
            </a:extLst>
          </p:cNvPr>
          <p:cNvSpPr/>
          <p:nvPr/>
        </p:nvSpPr>
        <p:spPr>
          <a:xfrm>
            <a:off x="789731" y="3338293"/>
            <a:ext cx="65594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인증</a:t>
            </a:r>
            <a:r>
              <a:rPr lang="en-US" altLang="ko-KR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인가</a:t>
            </a:r>
            <a:endParaRPr lang="ko-KR" altLang="en-US" dirty="0"/>
          </a:p>
        </p:txBody>
      </p:sp>
      <p:grpSp>
        <p:nvGrpSpPr>
          <p:cNvPr id="464" name="Group 1014">
            <a:extLst>
              <a:ext uri="{FF2B5EF4-FFF2-40B4-BE49-F238E27FC236}">
                <a16:creationId xmlns:a16="http://schemas.microsoft.com/office/drawing/2014/main" id="{5A5A5F02-20CB-4308-9C77-3095227F246A}"/>
              </a:ext>
            </a:extLst>
          </p:cNvPr>
          <p:cNvGrpSpPr>
            <a:grpSpLocks/>
          </p:cNvGrpSpPr>
          <p:nvPr/>
        </p:nvGrpSpPr>
        <p:grpSpPr bwMode="auto">
          <a:xfrm>
            <a:off x="907779" y="3897794"/>
            <a:ext cx="163169" cy="200742"/>
            <a:chOff x="5666" y="988"/>
            <a:chExt cx="202" cy="351"/>
          </a:xfrm>
        </p:grpSpPr>
        <p:sp>
          <p:nvSpPr>
            <p:cNvPr id="465" name="Freeform 1015">
              <a:extLst>
                <a:ext uri="{FF2B5EF4-FFF2-40B4-BE49-F238E27FC236}">
                  <a16:creationId xmlns:a16="http://schemas.microsoft.com/office/drawing/2014/main" id="{421F8462-BC46-42BB-B4A8-933AD9774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4"/>
              <a:ext cx="144" cy="328"/>
            </a:xfrm>
            <a:custGeom>
              <a:avLst/>
              <a:gdLst>
                <a:gd name="T0" fmla="*/ 0 w 144"/>
                <a:gd name="T1" fmla="*/ 1 h 328"/>
                <a:gd name="T2" fmla="*/ 0 w 144"/>
                <a:gd name="T3" fmla="*/ 327 h 328"/>
                <a:gd name="T4" fmla="*/ 143 w 144"/>
                <a:gd name="T5" fmla="*/ 312 h 328"/>
                <a:gd name="T6" fmla="*/ 143 w 144"/>
                <a:gd name="T7" fmla="*/ 6 h 328"/>
                <a:gd name="T8" fmla="*/ 143 w 144"/>
                <a:gd name="T9" fmla="*/ 6 h 328"/>
                <a:gd name="T10" fmla="*/ 0 w 144"/>
                <a:gd name="T11" fmla="*/ 0 h 328"/>
                <a:gd name="T12" fmla="*/ 143 w 144"/>
                <a:gd name="T13" fmla="*/ 6 h 328"/>
                <a:gd name="T14" fmla="*/ 0 w 144"/>
                <a:gd name="T15" fmla="*/ 0 h 328"/>
                <a:gd name="T16" fmla="*/ 143 w 144"/>
                <a:gd name="T17" fmla="*/ 6 h 328"/>
                <a:gd name="T18" fmla="*/ 0 w 144"/>
                <a:gd name="T19" fmla="*/ 0 h 328"/>
                <a:gd name="T20" fmla="*/ 143 w 144"/>
                <a:gd name="T21" fmla="*/ 6 h 328"/>
                <a:gd name="T22" fmla="*/ 0 w 144"/>
                <a:gd name="T23" fmla="*/ 0 h 328"/>
                <a:gd name="T24" fmla="*/ 143 w 144"/>
                <a:gd name="T25" fmla="*/ 6 h 328"/>
                <a:gd name="T26" fmla="*/ 0 w 144"/>
                <a:gd name="T27" fmla="*/ 0 h 328"/>
                <a:gd name="T28" fmla="*/ 143 w 144"/>
                <a:gd name="T29" fmla="*/ 6 h 328"/>
                <a:gd name="T30" fmla="*/ 0 w 144"/>
                <a:gd name="T31" fmla="*/ 0 h 328"/>
                <a:gd name="T32" fmla="*/ 143 w 144"/>
                <a:gd name="T33" fmla="*/ 6 h 328"/>
                <a:gd name="T34" fmla="*/ 0 w 144"/>
                <a:gd name="T35" fmla="*/ 0 h 328"/>
                <a:gd name="T36" fmla="*/ 143 w 144"/>
                <a:gd name="T37" fmla="*/ 6 h 328"/>
                <a:gd name="T38" fmla="*/ 0 w 144"/>
                <a:gd name="T39" fmla="*/ 0 h 328"/>
                <a:gd name="T40" fmla="*/ 143 w 144"/>
                <a:gd name="T41" fmla="*/ 6 h 328"/>
                <a:gd name="T42" fmla="*/ 0 w 144"/>
                <a:gd name="T43" fmla="*/ 0 h 328"/>
                <a:gd name="T44" fmla="*/ 143 w 144"/>
                <a:gd name="T45" fmla="*/ 6 h 328"/>
                <a:gd name="T46" fmla="*/ 0 w 144"/>
                <a:gd name="T47" fmla="*/ 0 h 328"/>
                <a:gd name="T48" fmla="*/ 143 w 144"/>
                <a:gd name="T49" fmla="*/ 6 h 328"/>
                <a:gd name="T50" fmla="*/ 0 w 144"/>
                <a:gd name="T51" fmla="*/ 0 h 328"/>
                <a:gd name="T52" fmla="*/ 143 w 144"/>
                <a:gd name="T53" fmla="*/ 6 h 328"/>
                <a:gd name="T54" fmla="*/ 0 w 144"/>
                <a:gd name="T55" fmla="*/ 0 h 328"/>
                <a:gd name="T56" fmla="*/ 143 w 144"/>
                <a:gd name="T57" fmla="*/ 6 h 328"/>
                <a:gd name="T58" fmla="*/ 0 w 144"/>
                <a:gd name="T59" fmla="*/ 0 h 328"/>
                <a:gd name="T60" fmla="*/ 143 w 144"/>
                <a:gd name="T61" fmla="*/ 6 h 328"/>
                <a:gd name="T62" fmla="*/ 0 w 144"/>
                <a:gd name="T63" fmla="*/ 0 h 328"/>
                <a:gd name="T64" fmla="*/ 143 w 144"/>
                <a:gd name="T65" fmla="*/ 6 h 328"/>
                <a:gd name="T66" fmla="*/ 0 w 144"/>
                <a:gd name="T67" fmla="*/ 0 h 328"/>
                <a:gd name="T68" fmla="*/ 143 w 144"/>
                <a:gd name="T69" fmla="*/ 6 h 328"/>
                <a:gd name="T70" fmla="*/ 0 w 144"/>
                <a:gd name="T71" fmla="*/ 0 h 328"/>
                <a:gd name="T72" fmla="*/ 143 w 144"/>
                <a:gd name="T73" fmla="*/ 6 h 328"/>
                <a:gd name="T74" fmla="*/ 0 w 144"/>
                <a:gd name="T75" fmla="*/ 0 h 328"/>
                <a:gd name="T76" fmla="*/ 143 w 144"/>
                <a:gd name="T77" fmla="*/ 6 h 328"/>
                <a:gd name="T78" fmla="*/ 0 w 144"/>
                <a:gd name="T79" fmla="*/ 0 h 328"/>
                <a:gd name="T80" fmla="*/ 143 w 144"/>
                <a:gd name="T81" fmla="*/ 6 h 328"/>
                <a:gd name="T82" fmla="*/ 0 w 144"/>
                <a:gd name="T83" fmla="*/ 0 h 328"/>
                <a:gd name="T84" fmla="*/ 0 w 144"/>
                <a:gd name="T85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4" h="328">
                  <a:moveTo>
                    <a:pt x="0" y="1"/>
                  </a:moveTo>
                  <a:lnTo>
                    <a:pt x="0" y="327"/>
                  </a:lnTo>
                  <a:lnTo>
                    <a:pt x="143" y="312"/>
                  </a:lnTo>
                  <a:lnTo>
                    <a:pt x="143" y="6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5400000" scaled="1"/>
            </a:gradFill>
            <a:ln w="9088" cap="flat" cmpd="sng">
              <a:solidFill>
                <a:srgbClr val="72727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6" name="Freeform 1016">
              <a:extLst>
                <a:ext uri="{FF2B5EF4-FFF2-40B4-BE49-F238E27FC236}">
                  <a16:creationId xmlns:a16="http://schemas.microsoft.com/office/drawing/2014/main" id="{3C2F6EDA-AA09-462C-AB2E-981860EF9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0 h 328"/>
                <a:gd name="T2" fmla="*/ 58 w 59"/>
                <a:gd name="T3" fmla="*/ 327 h 328"/>
                <a:gd name="T4" fmla="*/ 0 w 59"/>
                <a:gd name="T5" fmla="*/ 271 h 328"/>
                <a:gd name="T6" fmla="*/ 0 w 59"/>
                <a:gd name="T7" fmla="*/ 26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327 h 328"/>
                <a:gd name="T14" fmla="*/ 58 w 59"/>
                <a:gd name="T15" fmla="*/ 0 h 328"/>
                <a:gd name="T16" fmla="*/ 58 w 59"/>
                <a:gd name="T17" fmla="*/ 327 h 328"/>
                <a:gd name="T18" fmla="*/ 58 w 59"/>
                <a:gd name="T19" fmla="*/ 0 h 328"/>
                <a:gd name="T20" fmla="*/ 58 w 59"/>
                <a:gd name="T21" fmla="*/ 327 h 328"/>
                <a:gd name="T22" fmla="*/ 58 w 59"/>
                <a:gd name="T23" fmla="*/ 0 h 328"/>
                <a:gd name="T24" fmla="*/ 58 w 59"/>
                <a:gd name="T25" fmla="*/ 327 h 328"/>
                <a:gd name="T26" fmla="*/ 58 w 59"/>
                <a:gd name="T27" fmla="*/ 0 h 328"/>
                <a:gd name="T28" fmla="*/ 58 w 59"/>
                <a:gd name="T29" fmla="*/ 327 h 328"/>
                <a:gd name="T30" fmla="*/ 58 w 59"/>
                <a:gd name="T31" fmla="*/ 0 h 328"/>
                <a:gd name="T32" fmla="*/ 58 w 59"/>
                <a:gd name="T33" fmla="*/ 327 h 328"/>
                <a:gd name="T34" fmla="*/ 58 w 59"/>
                <a:gd name="T35" fmla="*/ 0 h 328"/>
                <a:gd name="T36" fmla="*/ 58 w 59"/>
                <a:gd name="T37" fmla="*/ 327 h 328"/>
                <a:gd name="T38" fmla="*/ 58 w 59"/>
                <a:gd name="T39" fmla="*/ 0 h 328"/>
                <a:gd name="T40" fmla="*/ 58 w 59"/>
                <a:gd name="T41" fmla="*/ 327 h 328"/>
                <a:gd name="T42" fmla="*/ 58 w 59"/>
                <a:gd name="T43" fmla="*/ 0 h 328"/>
                <a:gd name="T44" fmla="*/ 58 w 59"/>
                <a:gd name="T45" fmla="*/ 327 h 328"/>
                <a:gd name="T46" fmla="*/ 58 w 59"/>
                <a:gd name="T47" fmla="*/ 0 h 328"/>
                <a:gd name="T48" fmla="*/ 58 w 59"/>
                <a:gd name="T49" fmla="*/ 327 h 328"/>
                <a:gd name="T50" fmla="*/ 58 w 59"/>
                <a:gd name="T51" fmla="*/ 0 h 328"/>
                <a:gd name="T52" fmla="*/ 58 w 59"/>
                <a:gd name="T53" fmla="*/ 327 h 328"/>
                <a:gd name="T54" fmla="*/ 58 w 59"/>
                <a:gd name="T5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7" name="Line 1017">
              <a:extLst>
                <a:ext uri="{FF2B5EF4-FFF2-40B4-BE49-F238E27FC236}">
                  <a16:creationId xmlns:a16="http://schemas.microsoft.com/office/drawing/2014/main" id="{CB00E44C-28D2-48F4-9E3E-35AE91298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91" y="1008"/>
              <a:ext cx="0" cy="279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8" name="Line 1018">
              <a:extLst>
                <a:ext uri="{FF2B5EF4-FFF2-40B4-BE49-F238E27FC236}">
                  <a16:creationId xmlns:a16="http://schemas.microsoft.com/office/drawing/2014/main" id="{3689385D-067B-4560-91F3-CFDE1B72D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0" y="1000"/>
              <a:ext cx="0" cy="306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9" name="Line 1019">
              <a:extLst>
                <a:ext uri="{FF2B5EF4-FFF2-40B4-BE49-F238E27FC236}">
                  <a16:creationId xmlns:a16="http://schemas.microsoft.com/office/drawing/2014/main" id="{9EB38914-10A4-4968-8761-5D13B06BC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7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0" name="Line 1020">
              <a:extLst>
                <a:ext uri="{FF2B5EF4-FFF2-40B4-BE49-F238E27FC236}">
                  <a16:creationId xmlns:a16="http://schemas.microsoft.com/office/drawing/2014/main" id="{785F79EF-A9A3-4E72-B281-E802D3DE1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3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1" name="AutoShape 1021">
              <a:extLst>
                <a:ext uri="{FF2B5EF4-FFF2-40B4-BE49-F238E27FC236}">
                  <a16:creationId xmlns:a16="http://schemas.microsoft.com/office/drawing/2014/main" id="{42EDD492-7DC2-4A97-B3E1-14C9C75F16E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09" y="998"/>
              <a:ext cx="27" cy="89"/>
            </a:xfrm>
            <a:prstGeom prst="roundRect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2" name="Freeform 1022">
              <a:extLst>
                <a:ext uri="{FF2B5EF4-FFF2-40B4-BE49-F238E27FC236}">
                  <a16:creationId xmlns:a16="http://schemas.microsoft.com/office/drawing/2014/main" id="{16069ADE-BD71-4853-8DEB-3DFA7C93F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327 h 328"/>
                <a:gd name="T2" fmla="*/ 0 w 59"/>
                <a:gd name="T3" fmla="*/ 26 h 328"/>
                <a:gd name="T4" fmla="*/ 58 w 59"/>
                <a:gd name="T5" fmla="*/ 0 h 328"/>
                <a:gd name="T6" fmla="*/ 58 w 59"/>
                <a:gd name="T7" fmla="*/ 0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0 h 328"/>
                <a:gd name="T14" fmla="*/ 58 w 59"/>
                <a:gd name="T15" fmla="*/ 0 h 328"/>
                <a:gd name="T16" fmla="*/ 58 w 59"/>
                <a:gd name="T17" fmla="*/ 0 h 328"/>
                <a:gd name="T18" fmla="*/ 58 w 59"/>
                <a:gd name="T19" fmla="*/ 0 h 328"/>
                <a:gd name="T20" fmla="*/ 58 w 59"/>
                <a:gd name="T21" fmla="*/ 0 h 328"/>
                <a:gd name="T22" fmla="*/ 58 w 59"/>
                <a:gd name="T23" fmla="*/ 0 h 328"/>
                <a:gd name="T24" fmla="*/ 58 w 59"/>
                <a:gd name="T25" fmla="*/ 0 h 328"/>
                <a:gd name="T26" fmla="*/ 58 w 59"/>
                <a:gd name="T27" fmla="*/ 0 h 328"/>
                <a:gd name="T28" fmla="*/ 58 w 59"/>
                <a:gd name="T29" fmla="*/ 0 h 328"/>
                <a:gd name="T30" fmla="*/ 58 w 59"/>
                <a:gd name="T31" fmla="*/ 0 h 328"/>
                <a:gd name="T32" fmla="*/ 58 w 59"/>
                <a:gd name="T33" fmla="*/ 0 h 328"/>
                <a:gd name="T34" fmla="*/ 58 w 59"/>
                <a:gd name="T35" fmla="*/ 0 h 328"/>
                <a:gd name="T36" fmla="*/ 58 w 59"/>
                <a:gd name="T37" fmla="*/ 0 h 328"/>
                <a:gd name="T38" fmla="*/ 58 w 59"/>
                <a:gd name="T39" fmla="*/ 0 h 328"/>
                <a:gd name="T40" fmla="*/ 58 w 59"/>
                <a:gd name="T41" fmla="*/ 0 h 328"/>
                <a:gd name="T42" fmla="*/ 58 w 59"/>
                <a:gd name="T43" fmla="*/ 0 h 328"/>
                <a:gd name="T44" fmla="*/ 58 w 59"/>
                <a:gd name="T45" fmla="*/ 0 h 328"/>
                <a:gd name="T46" fmla="*/ 58 w 59"/>
                <a:gd name="T47" fmla="*/ 0 h 328"/>
                <a:gd name="T48" fmla="*/ 58 w 59"/>
                <a:gd name="T49" fmla="*/ 0 h 328"/>
                <a:gd name="T50" fmla="*/ 58 w 59"/>
                <a:gd name="T51" fmla="*/ 0 h 328"/>
                <a:gd name="T52" fmla="*/ 58 w 59"/>
                <a:gd name="T53" fmla="*/ 0 h 328"/>
                <a:gd name="T54" fmla="*/ 58 w 59"/>
                <a:gd name="T55" fmla="*/ 0 h 328"/>
                <a:gd name="T56" fmla="*/ 58 w 59"/>
                <a:gd name="T57" fmla="*/ 0 h 328"/>
                <a:gd name="T58" fmla="*/ 58 w 59"/>
                <a:gd name="T59" fmla="*/ 0 h 328"/>
                <a:gd name="T60" fmla="*/ 58 w 59"/>
                <a:gd name="T61" fmla="*/ 0 h 328"/>
                <a:gd name="T62" fmla="*/ 58 w 59"/>
                <a:gd name="T63" fmla="*/ 0 h 328"/>
                <a:gd name="T64" fmla="*/ 58 w 59"/>
                <a:gd name="T65" fmla="*/ 0 h 328"/>
                <a:gd name="T66" fmla="*/ 58 w 59"/>
                <a:gd name="T67" fmla="*/ 0 h 328"/>
                <a:gd name="T68" fmla="*/ 58 w 59"/>
                <a:gd name="T69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3" name="AutoShape 1023">
              <a:extLst>
                <a:ext uri="{FF2B5EF4-FFF2-40B4-BE49-F238E27FC236}">
                  <a16:creationId xmlns:a16="http://schemas.microsoft.com/office/drawing/2014/main" id="{27860727-D951-4078-993E-C73D96B4B5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0" y="1068"/>
              <a:ext cx="17" cy="15"/>
            </a:xfrm>
            <a:prstGeom prst="roundRect">
              <a:avLst>
                <a:gd name="adj" fmla="val 0"/>
              </a:avLst>
            </a:prstGeom>
            <a:solidFill>
              <a:srgbClr val="72727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4" name="Oval 1024">
              <a:extLst>
                <a:ext uri="{FF2B5EF4-FFF2-40B4-BE49-F238E27FC236}">
                  <a16:creationId xmlns:a16="http://schemas.microsoft.com/office/drawing/2014/main" id="{C946D159-977F-4197-AF97-5D4AA7834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2" y="1076"/>
              <a:ext cx="3" cy="3"/>
            </a:xfrm>
            <a:prstGeom prst="ellips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5" name="Line 1025">
              <a:extLst>
                <a:ext uri="{FF2B5EF4-FFF2-40B4-BE49-F238E27FC236}">
                  <a16:creationId xmlns:a16="http://schemas.microsoft.com/office/drawing/2014/main" id="{03983E34-ACEC-41C2-B061-EF3A45139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3" y="1073"/>
              <a:ext cx="0" cy="0"/>
            </a:xfrm>
            <a:prstGeom prst="lin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6" name="AutoShape 1026">
              <a:extLst>
                <a:ext uri="{FF2B5EF4-FFF2-40B4-BE49-F238E27FC236}">
                  <a16:creationId xmlns:a16="http://schemas.microsoft.com/office/drawing/2014/main" id="{BD4F5CA0-AC90-4112-8E05-BA2F38A222D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3" y="1070"/>
              <a:ext cx="6" cy="11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5400000" scaled="1"/>
            </a:gradFill>
            <a:ln w="9088">
              <a:solidFill>
                <a:srgbClr val="FF404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7" name="AutoShape 1027">
              <a:extLst>
                <a:ext uri="{FF2B5EF4-FFF2-40B4-BE49-F238E27FC236}">
                  <a16:creationId xmlns:a16="http://schemas.microsoft.com/office/drawing/2014/main" id="{9243C3B5-CD66-4494-94B3-D88B43550D3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4" y="1073"/>
              <a:ext cx="5" cy="0"/>
            </a:xfrm>
            <a:prstGeom prst="roundRect">
              <a:avLst>
                <a:gd name="adj" fmla="val 0"/>
              </a:avLst>
            </a:prstGeom>
            <a:solidFill>
              <a:srgbClr val="FF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8" name="Line 1028">
              <a:extLst>
                <a:ext uri="{FF2B5EF4-FFF2-40B4-BE49-F238E27FC236}">
                  <a16:creationId xmlns:a16="http://schemas.microsoft.com/office/drawing/2014/main" id="{B8320D79-6E63-4EFC-8B72-A07CE7194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09" y="997"/>
              <a:ext cx="0" cy="314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9" name="Line 1029">
              <a:extLst>
                <a:ext uri="{FF2B5EF4-FFF2-40B4-BE49-F238E27FC236}">
                  <a16:creationId xmlns:a16="http://schemas.microsoft.com/office/drawing/2014/main" id="{C602B3CA-DC34-4058-BC61-A6993AC50E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" y="998"/>
              <a:ext cx="0" cy="31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0" name="Freeform 1030">
              <a:extLst>
                <a:ext uri="{FF2B5EF4-FFF2-40B4-BE49-F238E27FC236}">
                  <a16:creationId xmlns:a16="http://schemas.microsoft.com/office/drawing/2014/main" id="{D187E5E8-986D-4353-B51E-B282288B5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1314"/>
              <a:ext cx="15" cy="10"/>
            </a:xfrm>
            <a:custGeom>
              <a:avLst/>
              <a:gdLst>
                <a:gd name="T0" fmla="*/ 0 w 15"/>
                <a:gd name="T1" fmla="*/ 0 h 10"/>
                <a:gd name="T2" fmla="*/ 14 w 15"/>
                <a:gd name="T3" fmla="*/ 0 h 10"/>
                <a:gd name="T4" fmla="*/ 14 w 15"/>
                <a:gd name="T5" fmla="*/ 9 h 10"/>
                <a:gd name="T6" fmla="*/ 0 w 15"/>
                <a:gd name="T7" fmla="*/ 0 h 10"/>
                <a:gd name="T8" fmla="*/ 0 w 15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0" y="0"/>
                  </a:moveTo>
                  <a:lnTo>
                    <a:pt x="14" y="0"/>
                  </a:lnTo>
                  <a:lnTo>
                    <a:pt x="14" y="9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1" name="Freeform 1031">
              <a:extLst>
                <a:ext uri="{FF2B5EF4-FFF2-40B4-BE49-F238E27FC236}">
                  <a16:creationId xmlns:a16="http://schemas.microsoft.com/office/drawing/2014/main" id="{7C281449-D6C5-459A-856D-1767F1249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3"/>
              <a:ext cx="144" cy="329"/>
            </a:xfrm>
            <a:custGeom>
              <a:avLst/>
              <a:gdLst>
                <a:gd name="T0" fmla="*/ 143 w 144"/>
                <a:gd name="T1" fmla="*/ 313 h 329"/>
                <a:gd name="T2" fmla="*/ 143 w 144"/>
                <a:gd name="T3" fmla="*/ 7 h 329"/>
                <a:gd name="T4" fmla="*/ 0 w 144"/>
                <a:gd name="T5" fmla="*/ 1 h 329"/>
                <a:gd name="T6" fmla="*/ 0 w 144"/>
                <a:gd name="T7" fmla="*/ 1 h 329"/>
                <a:gd name="T8" fmla="*/ 0 w 144"/>
                <a:gd name="T9" fmla="*/ 1 h 329"/>
                <a:gd name="T10" fmla="*/ 0 w 144"/>
                <a:gd name="T11" fmla="*/ 1 h 329"/>
                <a:gd name="T12" fmla="*/ 0 w 144"/>
                <a:gd name="T13" fmla="*/ 1 h 329"/>
                <a:gd name="T14" fmla="*/ 0 w 144"/>
                <a:gd name="T15" fmla="*/ 1 h 329"/>
                <a:gd name="T16" fmla="*/ 0 w 144"/>
                <a:gd name="T17" fmla="*/ 1 h 329"/>
                <a:gd name="T18" fmla="*/ 0 w 144"/>
                <a:gd name="T19" fmla="*/ 1 h 329"/>
                <a:gd name="T20" fmla="*/ 0 w 144"/>
                <a:gd name="T21" fmla="*/ 1 h 329"/>
                <a:gd name="T22" fmla="*/ 0 w 144"/>
                <a:gd name="T23" fmla="*/ 1 h 329"/>
                <a:gd name="T24" fmla="*/ 0 w 144"/>
                <a:gd name="T25" fmla="*/ 1 h 329"/>
                <a:gd name="T26" fmla="*/ 0 w 144"/>
                <a:gd name="T27" fmla="*/ 1 h 329"/>
                <a:gd name="T28" fmla="*/ 0 w 144"/>
                <a:gd name="T29" fmla="*/ 1 h 329"/>
                <a:gd name="T30" fmla="*/ 0 w 144"/>
                <a:gd name="T31" fmla="*/ 1 h 329"/>
                <a:gd name="T32" fmla="*/ 0 w 144"/>
                <a:gd name="T33" fmla="*/ 1 h 329"/>
                <a:gd name="T34" fmla="*/ 0 w 144"/>
                <a:gd name="T35" fmla="*/ 1 h 329"/>
                <a:gd name="T36" fmla="*/ 0 w 144"/>
                <a:gd name="T37" fmla="*/ 1 h 329"/>
                <a:gd name="T38" fmla="*/ 0 w 144"/>
                <a:gd name="T39" fmla="*/ 1 h 329"/>
                <a:gd name="T40" fmla="*/ 0 w 144"/>
                <a:gd name="T41" fmla="*/ 0 h 329"/>
                <a:gd name="T42" fmla="*/ 143 w 144"/>
                <a:gd name="T43" fmla="*/ 313 h 329"/>
                <a:gd name="T44" fmla="*/ 143 w 144"/>
                <a:gd name="T45" fmla="*/ 313 h 329"/>
                <a:gd name="T46" fmla="*/ 143 w 144"/>
                <a:gd name="T47" fmla="*/ 313 h 329"/>
                <a:gd name="T48" fmla="*/ 143 w 144"/>
                <a:gd name="T49" fmla="*/ 313 h 329"/>
                <a:gd name="T50" fmla="*/ 143 w 144"/>
                <a:gd name="T51" fmla="*/ 313 h 329"/>
                <a:gd name="T52" fmla="*/ 143 w 144"/>
                <a:gd name="T53" fmla="*/ 313 h 329"/>
                <a:gd name="T54" fmla="*/ 143 w 144"/>
                <a:gd name="T55" fmla="*/ 313 h 329"/>
                <a:gd name="T56" fmla="*/ 143 w 144"/>
                <a:gd name="T57" fmla="*/ 313 h 329"/>
                <a:gd name="T58" fmla="*/ 143 w 144"/>
                <a:gd name="T59" fmla="*/ 313 h 329"/>
                <a:gd name="T60" fmla="*/ 143 w 144"/>
                <a:gd name="T61" fmla="*/ 313 h 329"/>
                <a:gd name="T62" fmla="*/ 143 w 144"/>
                <a:gd name="T63" fmla="*/ 313 h 329"/>
                <a:gd name="T64" fmla="*/ 143 w 144"/>
                <a:gd name="T65" fmla="*/ 313 h 329"/>
                <a:gd name="T66" fmla="*/ 143 w 144"/>
                <a:gd name="T67" fmla="*/ 313 h 329"/>
                <a:gd name="T68" fmla="*/ 143 w 144"/>
                <a:gd name="T69" fmla="*/ 313 h 329"/>
                <a:gd name="T70" fmla="*/ 143 w 144"/>
                <a:gd name="T71" fmla="*/ 313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4" h="329">
                  <a:moveTo>
                    <a:pt x="0" y="328"/>
                  </a:moveTo>
                  <a:lnTo>
                    <a:pt x="143" y="313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0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2" name="AutoShape 1032">
              <a:extLst>
                <a:ext uri="{FF2B5EF4-FFF2-40B4-BE49-F238E27FC236}">
                  <a16:creationId xmlns:a16="http://schemas.microsoft.com/office/drawing/2014/main" id="{B0A30CE4-75BA-44FA-8F76-2C2D4D4985D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731" y="994"/>
              <a:ext cx="26" cy="328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3" name="Freeform 1033">
              <a:extLst>
                <a:ext uri="{FF2B5EF4-FFF2-40B4-BE49-F238E27FC236}">
                  <a16:creationId xmlns:a16="http://schemas.microsoft.com/office/drawing/2014/main" id="{15086ED1-0504-4A35-8B26-3A9160A61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2" y="988"/>
              <a:ext cx="78" cy="351"/>
            </a:xfrm>
            <a:custGeom>
              <a:avLst/>
              <a:gdLst>
                <a:gd name="T0" fmla="*/ 0 w 78"/>
                <a:gd name="T1" fmla="*/ 4 h 351"/>
                <a:gd name="T2" fmla="*/ 12 w 78"/>
                <a:gd name="T3" fmla="*/ 0 h 351"/>
                <a:gd name="T4" fmla="*/ 77 w 78"/>
                <a:gd name="T5" fmla="*/ 4 h 351"/>
                <a:gd name="T6" fmla="*/ 77 w 78"/>
                <a:gd name="T7" fmla="*/ 334 h 351"/>
                <a:gd name="T8" fmla="*/ 13 w 78"/>
                <a:gd name="T9" fmla="*/ 350 h 351"/>
                <a:gd name="T10" fmla="*/ 0 w 78"/>
                <a:gd name="T11" fmla="*/ 342 h 351"/>
                <a:gd name="T12" fmla="*/ 0 w 78"/>
                <a:gd name="T13" fmla="*/ 326 h 351"/>
                <a:gd name="T14" fmla="*/ 13 w 78"/>
                <a:gd name="T15" fmla="*/ 334 h 351"/>
                <a:gd name="T16" fmla="*/ 13 w 78"/>
                <a:gd name="T17" fmla="*/ 9 h 351"/>
                <a:gd name="T18" fmla="*/ 0 w 78"/>
                <a:gd name="T19" fmla="*/ 10 h 351"/>
                <a:gd name="T20" fmla="*/ 0 w 78"/>
                <a:gd name="T21" fmla="*/ 4 h 351"/>
                <a:gd name="T22" fmla="*/ 0 w 78"/>
                <a:gd name="T23" fmla="*/ 4 h 351"/>
                <a:gd name="T24" fmla="*/ 0 w 78"/>
                <a:gd name="T25" fmla="*/ 4 h 351"/>
                <a:gd name="T26" fmla="*/ 0 w 78"/>
                <a:gd name="T27" fmla="*/ 4 h 351"/>
                <a:gd name="T28" fmla="*/ 0 w 78"/>
                <a:gd name="T29" fmla="*/ 4 h 351"/>
                <a:gd name="T30" fmla="*/ 0 w 78"/>
                <a:gd name="T31" fmla="*/ 4 h 351"/>
                <a:gd name="T32" fmla="*/ 0 w 78"/>
                <a:gd name="T33" fmla="*/ 4 h 351"/>
                <a:gd name="T34" fmla="*/ 0 w 78"/>
                <a:gd name="T35" fmla="*/ 4 h 351"/>
                <a:gd name="T36" fmla="*/ 0 w 78"/>
                <a:gd name="T37" fmla="*/ 4 h 351"/>
                <a:gd name="T38" fmla="*/ 0 w 78"/>
                <a:gd name="T39" fmla="*/ 4 h 351"/>
                <a:gd name="T40" fmla="*/ 0 w 78"/>
                <a:gd name="T41" fmla="*/ 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8" h="351">
                  <a:moveTo>
                    <a:pt x="0" y="4"/>
                  </a:moveTo>
                  <a:lnTo>
                    <a:pt x="12" y="0"/>
                  </a:lnTo>
                  <a:lnTo>
                    <a:pt x="77" y="4"/>
                  </a:lnTo>
                  <a:lnTo>
                    <a:pt x="77" y="334"/>
                  </a:lnTo>
                  <a:lnTo>
                    <a:pt x="13" y="350"/>
                  </a:lnTo>
                  <a:lnTo>
                    <a:pt x="0" y="342"/>
                  </a:lnTo>
                  <a:lnTo>
                    <a:pt x="0" y="326"/>
                  </a:lnTo>
                  <a:lnTo>
                    <a:pt x="13" y="334"/>
                  </a:lnTo>
                  <a:lnTo>
                    <a:pt x="13" y="9"/>
                  </a:lnTo>
                  <a:lnTo>
                    <a:pt x="0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</a:path>
              </a:pathLst>
            </a:custGeom>
            <a:gradFill rotWithShape="0">
              <a:gsLst>
                <a:gs pos="0">
                  <a:srgbClr val="727272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F8F8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4" name="Line 1034">
              <a:extLst>
                <a:ext uri="{FF2B5EF4-FFF2-40B4-BE49-F238E27FC236}">
                  <a16:creationId xmlns:a16="http://schemas.microsoft.com/office/drawing/2014/main" id="{D7A14603-D457-4F98-B4F0-436211948A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1" y="994"/>
              <a:ext cx="0" cy="32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5" name="Freeform 1035">
              <a:extLst>
                <a:ext uri="{FF2B5EF4-FFF2-40B4-BE49-F238E27FC236}">
                  <a16:creationId xmlns:a16="http://schemas.microsoft.com/office/drawing/2014/main" id="{A224F413-85D9-473E-88CB-2CAF4BAEC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989"/>
              <a:ext cx="21" cy="350"/>
            </a:xfrm>
            <a:custGeom>
              <a:avLst/>
              <a:gdLst>
                <a:gd name="T0" fmla="*/ 0 w 21"/>
                <a:gd name="T1" fmla="*/ 3 h 350"/>
                <a:gd name="T2" fmla="*/ 13 w 21"/>
                <a:gd name="T3" fmla="*/ 0 h 350"/>
                <a:gd name="T4" fmla="*/ 20 w 21"/>
                <a:gd name="T5" fmla="*/ 0 h 350"/>
                <a:gd name="T6" fmla="*/ 20 w 21"/>
                <a:gd name="T7" fmla="*/ 349 h 350"/>
                <a:gd name="T8" fmla="*/ 13 w 21"/>
                <a:gd name="T9" fmla="*/ 349 h 350"/>
                <a:gd name="T10" fmla="*/ 0 w 21"/>
                <a:gd name="T11" fmla="*/ 341 h 350"/>
                <a:gd name="T12" fmla="*/ 0 w 21"/>
                <a:gd name="T13" fmla="*/ 325 h 350"/>
                <a:gd name="T14" fmla="*/ 14 w 21"/>
                <a:gd name="T15" fmla="*/ 333 h 350"/>
                <a:gd name="T16" fmla="*/ 14 w 21"/>
                <a:gd name="T17" fmla="*/ 6 h 350"/>
                <a:gd name="T18" fmla="*/ 0 w 21"/>
                <a:gd name="T19" fmla="*/ 9 h 350"/>
                <a:gd name="T20" fmla="*/ 0 w 21"/>
                <a:gd name="T21" fmla="*/ 3 h 350"/>
                <a:gd name="T22" fmla="*/ 0 w 21"/>
                <a:gd name="T23" fmla="*/ 3 h 350"/>
                <a:gd name="T24" fmla="*/ 0 w 21"/>
                <a:gd name="T25" fmla="*/ 3 h 350"/>
                <a:gd name="T26" fmla="*/ 0 w 21"/>
                <a:gd name="T27" fmla="*/ 3 h 350"/>
                <a:gd name="T28" fmla="*/ 0 w 21"/>
                <a:gd name="T29" fmla="*/ 3 h 350"/>
                <a:gd name="T30" fmla="*/ 0 w 21"/>
                <a:gd name="T31" fmla="*/ 3 h 350"/>
                <a:gd name="T32" fmla="*/ 0 w 21"/>
                <a:gd name="T33" fmla="*/ 3 h 350"/>
                <a:gd name="T34" fmla="*/ 0 w 21"/>
                <a:gd name="T35" fmla="*/ 3 h 350"/>
                <a:gd name="T36" fmla="*/ 0 w 21"/>
                <a:gd name="T37" fmla="*/ 3 h 350"/>
                <a:gd name="T38" fmla="*/ 0 w 21"/>
                <a:gd name="T39" fmla="*/ 3 h 350"/>
                <a:gd name="T40" fmla="*/ 0 w 21"/>
                <a:gd name="T41" fmla="*/ 3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350">
                  <a:moveTo>
                    <a:pt x="0" y="3"/>
                  </a:moveTo>
                  <a:lnTo>
                    <a:pt x="13" y="0"/>
                  </a:lnTo>
                  <a:lnTo>
                    <a:pt x="20" y="0"/>
                  </a:lnTo>
                  <a:lnTo>
                    <a:pt x="20" y="349"/>
                  </a:lnTo>
                  <a:lnTo>
                    <a:pt x="13" y="349"/>
                  </a:lnTo>
                  <a:lnTo>
                    <a:pt x="0" y="341"/>
                  </a:lnTo>
                  <a:lnTo>
                    <a:pt x="0" y="325"/>
                  </a:lnTo>
                  <a:lnTo>
                    <a:pt x="14" y="333"/>
                  </a:lnTo>
                  <a:lnTo>
                    <a:pt x="14" y="6"/>
                  </a:lnTo>
                  <a:lnTo>
                    <a:pt x="0" y="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8F8F8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486" name="Rectangle 1059">
            <a:extLst>
              <a:ext uri="{FF2B5EF4-FFF2-40B4-BE49-F238E27FC236}">
                <a16:creationId xmlns:a16="http://schemas.microsoft.com/office/drawing/2014/main" id="{97EBD681-738C-4582-8D72-9912A70D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787" y="4111542"/>
            <a:ext cx="539750" cy="17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359" tIns="31679" rIns="63359" bIns="31679" anchor="ctr"/>
          <a:lstStyle>
            <a:lvl1pPr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17500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6334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9509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266825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17240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1812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26384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0956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700" dirty="0">
                <a:solidFill>
                  <a:srgbClr val="002368"/>
                </a:solidFill>
                <a:latin typeface="다키 L" pitchFamily="2" charset="-127"/>
                <a:ea typeface="다키 L" pitchFamily="2" charset="-127"/>
              </a:rPr>
              <a:t>인증서버</a:t>
            </a:r>
          </a:p>
        </p:txBody>
      </p:sp>
      <p:pic>
        <p:nvPicPr>
          <p:cNvPr id="487" name="Picture 843">
            <a:extLst>
              <a:ext uri="{FF2B5EF4-FFF2-40B4-BE49-F238E27FC236}">
                <a16:creationId xmlns:a16="http://schemas.microsoft.com/office/drawing/2014/main" id="{83078639-8FDE-4E5A-A674-DA93EB57E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385" y="3985619"/>
            <a:ext cx="403417" cy="25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8" name="연결선: 꺾임 487">
            <a:extLst>
              <a:ext uri="{FF2B5EF4-FFF2-40B4-BE49-F238E27FC236}">
                <a16:creationId xmlns:a16="http://schemas.microsoft.com/office/drawing/2014/main" id="{510BB688-0A30-4C15-B6C6-C6D79DC42C55}"/>
              </a:ext>
            </a:extLst>
          </p:cNvPr>
          <p:cNvCxnSpPr>
            <a:cxnSpLocks/>
            <a:stCxn id="487" idx="1"/>
            <a:endCxn id="481" idx="1"/>
          </p:cNvCxnSpPr>
          <p:nvPr/>
        </p:nvCxnSpPr>
        <p:spPr>
          <a:xfrm rot="10800000">
            <a:off x="1070141" y="3904657"/>
            <a:ext cx="882245" cy="210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연결선: 꺾임 488">
            <a:extLst>
              <a:ext uri="{FF2B5EF4-FFF2-40B4-BE49-F238E27FC236}">
                <a16:creationId xmlns:a16="http://schemas.microsoft.com/office/drawing/2014/main" id="{1822BBCA-07CA-4DCC-9F5E-D0D303349EF5}"/>
              </a:ext>
            </a:extLst>
          </p:cNvPr>
          <p:cNvCxnSpPr>
            <a:cxnSpLocks/>
            <a:stCxn id="483" idx="3"/>
            <a:endCxn id="487" idx="2"/>
          </p:cNvCxnSpPr>
          <p:nvPr/>
        </p:nvCxnSpPr>
        <p:spPr>
          <a:xfrm>
            <a:off x="1023290" y="4088813"/>
            <a:ext cx="1130804" cy="156362"/>
          </a:xfrm>
          <a:prstGeom prst="bentConnector4">
            <a:avLst>
              <a:gd name="adj1" fmla="val -912"/>
              <a:gd name="adj2" fmla="val 246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AutoShape 409">
            <a:extLst>
              <a:ext uri="{FF2B5EF4-FFF2-40B4-BE49-F238E27FC236}">
                <a16:creationId xmlns:a16="http://schemas.microsoft.com/office/drawing/2014/main" id="{74371C9B-AF94-4631-9029-470BAFCA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792" y="4296807"/>
            <a:ext cx="478613" cy="139810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sp>
        <p:nvSpPr>
          <p:cNvPr id="491" name="AutoShape 409">
            <a:extLst>
              <a:ext uri="{FF2B5EF4-FFF2-40B4-BE49-F238E27FC236}">
                <a16:creationId xmlns:a16="http://schemas.microsoft.com/office/drawing/2014/main" id="{E0E3DF3B-5DDE-41B8-8B92-EE9907DE6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125" y="4523190"/>
            <a:ext cx="611082" cy="130409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latin typeface="다키 L" pitchFamily="2" charset="-127"/>
                <a:ea typeface="다키 L" pitchFamily="2" charset="-127"/>
              </a:rPr>
              <a:t>엔드포인트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2" name="AutoShape 409">
            <a:extLst>
              <a:ext uri="{FF2B5EF4-FFF2-40B4-BE49-F238E27FC236}">
                <a16:creationId xmlns:a16="http://schemas.microsoft.com/office/drawing/2014/main" id="{3C0FDA17-4D10-4E62-A112-6BDBD6558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828" y="3765217"/>
            <a:ext cx="335957" cy="140051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sp>
        <p:nvSpPr>
          <p:cNvPr id="493" name="Text Box 46">
            <a:extLst>
              <a:ext uri="{FF2B5EF4-FFF2-40B4-BE49-F238E27FC236}">
                <a16:creationId xmlns:a16="http://schemas.microsoft.com/office/drawing/2014/main" id="{53654FA6-D480-418B-9D25-6B0DAA5D1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636" y="4654147"/>
            <a:ext cx="8057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엔드포인트에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 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  <a:p>
            <a:pPr algn="l"/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다음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URI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가 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기재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4" name="Text Box 46">
            <a:extLst>
              <a:ext uri="{FF2B5EF4-FFF2-40B4-BE49-F238E27FC236}">
                <a16:creationId xmlns:a16="http://schemas.microsoft.com/office/drawing/2014/main" id="{23E09547-8EB5-4755-9C3F-0F1B16A42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011" y="4891348"/>
            <a:ext cx="18195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https://{compute}/v2/{tenant_id}/xxxx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495" name="연결선: 꺾임 494">
            <a:extLst>
              <a:ext uri="{FF2B5EF4-FFF2-40B4-BE49-F238E27FC236}">
                <a16:creationId xmlns:a16="http://schemas.microsoft.com/office/drawing/2014/main" id="{104B8054-82C0-4DF9-B3FA-62155FAB918A}"/>
              </a:ext>
            </a:extLst>
          </p:cNvPr>
          <p:cNvCxnSpPr>
            <a:cxnSpLocks/>
            <a:stCxn id="494" idx="0"/>
            <a:endCxn id="491" idx="2"/>
          </p:cNvCxnSpPr>
          <p:nvPr/>
        </p:nvCxnSpPr>
        <p:spPr>
          <a:xfrm rot="16200000" flipV="1">
            <a:off x="1657852" y="4771414"/>
            <a:ext cx="237749" cy="2119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Text Box 46">
            <a:extLst>
              <a:ext uri="{FF2B5EF4-FFF2-40B4-BE49-F238E27FC236}">
                <a16:creationId xmlns:a16="http://schemas.microsoft.com/office/drawing/2014/main" id="{52CDB123-B8D3-4330-9FE7-5917B1F75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91" y="3595879"/>
            <a:ext cx="14059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https://{identity}/v2/tokens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7" name="AutoShape 409">
            <a:extLst>
              <a:ext uri="{FF2B5EF4-FFF2-40B4-BE49-F238E27FC236}">
                <a16:creationId xmlns:a16="http://schemas.microsoft.com/office/drawing/2014/main" id="{191E6902-FA1D-4BCE-99F3-E48676A68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205" y="3758305"/>
            <a:ext cx="726331" cy="122055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계정패스워드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8" name="사각형: 둥근 모서리 497">
            <a:extLst>
              <a:ext uri="{FF2B5EF4-FFF2-40B4-BE49-F238E27FC236}">
                <a16:creationId xmlns:a16="http://schemas.microsoft.com/office/drawing/2014/main" id="{38871993-10BE-4FFE-BE3A-E9A9AF38C262}"/>
              </a:ext>
            </a:extLst>
          </p:cNvPr>
          <p:cNvSpPr/>
          <p:nvPr/>
        </p:nvSpPr>
        <p:spPr>
          <a:xfrm>
            <a:off x="4395869" y="833742"/>
            <a:ext cx="3601633" cy="1722701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499" name="그림 498">
            <a:extLst>
              <a:ext uri="{FF2B5EF4-FFF2-40B4-BE49-F238E27FC236}">
                <a16:creationId xmlns:a16="http://schemas.microsoft.com/office/drawing/2014/main" id="{C7E95F3E-1DAB-4EA5-8DCA-48429690A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23" y="860815"/>
            <a:ext cx="355086" cy="210090"/>
          </a:xfrm>
          <a:prstGeom prst="rect">
            <a:avLst/>
          </a:prstGeom>
        </p:spPr>
      </p:pic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5485849C-DEB6-4E4B-A3CD-3A0211B6AF4E}"/>
              </a:ext>
            </a:extLst>
          </p:cNvPr>
          <p:cNvSpPr/>
          <p:nvPr/>
        </p:nvSpPr>
        <p:spPr>
          <a:xfrm>
            <a:off x="4503006" y="854480"/>
            <a:ext cx="12987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 Node [Biz]</a:t>
            </a:r>
          </a:p>
        </p:txBody>
      </p:sp>
      <p:pic>
        <p:nvPicPr>
          <p:cNvPr id="501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E13BE257-D277-44E0-9995-0D85EDFAF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081733" y="853557"/>
            <a:ext cx="834084" cy="1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2" name="사각형: 둥근 모서리 501">
            <a:extLst>
              <a:ext uri="{FF2B5EF4-FFF2-40B4-BE49-F238E27FC236}">
                <a16:creationId xmlns:a16="http://schemas.microsoft.com/office/drawing/2014/main" id="{809AA032-41E7-4F01-A524-F87FABE388B9}"/>
              </a:ext>
            </a:extLst>
          </p:cNvPr>
          <p:cNvSpPr/>
          <p:nvPr/>
        </p:nvSpPr>
        <p:spPr>
          <a:xfrm>
            <a:off x="6386288" y="1112460"/>
            <a:ext cx="1529529" cy="1340838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03" name="직사각형 502">
            <a:extLst>
              <a:ext uri="{FF2B5EF4-FFF2-40B4-BE49-F238E27FC236}">
                <a16:creationId xmlns:a16="http://schemas.microsoft.com/office/drawing/2014/main" id="{A4678031-7B20-4A10-9C59-421ED05778BD}"/>
              </a:ext>
            </a:extLst>
          </p:cNvPr>
          <p:cNvSpPr/>
          <p:nvPr/>
        </p:nvSpPr>
        <p:spPr>
          <a:xfrm>
            <a:off x="6404088" y="1151470"/>
            <a:ext cx="980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서비스 프로세스</a:t>
            </a:r>
            <a:endParaRPr lang="ko-KR" altLang="en-US" dirty="0"/>
          </a:p>
        </p:txBody>
      </p:sp>
      <p:cxnSp>
        <p:nvCxnSpPr>
          <p:cNvPr id="507" name="연결선: 꺾임 506">
            <a:extLst>
              <a:ext uri="{FF2B5EF4-FFF2-40B4-BE49-F238E27FC236}">
                <a16:creationId xmlns:a16="http://schemas.microsoft.com/office/drawing/2014/main" id="{5214CF1D-557D-4FD8-9C2F-F0E0A5DF54D9}"/>
              </a:ext>
            </a:extLst>
          </p:cNvPr>
          <p:cNvCxnSpPr>
            <a:cxnSpLocks/>
            <a:stCxn id="458" idx="3"/>
            <a:endCxn id="512" idx="1"/>
          </p:cNvCxnSpPr>
          <p:nvPr/>
        </p:nvCxnSpPr>
        <p:spPr>
          <a:xfrm flipV="1">
            <a:off x="3896748" y="1193814"/>
            <a:ext cx="597542" cy="27941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연결선: 꺾임 507">
            <a:extLst>
              <a:ext uri="{FF2B5EF4-FFF2-40B4-BE49-F238E27FC236}">
                <a16:creationId xmlns:a16="http://schemas.microsoft.com/office/drawing/2014/main" id="{C22EC93F-535A-4658-B621-BA929DB26D44}"/>
              </a:ext>
            </a:extLst>
          </p:cNvPr>
          <p:cNvCxnSpPr>
            <a:cxnSpLocks/>
            <a:stCxn id="458" idx="3"/>
            <a:endCxn id="513" idx="1"/>
          </p:cNvCxnSpPr>
          <p:nvPr/>
        </p:nvCxnSpPr>
        <p:spPr>
          <a:xfrm flipV="1">
            <a:off x="3896748" y="1193814"/>
            <a:ext cx="1403875" cy="27941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사각형: 둥근 모서리 508">
            <a:extLst>
              <a:ext uri="{FF2B5EF4-FFF2-40B4-BE49-F238E27FC236}">
                <a16:creationId xmlns:a16="http://schemas.microsoft.com/office/drawing/2014/main" id="{95956A5D-1F9F-4AF4-AF23-742CD0CD2947}"/>
              </a:ext>
            </a:extLst>
          </p:cNvPr>
          <p:cNvSpPr/>
          <p:nvPr/>
        </p:nvSpPr>
        <p:spPr>
          <a:xfrm>
            <a:off x="5486804" y="1559781"/>
            <a:ext cx="853306" cy="88489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10" name="직사각형 509">
            <a:extLst>
              <a:ext uri="{FF2B5EF4-FFF2-40B4-BE49-F238E27FC236}">
                <a16:creationId xmlns:a16="http://schemas.microsoft.com/office/drawing/2014/main" id="{ED87B613-2EC6-4ED0-A6EA-C4B143041FCE}"/>
              </a:ext>
            </a:extLst>
          </p:cNvPr>
          <p:cNvSpPr/>
          <p:nvPr/>
        </p:nvSpPr>
        <p:spPr>
          <a:xfrm>
            <a:off x="5537276" y="1589856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11" name="사각형: 둥근 모서리 510">
            <a:extLst>
              <a:ext uri="{FF2B5EF4-FFF2-40B4-BE49-F238E27FC236}">
                <a16:creationId xmlns:a16="http://schemas.microsoft.com/office/drawing/2014/main" id="{CA3089AD-1A0B-4C64-A89C-8731C4A5871D}"/>
              </a:ext>
            </a:extLst>
          </p:cNvPr>
          <p:cNvSpPr/>
          <p:nvPr/>
        </p:nvSpPr>
        <p:spPr>
          <a:xfrm>
            <a:off x="4494289" y="1315192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 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12" name="직사각형 511">
            <a:extLst>
              <a:ext uri="{FF2B5EF4-FFF2-40B4-BE49-F238E27FC236}">
                <a16:creationId xmlns:a16="http://schemas.microsoft.com/office/drawing/2014/main" id="{4D3B6F6F-62B4-4B5C-AE3A-6E76921F321C}"/>
              </a:ext>
            </a:extLst>
          </p:cNvPr>
          <p:cNvSpPr/>
          <p:nvPr/>
        </p:nvSpPr>
        <p:spPr>
          <a:xfrm>
            <a:off x="4494290" y="1102948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13" name="직사각형 512">
            <a:extLst>
              <a:ext uri="{FF2B5EF4-FFF2-40B4-BE49-F238E27FC236}">
                <a16:creationId xmlns:a16="http://schemas.microsoft.com/office/drawing/2014/main" id="{8BF949BE-87C7-4623-BA98-94D196BDEF51}"/>
              </a:ext>
            </a:extLst>
          </p:cNvPr>
          <p:cNvSpPr/>
          <p:nvPr/>
        </p:nvSpPr>
        <p:spPr>
          <a:xfrm>
            <a:off x="5300623" y="1102948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14" name="Text Box 331">
            <a:extLst>
              <a:ext uri="{FF2B5EF4-FFF2-40B4-BE49-F238E27FC236}">
                <a16:creationId xmlns:a16="http://schemas.microsoft.com/office/drawing/2014/main" id="{75110F5D-9504-40B1-8ED2-A92AD320F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332" y="3205353"/>
            <a:ext cx="1008758" cy="411234"/>
          </a:xfrm>
          <a:prstGeom prst="rect">
            <a:avLst/>
          </a:prstGeom>
          <a:solidFill>
            <a:schemeClr val="bg1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indent="0" eaLnBrk="0" latinLnBrk="0" hangingPunct="0">
              <a:lnSpc>
                <a:spcPct val="120000"/>
              </a:lnSpc>
            </a:pPr>
            <a:endParaRPr lang="ko-KR" altLang="en-US" sz="700" dirty="0">
              <a:latin typeface="휴먼새내기체" pitchFamily="18" charset="-127"/>
              <a:ea typeface="휴먼새내기체" pitchFamily="18" charset="-127"/>
            </a:endParaRPr>
          </a:p>
        </p:txBody>
      </p:sp>
      <p:sp>
        <p:nvSpPr>
          <p:cNvPr id="515" name="Text Box 332">
            <a:extLst>
              <a:ext uri="{FF2B5EF4-FFF2-40B4-BE49-F238E27FC236}">
                <a16:creationId xmlns:a16="http://schemas.microsoft.com/office/drawing/2014/main" id="{49274809-3FD2-41BD-970A-6084D509C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409" y="3033110"/>
            <a:ext cx="1008758" cy="168275"/>
          </a:xfrm>
          <a:prstGeom prst="rect">
            <a:avLst/>
          </a:prstGeom>
          <a:solidFill>
            <a:srgbClr val="CCECFF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>
              <a:buFont typeface="Wingdings" panose="05000000000000000000" pitchFamily="2" charset="2"/>
              <a:buNone/>
            </a:pPr>
            <a:r>
              <a:rPr lang="en-US" altLang="ko-KR" sz="700" b="1" dirty="0">
                <a:latin typeface="휴먼새내기체" pitchFamily="18" charset="-127"/>
                <a:ea typeface="휴먼새내기체" pitchFamily="18" charset="-127"/>
              </a:rPr>
              <a:t>INGRESS</a:t>
            </a:r>
          </a:p>
        </p:txBody>
      </p:sp>
      <p:pic>
        <p:nvPicPr>
          <p:cNvPr id="516" name="그림 515">
            <a:extLst>
              <a:ext uri="{FF2B5EF4-FFF2-40B4-BE49-F238E27FC236}">
                <a16:creationId xmlns:a16="http://schemas.microsoft.com/office/drawing/2014/main" id="{9393A9CD-6F99-449B-A9D1-43157FFDDC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26" y="3028778"/>
            <a:ext cx="177759" cy="177759"/>
          </a:xfrm>
          <a:prstGeom prst="rect">
            <a:avLst/>
          </a:prstGeom>
        </p:spPr>
      </p:pic>
      <p:sp>
        <p:nvSpPr>
          <p:cNvPr id="517" name="사각형: 둥근 모서리 516">
            <a:extLst>
              <a:ext uri="{FF2B5EF4-FFF2-40B4-BE49-F238E27FC236}">
                <a16:creationId xmlns:a16="http://schemas.microsoft.com/office/drawing/2014/main" id="{5818C3F5-01E6-4E87-B06C-32970AC0AEA9}"/>
              </a:ext>
            </a:extLst>
          </p:cNvPr>
          <p:cNvSpPr/>
          <p:nvPr/>
        </p:nvSpPr>
        <p:spPr>
          <a:xfrm>
            <a:off x="2892583" y="4515066"/>
            <a:ext cx="1192828" cy="57199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8" name="AutoShape 48">
            <a:extLst>
              <a:ext uri="{FF2B5EF4-FFF2-40B4-BE49-F238E27FC236}">
                <a16:creationId xmlns:a16="http://schemas.microsoft.com/office/drawing/2014/main" id="{E8BB4E13-21C8-492A-A83B-0A1E803D4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110" y="4712464"/>
            <a:ext cx="914729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Task Queues </a:t>
            </a:r>
          </a:p>
        </p:txBody>
      </p:sp>
      <p:pic>
        <p:nvPicPr>
          <p:cNvPr id="519" name="그림 518">
            <a:extLst>
              <a:ext uri="{FF2B5EF4-FFF2-40B4-BE49-F238E27FC236}">
                <a16:creationId xmlns:a16="http://schemas.microsoft.com/office/drawing/2014/main" id="{82FA7781-FE87-42CC-B2E6-F3DA210F59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979" y="4748867"/>
            <a:ext cx="206788" cy="219947"/>
          </a:xfrm>
          <a:prstGeom prst="rect">
            <a:avLst/>
          </a:prstGeom>
        </p:spPr>
      </p:pic>
      <p:sp>
        <p:nvSpPr>
          <p:cNvPr id="520" name="직사각형 519">
            <a:extLst>
              <a:ext uri="{FF2B5EF4-FFF2-40B4-BE49-F238E27FC236}">
                <a16:creationId xmlns:a16="http://schemas.microsoft.com/office/drawing/2014/main" id="{4CE55675-6491-40CD-9086-1200A83F7666}"/>
              </a:ext>
            </a:extLst>
          </p:cNvPr>
          <p:cNvSpPr/>
          <p:nvPr/>
        </p:nvSpPr>
        <p:spPr>
          <a:xfrm>
            <a:off x="2880017" y="4508767"/>
            <a:ext cx="112414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Message Queue</a:t>
            </a:r>
          </a:p>
        </p:txBody>
      </p:sp>
      <p:sp>
        <p:nvSpPr>
          <p:cNvPr id="521" name="사각형: 둥근 모서리 520">
            <a:extLst>
              <a:ext uri="{FF2B5EF4-FFF2-40B4-BE49-F238E27FC236}">
                <a16:creationId xmlns:a16="http://schemas.microsoft.com/office/drawing/2014/main" id="{8692234B-F53C-43CD-8B77-B1E7E2E7CB53}"/>
              </a:ext>
            </a:extLst>
          </p:cNvPr>
          <p:cNvSpPr/>
          <p:nvPr/>
        </p:nvSpPr>
        <p:spPr>
          <a:xfrm>
            <a:off x="3000163" y="3252088"/>
            <a:ext cx="884960" cy="296316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    Spring Cloud Gateway </a:t>
            </a:r>
          </a:p>
        </p:txBody>
      </p:sp>
      <p:pic>
        <p:nvPicPr>
          <p:cNvPr id="522" name="그림 521">
            <a:extLst>
              <a:ext uri="{FF2B5EF4-FFF2-40B4-BE49-F238E27FC236}">
                <a16:creationId xmlns:a16="http://schemas.microsoft.com/office/drawing/2014/main" id="{81D64A86-1C4F-4AF6-B3ED-FA4375472C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65" y="3253535"/>
            <a:ext cx="197788" cy="131056"/>
          </a:xfrm>
          <a:prstGeom prst="rect">
            <a:avLst/>
          </a:prstGeom>
        </p:spPr>
      </p:pic>
      <p:cxnSp>
        <p:nvCxnSpPr>
          <p:cNvPr id="523" name="연결선: 꺾임 522">
            <a:extLst>
              <a:ext uri="{FF2B5EF4-FFF2-40B4-BE49-F238E27FC236}">
                <a16:creationId xmlns:a16="http://schemas.microsoft.com/office/drawing/2014/main" id="{39002344-5089-41F6-898D-91D2BB959155}"/>
              </a:ext>
            </a:extLst>
          </p:cNvPr>
          <p:cNvCxnSpPr>
            <a:cxnSpLocks/>
            <a:stCxn id="487" idx="0"/>
            <a:endCxn id="521" idx="1"/>
          </p:cNvCxnSpPr>
          <p:nvPr/>
        </p:nvCxnSpPr>
        <p:spPr>
          <a:xfrm rot="5400000" flipH="1" flipV="1">
            <a:off x="2284442" y="3269899"/>
            <a:ext cx="585373" cy="8460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연결선: 꺾임 523">
            <a:extLst>
              <a:ext uri="{FF2B5EF4-FFF2-40B4-BE49-F238E27FC236}">
                <a16:creationId xmlns:a16="http://schemas.microsoft.com/office/drawing/2014/main" id="{99E2A2FE-B62D-4663-ADBF-FEC6E9BD6B2E}"/>
              </a:ext>
            </a:extLst>
          </p:cNvPr>
          <p:cNvCxnSpPr>
            <a:cxnSpLocks/>
            <a:stCxn id="521" idx="3"/>
            <a:endCxn id="526" idx="1"/>
          </p:cNvCxnSpPr>
          <p:nvPr/>
        </p:nvCxnSpPr>
        <p:spPr>
          <a:xfrm flipV="1">
            <a:off x="3885123" y="1999536"/>
            <a:ext cx="626561" cy="14007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연결선: 꺾임 524">
            <a:extLst>
              <a:ext uri="{FF2B5EF4-FFF2-40B4-BE49-F238E27FC236}">
                <a16:creationId xmlns:a16="http://schemas.microsoft.com/office/drawing/2014/main" id="{31F214C5-6E7B-4AED-BE77-F1A4F8BEADEB}"/>
              </a:ext>
            </a:extLst>
          </p:cNvPr>
          <p:cNvCxnSpPr>
            <a:cxnSpLocks/>
            <a:stCxn id="521" idx="3"/>
            <a:endCxn id="509" idx="1"/>
          </p:cNvCxnSpPr>
          <p:nvPr/>
        </p:nvCxnSpPr>
        <p:spPr>
          <a:xfrm flipV="1">
            <a:off x="3885123" y="2002227"/>
            <a:ext cx="1601681" cy="13980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사각형: 둥근 모서리 525">
            <a:extLst>
              <a:ext uri="{FF2B5EF4-FFF2-40B4-BE49-F238E27FC236}">
                <a16:creationId xmlns:a16="http://schemas.microsoft.com/office/drawing/2014/main" id="{FD52C8EC-CB47-4C07-BE7A-8952D409CAE2}"/>
              </a:ext>
            </a:extLst>
          </p:cNvPr>
          <p:cNvSpPr/>
          <p:nvPr/>
        </p:nvSpPr>
        <p:spPr>
          <a:xfrm>
            <a:off x="4511684" y="1563025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8189E0CE-8ED6-48E2-9691-85E4AE5DC708}"/>
              </a:ext>
            </a:extLst>
          </p:cNvPr>
          <p:cNvSpPr/>
          <p:nvPr/>
        </p:nvSpPr>
        <p:spPr>
          <a:xfrm>
            <a:off x="4559451" y="1590688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528" name="연결선: 꺾임 527">
            <a:extLst>
              <a:ext uri="{FF2B5EF4-FFF2-40B4-BE49-F238E27FC236}">
                <a16:creationId xmlns:a16="http://schemas.microsoft.com/office/drawing/2014/main" id="{77A9ED35-EEE0-4D81-92A4-DEB0FEDFC9CE}"/>
              </a:ext>
            </a:extLst>
          </p:cNvPr>
          <p:cNvCxnSpPr>
            <a:cxnSpLocks/>
            <a:stCxn id="530" idx="2"/>
            <a:endCxn id="435" idx="3"/>
          </p:cNvCxnSpPr>
          <p:nvPr/>
        </p:nvCxnSpPr>
        <p:spPr>
          <a:xfrm rot="5400000">
            <a:off x="5246133" y="4778811"/>
            <a:ext cx="614145" cy="1277111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연결선: 꺾임 528">
            <a:extLst>
              <a:ext uri="{FF2B5EF4-FFF2-40B4-BE49-F238E27FC236}">
                <a16:creationId xmlns:a16="http://schemas.microsoft.com/office/drawing/2014/main" id="{B399470B-B3B2-4A06-97C0-DA9326D6E7EA}"/>
              </a:ext>
            </a:extLst>
          </p:cNvPr>
          <p:cNvCxnSpPr>
            <a:cxnSpLocks/>
            <a:stCxn id="498" idx="2"/>
            <a:endCxn id="435" idx="3"/>
          </p:cNvCxnSpPr>
          <p:nvPr/>
        </p:nvCxnSpPr>
        <p:spPr>
          <a:xfrm rot="5400000">
            <a:off x="3971670" y="3499423"/>
            <a:ext cx="3167996" cy="1282037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0" name="사각형: 둥근 모서리 529">
            <a:extLst>
              <a:ext uri="{FF2B5EF4-FFF2-40B4-BE49-F238E27FC236}">
                <a16:creationId xmlns:a16="http://schemas.microsoft.com/office/drawing/2014/main" id="{12B2607B-E76D-4680-A12E-B9B6A0DD221E}"/>
              </a:ext>
            </a:extLst>
          </p:cNvPr>
          <p:cNvSpPr/>
          <p:nvPr/>
        </p:nvSpPr>
        <p:spPr>
          <a:xfrm>
            <a:off x="4390943" y="3456278"/>
            <a:ext cx="3601633" cy="16540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31" name="그림 530">
            <a:extLst>
              <a:ext uri="{FF2B5EF4-FFF2-40B4-BE49-F238E27FC236}">
                <a16:creationId xmlns:a16="http://schemas.microsoft.com/office/drawing/2014/main" id="{198CBD69-8781-44B4-9D9A-AC33A4627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404" y="3480064"/>
            <a:ext cx="355086" cy="210090"/>
          </a:xfrm>
          <a:prstGeom prst="rect">
            <a:avLst/>
          </a:prstGeom>
        </p:spPr>
      </p:pic>
      <p:sp>
        <p:nvSpPr>
          <p:cNvPr id="532" name="사각형: 둥근 모서리 531">
            <a:extLst>
              <a:ext uri="{FF2B5EF4-FFF2-40B4-BE49-F238E27FC236}">
                <a16:creationId xmlns:a16="http://schemas.microsoft.com/office/drawing/2014/main" id="{C6C5D76F-FC6C-4146-9C05-C3D61F31DE8E}"/>
              </a:ext>
            </a:extLst>
          </p:cNvPr>
          <p:cNvSpPr/>
          <p:nvPr/>
        </p:nvSpPr>
        <p:spPr>
          <a:xfrm>
            <a:off x="5478178" y="4171411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33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BF4ACAAB-2426-4F1D-A545-42C4BC3A4C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124590" y="3480065"/>
            <a:ext cx="783418" cy="17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4" name="직사각형 533">
            <a:extLst>
              <a:ext uri="{FF2B5EF4-FFF2-40B4-BE49-F238E27FC236}">
                <a16:creationId xmlns:a16="http://schemas.microsoft.com/office/drawing/2014/main" id="{A6CFD975-A597-4CAE-A40C-73D646A8DA10}"/>
              </a:ext>
            </a:extLst>
          </p:cNvPr>
          <p:cNvSpPr/>
          <p:nvPr/>
        </p:nvSpPr>
        <p:spPr>
          <a:xfrm>
            <a:off x="5291996" y="3722920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35" name="사각형: 둥근 모서리 534">
            <a:extLst>
              <a:ext uri="{FF2B5EF4-FFF2-40B4-BE49-F238E27FC236}">
                <a16:creationId xmlns:a16="http://schemas.microsoft.com/office/drawing/2014/main" id="{FC9E5165-9392-4653-9B30-EDEA07C3EE6A}"/>
              </a:ext>
            </a:extLst>
          </p:cNvPr>
          <p:cNvSpPr/>
          <p:nvPr/>
        </p:nvSpPr>
        <p:spPr>
          <a:xfrm>
            <a:off x="4494288" y="3935164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 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36" name="직사각형 535">
            <a:extLst>
              <a:ext uri="{FF2B5EF4-FFF2-40B4-BE49-F238E27FC236}">
                <a16:creationId xmlns:a16="http://schemas.microsoft.com/office/drawing/2014/main" id="{E3F4F7ED-C833-487B-9941-6E7539576820}"/>
              </a:ext>
            </a:extLst>
          </p:cNvPr>
          <p:cNvSpPr/>
          <p:nvPr/>
        </p:nvSpPr>
        <p:spPr>
          <a:xfrm>
            <a:off x="5525619" y="4202307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37" name="사각형: 둥근 모서리 536">
            <a:extLst>
              <a:ext uri="{FF2B5EF4-FFF2-40B4-BE49-F238E27FC236}">
                <a16:creationId xmlns:a16="http://schemas.microsoft.com/office/drawing/2014/main" id="{08C9147B-62A6-4B03-9546-470D2D232900}"/>
              </a:ext>
            </a:extLst>
          </p:cNvPr>
          <p:cNvSpPr/>
          <p:nvPr/>
        </p:nvSpPr>
        <p:spPr>
          <a:xfrm>
            <a:off x="6392704" y="3732680"/>
            <a:ext cx="1523113" cy="1311753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40" name="직사각형 539">
            <a:extLst>
              <a:ext uri="{FF2B5EF4-FFF2-40B4-BE49-F238E27FC236}">
                <a16:creationId xmlns:a16="http://schemas.microsoft.com/office/drawing/2014/main" id="{4B720D8D-B8D1-429D-BFCF-B1D0E08BE835}"/>
              </a:ext>
            </a:extLst>
          </p:cNvPr>
          <p:cNvSpPr/>
          <p:nvPr/>
        </p:nvSpPr>
        <p:spPr>
          <a:xfrm>
            <a:off x="6363278" y="3765217"/>
            <a:ext cx="14062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인터페이스 프로세스</a:t>
            </a:r>
            <a:endParaRPr lang="ko-KR" altLang="en-US" dirty="0"/>
          </a:p>
        </p:txBody>
      </p:sp>
      <p:sp>
        <p:nvSpPr>
          <p:cNvPr id="541" name="직사각형 540">
            <a:extLst>
              <a:ext uri="{FF2B5EF4-FFF2-40B4-BE49-F238E27FC236}">
                <a16:creationId xmlns:a16="http://schemas.microsoft.com/office/drawing/2014/main" id="{187146A4-67AF-4D3E-9C49-70950A77A11D}"/>
              </a:ext>
            </a:extLst>
          </p:cNvPr>
          <p:cNvSpPr/>
          <p:nvPr/>
        </p:nvSpPr>
        <p:spPr>
          <a:xfrm>
            <a:off x="4503006" y="3481832"/>
            <a:ext cx="1604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[Interface]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cxnSp>
        <p:nvCxnSpPr>
          <p:cNvPr id="542" name="연결선: 꺾임 541">
            <a:extLst>
              <a:ext uri="{FF2B5EF4-FFF2-40B4-BE49-F238E27FC236}">
                <a16:creationId xmlns:a16="http://schemas.microsoft.com/office/drawing/2014/main" id="{5019D5F7-DF41-4738-9A98-4CE643ED8BE2}"/>
              </a:ext>
            </a:extLst>
          </p:cNvPr>
          <p:cNvCxnSpPr>
            <a:cxnSpLocks/>
            <a:stCxn id="406" idx="2"/>
            <a:endCxn id="462" idx="2"/>
          </p:cNvCxnSpPr>
          <p:nvPr/>
        </p:nvCxnSpPr>
        <p:spPr>
          <a:xfrm rot="5400000" flipH="1" flipV="1">
            <a:off x="1505434" y="3854978"/>
            <a:ext cx="3378175" cy="511485"/>
          </a:xfrm>
          <a:prstGeom prst="bentConnector3">
            <a:avLst>
              <a:gd name="adj1" fmla="val 16434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연결선: 꺾임 542">
            <a:extLst>
              <a:ext uri="{FF2B5EF4-FFF2-40B4-BE49-F238E27FC236}">
                <a16:creationId xmlns:a16="http://schemas.microsoft.com/office/drawing/2014/main" id="{8AC8EE26-70D0-415C-9471-BE27E2191176}"/>
              </a:ext>
            </a:extLst>
          </p:cNvPr>
          <p:cNvCxnSpPr>
            <a:cxnSpLocks/>
            <a:stCxn id="521" idx="3"/>
            <a:endCxn id="545" idx="1"/>
          </p:cNvCxnSpPr>
          <p:nvPr/>
        </p:nvCxnSpPr>
        <p:spPr>
          <a:xfrm>
            <a:off x="3885123" y="3400246"/>
            <a:ext cx="609309" cy="1210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연결선: 꺾임 543">
            <a:extLst>
              <a:ext uri="{FF2B5EF4-FFF2-40B4-BE49-F238E27FC236}">
                <a16:creationId xmlns:a16="http://schemas.microsoft.com/office/drawing/2014/main" id="{6BD5CDED-B508-4E81-838B-860FFE6B42B2}"/>
              </a:ext>
            </a:extLst>
          </p:cNvPr>
          <p:cNvCxnSpPr>
            <a:cxnSpLocks/>
            <a:stCxn id="521" idx="3"/>
            <a:endCxn id="532" idx="1"/>
          </p:cNvCxnSpPr>
          <p:nvPr/>
        </p:nvCxnSpPr>
        <p:spPr>
          <a:xfrm>
            <a:off x="3885123" y="3400246"/>
            <a:ext cx="1593055" cy="12076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사각형: 둥근 모서리 544">
            <a:extLst>
              <a:ext uri="{FF2B5EF4-FFF2-40B4-BE49-F238E27FC236}">
                <a16:creationId xmlns:a16="http://schemas.microsoft.com/office/drawing/2014/main" id="{40770579-DDCE-4BA6-859A-E178EB87E771}"/>
              </a:ext>
            </a:extLst>
          </p:cNvPr>
          <p:cNvSpPr/>
          <p:nvPr/>
        </p:nvSpPr>
        <p:spPr>
          <a:xfrm>
            <a:off x="4494432" y="4174655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46" name="직사각형 545">
            <a:extLst>
              <a:ext uri="{FF2B5EF4-FFF2-40B4-BE49-F238E27FC236}">
                <a16:creationId xmlns:a16="http://schemas.microsoft.com/office/drawing/2014/main" id="{EDAE0296-56BF-4CA4-A7BE-8DF69B36F570}"/>
              </a:ext>
            </a:extLst>
          </p:cNvPr>
          <p:cNvSpPr/>
          <p:nvPr/>
        </p:nvSpPr>
        <p:spPr>
          <a:xfrm>
            <a:off x="4547046" y="4209480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547" name="연결선: 꺾임 546">
            <a:extLst>
              <a:ext uri="{FF2B5EF4-FFF2-40B4-BE49-F238E27FC236}">
                <a16:creationId xmlns:a16="http://schemas.microsoft.com/office/drawing/2014/main" id="{CBBF02C8-5DAE-48C6-8843-DB5CE15101C3}"/>
              </a:ext>
            </a:extLst>
          </p:cNvPr>
          <p:cNvCxnSpPr>
            <a:cxnSpLocks/>
            <a:stCxn id="649" idx="1"/>
            <a:endCxn id="519" idx="2"/>
          </p:cNvCxnSpPr>
          <p:nvPr/>
        </p:nvCxnSpPr>
        <p:spPr>
          <a:xfrm rot="10800000" flipV="1">
            <a:off x="3902373" y="2882486"/>
            <a:ext cx="4602668" cy="2086327"/>
          </a:xfrm>
          <a:prstGeom prst="bentConnector4">
            <a:avLst>
              <a:gd name="adj1" fmla="val 48877"/>
              <a:gd name="adj2" fmla="val 110957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연결선: 꺾임 547">
            <a:extLst>
              <a:ext uri="{FF2B5EF4-FFF2-40B4-BE49-F238E27FC236}">
                <a16:creationId xmlns:a16="http://schemas.microsoft.com/office/drawing/2014/main" id="{F567FAA9-A26E-4765-86DA-B35DA613C8D1}"/>
              </a:ext>
            </a:extLst>
          </p:cNvPr>
          <p:cNvCxnSpPr>
            <a:cxnSpLocks/>
            <a:stCxn id="649" idx="1"/>
            <a:endCxn id="519" idx="2"/>
          </p:cNvCxnSpPr>
          <p:nvPr/>
        </p:nvCxnSpPr>
        <p:spPr>
          <a:xfrm rot="10800000" flipV="1">
            <a:off x="3902373" y="2882486"/>
            <a:ext cx="4602668" cy="2086327"/>
          </a:xfrm>
          <a:prstGeom prst="bentConnector4">
            <a:avLst>
              <a:gd name="adj1" fmla="val 48877"/>
              <a:gd name="adj2" fmla="val 110957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연결선: 꺾임 548">
            <a:extLst>
              <a:ext uri="{FF2B5EF4-FFF2-40B4-BE49-F238E27FC236}">
                <a16:creationId xmlns:a16="http://schemas.microsoft.com/office/drawing/2014/main" id="{E503124F-7B82-4605-B830-ED4D3407D807}"/>
              </a:ext>
            </a:extLst>
          </p:cNvPr>
          <p:cNvCxnSpPr>
            <a:cxnSpLocks/>
            <a:stCxn id="515" idx="3"/>
            <a:endCxn id="519" idx="3"/>
          </p:cNvCxnSpPr>
          <p:nvPr/>
        </p:nvCxnSpPr>
        <p:spPr>
          <a:xfrm>
            <a:off x="3961167" y="3117248"/>
            <a:ext cx="44600" cy="1741593"/>
          </a:xfrm>
          <a:prstGeom prst="bentConnector3">
            <a:avLst>
              <a:gd name="adj1" fmla="val 612556"/>
            </a:avLst>
          </a:prstGeom>
          <a:ln w="28575">
            <a:solidFill>
              <a:schemeClr val="accent2"/>
            </a:solidFill>
            <a:prstDash val="lgDashDot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사각형: 둥근 모서리 549">
            <a:extLst>
              <a:ext uri="{FF2B5EF4-FFF2-40B4-BE49-F238E27FC236}">
                <a16:creationId xmlns:a16="http://schemas.microsoft.com/office/drawing/2014/main" id="{BB94D1AA-8033-4831-A712-BCF7749C68A0}"/>
              </a:ext>
            </a:extLst>
          </p:cNvPr>
          <p:cNvSpPr/>
          <p:nvPr/>
        </p:nvSpPr>
        <p:spPr>
          <a:xfrm>
            <a:off x="4538084" y="1944461"/>
            <a:ext cx="762538" cy="171120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51" name="사각형: 둥근 모서리 550">
            <a:extLst>
              <a:ext uri="{FF2B5EF4-FFF2-40B4-BE49-F238E27FC236}">
                <a16:creationId xmlns:a16="http://schemas.microsoft.com/office/drawing/2014/main" id="{884D9BBD-81EF-4611-AA03-B81688F39165}"/>
              </a:ext>
            </a:extLst>
          </p:cNvPr>
          <p:cNvSpPr/>
          <p:nvPr/>
        </p:nvSpPr>
        <p:spPr>
          <a:xfrm>
            <a:off x="4543070" y="2170237"/>
            <a:ext cx="710557" cy="16933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52" name="그룹 551">
            <a:extLst>
              <a:ext uri="{FF2B5EF4-FFF2-40B4-BE49-F238E27FC236}">
                <a16:creationId xmlns:a16="http://schemas.microsoft.com/office/drawing/2014/main" id="{4A73871E-115C-4C72-9E07-39BB6256B58D}"/>
              </a:ext>
            </a:extLst>
          </p:cNvPr>
          <p:cNvGrpSpPr/>
          <p:nvPr/>
        </p:nvGrpSpPr>
        <p:grpSpPr>
          <a:xfrm>
            <a:off x="5120923" y="1929840"/>
            <a:ext cx="205187" cy="198343"/>
            <a:chOff x="5213886" y="1690790"/>
            <a:chExt cx="205187" cy="198343"/>
          </a:xfrm>
        </p:grpSpPr>
        <p:sp>
          <p:nvSpPr>
            <p:cNvPr id="553" name="Oval 159">
              <a:extLst>
                <a:ext uri="{FF2B5EF4-FFF2-40B4-BE49-F238E27FC236}">
                  <a16:creationId xmlns:a16="http://schemas.microsoft.com/office/drawing/2014/main" id="{5214436E-92A1-45A8-A41D-B16F5258A4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54" name="그림 553">
              <a:extLst>
                <a:ext uri="{FF2B5EF4-FFF2-40B4-BE49-F238E27FC236}">
                  <a16:creationId xmlns:a16="http://schemas.microsoft.com/office/drawing/2014/main" id="{FC0D2740-54B5-4285-AD7B-746A50A1F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555" name="그룹 554">
            <a:extLst>
              <a:ext uri="{FF2B5EF4-FFF2-40B4-BE49-F238E27FC236}">
                <a16:creationId xmlns:a16="http://schemas.microsoft.com/office/drawing/2014/main" id="{8FC9D1D1-535C-44D2-80D3-6EA1F3CC1FAA}"/>
              </a:ext>
            </a:extLst>
          </p:cNvPr>
          <p:cNvGrpSpPr/>
          <p:nvPr/>
        </p:nvGrpSpPr>
        <p:grpSpPr>
          <a:xfrm>
            <a:off x="5125909" y="2162744"/>
            <a:ext cx="205187" cy="198343"/>
            <a:chOff x="5213886" y="1690790"/>
            <a:chExt cx="205187" cy="198343"/>
          </a:xfrm>
        </p:grpSpPr>
        <p:sp>
          <p:nvSpPr>
            <p:cNvPr id="556" name="Oval 159">
              <a:extLst>
                <a:ext uri="{FF2B5EF4-FFF2-40B4-BE49-F238E27FC236}">
                  <a16:creationId xmlns:a16="http://schemas.microsoft.com/office/drawing/2014/main" id="{9B46B3AF-4F7C-4114-AD29-A75B976E8A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57" name="그림 556">
              <a:extLst>
                <a:ext uri="{FF2B5EF4-FFF2-40B4-BE49-F238E27FC236}">
                  <a16:creationId xmlns:a16="http://schemas.microsoft.com/office/drawing/2014/main" id="{000E905F-DEDC-416E-9C4A-8B9EC6D75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58" name="사각형: 둥근 모서리 557">
            <a:extLst>
              <a:ext uri="{FF2B5EF4-FFF2-40B4-BE49-F238E27FC236}">
                <a16:creationId xmlns:a16="http://schemas.microsoft.com/office/drawing/2014/main" id="{742C1FC8-7DA6-4BEC-AC86-44A7041153CC}"/>
              </a:ext>
            </a:extLst>
          </p:cNvPr>
          <p:cNvSpPr/>
          <p:nvPr/>
        </p:nvSpPr>
        <p:spPr>
          <a:xfrm>
            <a:off x="5537425" y="1926884"/>
            <a:ext cx="758274" cy="180312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 보안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59" name="그룹 558">
            <a:extLst>
              <a:ext uri="{FF2B5EF4-FFF2-40B4-BE49-F238E27FC236}">
                <a16:creationId xmlns:a16="http://schemas.microsoft.com/office/drawing/2014/main" id="{003D7E74-FA0F-4E07-BB5C-2CB150F36A53}"/>
              </a:ext>
            </a:extLst>
          </p:cNvPr>
          <p:cNvGrpSpPr/>
          <p:nvPr/>
        </p:nvGrpSpPr>
        <p:grpSpPr>
          <a:xfrm>
            <a:off x="6103016" y="1910765"/>
            <a:ext cx="205187" cy="198343"/>
            <a:chOff x="5213886" y="1690790"/>
            <a:chExt cx="205187" cy="198343"/>
          </a:xfrm>
        </p:grpSpPr>
        <p:sp>
          <p:nvSpPr>
            <p:cNvPr id="560" name="Oval 159">
              <a:extLst>
                <a:ext uri="{FF2B5EF4-FFF2-40B4-BE49-F238E27FC236}">
                  <a16:creationId xmlns:a16="http://schemas.microsoft.com/office/drawing/2014/main" id="{9D836CFC-5F59-4683-B902-0F54D62C3B4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61" name="그림 560">
              <a:extLst>
                <a:ext uri="{FF2B5EF4-FFF2-40B4-BE49-F238E27FC236}">
                  <a16:creationId xmlns:a16="http://schemas.microsoft.com/office/drawing/2014/main" id="{D710694D-D0B3-4E5C-AB21-977CA2FA3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62" name="사각형: 둥근 모서리 561">
            <a:extLst>
              <a:ext uri="{FF2B5EF4-FFF2-40B4-BE49-F238E27FC236}">
                <a16:creationId xmlns:a16="http://schemas.microsoft.com/office/drawing/2014/main" id="{C2B49402-C974-46B5-97E1-C737EDE2B4B1}"/>
              </a:ext>
            </a:extLst>
          </p:cNvPr>
          <p:cNvSpPr/>
          <p:nvPr/>
        </p:nvSpPr>
        <p:spPr>
          <a:xfrm>
            <a:off x="5530967" y="2168549"/>
            <a:ext cx="764732" cy="162924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연계서비스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63" name="그룹 562">
            <a:extLst>
              <a:ext uri="{FF2B5EF4-FFF2-40B4-BE49-F238E27FC236}">
                <a16:creationId xmlns:a16="http://schemas.microsoft.com/office/drawing/2014/main" id="{51F12125-7F5D-4F1F-A412-06B96FE0DF52}"/>
              </a:ext>
            </a:extLst>
          </p:cNvPr>
          <p:cNvGrpSpPr/>
          <p:nvPr/>
        </p:nvGrpSpPr>
        <p:grpSpPr>
          <a:xfrm>
            <a:off x="6087932" y="2143804"/>
            <a:ext cx="205187" cy="198343"/>
            <a:chOff x="5213886" y="1690790"/>
            <a:chExt cx="205187" cy="198343"/>
          </a:xfrm>
        </p:grpSpPr>
        <p:sp>
          <p:nvSpPr>
            <p:cNvPr id="564" name="Oval 159">
              <a:extLst>
                <a:ext uri="{FF2B5EF4-FFF2-40B4-BE49-F238E27FC236}">
                  <a16:creationId xmlns:a16="http://schemas.microsoft.com/office/drawing/2014/main" id="{5F45C35D-CCA6-4C1E-98B1-A50314105D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65" name="그림 564">
              <a:extLst>
                <a:ext uri="{FF2B5EF4-FFF2-40B4-BE49-F238E27FC236}">
                  <a16:creationId xmlns:a16="http://schemas.microsoft.com/office/drawing/2014/main" id="{301A65A6-4B75-488A-99AF-D12CD8949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66" name="사각형: 둥근 모서리 565">
            <a:extLst>
              <a:ext uri="{FF2B5EF4-FFF2-40B4-BE49-F238E27FC236}">
                <a16:creationId xmlns:a16="http://schemas.microsoft.com/office/drawing/2014/main" id="{A36219FB-76D7-432A-9127-B05659A91D2D}"/>
              </a:ext>
            </a:extLst>
          </p:cNvPr>
          <p:cNvSpPr/>
          <p:nvPr/>
        </p:nvSpPr>
        <p:spPr>
          <a:xfrm>
            <a:off x="5509057" y="4614681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연계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67" name="그룹 566">
            <a:extLst>
              <a:ext uri="{FF2B5EF4-FFF2-40B4-BE49-F238E27FC236}">
                <a16:creationId xmlns:a16="http://schemas.microsoft.com/office/drawing/2014/main" id="{C655EB08-51DC-49B0-B4C3-6292E3E3CEB9}"/>
              </a:ext>
            </a:extLst>
          </p:cNvPr>
          <p:cNvGrpSpPr/>
          <p:nvPr/>
        </p:nvGrpSpPr>
        <p:grpSpPr>
          <a:xfrm>
            <a:off x="6096480" y="4602749"/>
            <a:ext cx="205187" cy="198343"/>
            <a:chOff x="5213886" y="1690790"/>
            <a:chExt cx="205187" cy="198343"/>
          </a:xfrm>
        </p:grpSpPr>
        <p:sp>
          <p:nvSpPr>
            <p:cNvPr id="568" name="Oval 159">
              <a:extLst>
                <a:ext uri="{FF2B5EF4-FFF2-40B4-BE49-F238E27FC236}">
                  <a16:creationId xmlns:a16="http://schemas.microsoft.com/office/drawing/2014/main" id="{401CD623-88F4-4775-841F-751238FF3F0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98B15B47-6D40-42EC-861E-321BD11F2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70" name="사각형: 둥근 모서리 569">
            <a:extLst>
              <a:ext uri="{FF2B5EF4-FFF2-40B4-BE49-F238E27FC236}">
                <a16:creationId xmlns:a16="http://schemas.microsoft.com/office/drawing/2014/main" id="{F1B6D218-BD0C-4A64-A7FB-CBA23DB4C03E}"/>
              </a:ext>
            </a:extLst>
          </p:cNvPr>
          <p:cNvSpPr/>
          <p:nvPr/>
        </p:nvSpPr>
        <p:spPr>
          <a:xfrm>
            <a:off x="4515980" y="4540726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71" name="사각형: 둥근 모서리 570">
            <a:extLst>
              <a:ext uri="{FF2B5EF4-FFF2-40B4-BE49-F238E27FC236}">
                <a16:creationId xmlns:a16="http://schemas.microsoft.com/office/drawing/2014/main" id="{92098959-89BA-423A-AD14-920AF6A059D7}"/>
              </a:ext>
            </a:extLst>
          </p:cNvPr>
          <p:cNvSpPr/>
          <p:nvPr/>
        </p:nvSpPr>
        <p:spPr>
          <a:xfrm>
            <a:off x="4513128" y="4788974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72" name="그룹 571">
            <a:extLst>
              <a:ext uri="{FF2B5EF4-FFF2-40B4-BE49-F238E27FC236}">
                <a16:creationId xmlns:a16="http://schemas.microsoft.com/office/drawing/2014/main" id="{DB27BD4A-DBB2-4C8D-BB28-0F32B3900743}"/>
              </a:ext>
            </a:extLst>
          </p:cNvPr>
          <p:cNvGrpSpPr/>
          <p:nvPr/>
        </p:nvGrpSpPr>
        <p:grpSpPr>
          <a:xfrm>
            <a:off x="5109177" y="4777042"/>
            <a:ext cx="205187" cy="198343"/>
            <a:chOff x="5213886" y="1690790"/>
            <a:chExt cx="205187" cy="198343"/>
          </a:xfrm>
        </p:grpSpPr>
        <p:sp>
          <p:nvSpPr>
            <p:cNvPr id="573" name="Oval 159">
              <a:extLst>
                <a:ext uri="{FF2B5EF4-FFF2-40B4-BE49-F238E27FC236}">
                  <a16:creationId xmlns:a16="http://schemas.microsoft.com/office/drawing/2014/main" id="{745E24E5-65B3-4F6A-B0BA-863DD18035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922B3F6C-8F8A-4669-8F58-57EAB0E30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575" name="그룹 574">
            <a:extLst>
              <a:ext uri="{FF2B5EF4-FFF2-40B4-BE49-F238E27FC236}">
                <a16:creationId xmlns:a16="http://schemas.microsoft.com/office/drawing/2014/main" id="{433A19C0-BCCD-4934-A84E-6E8350218F19}"/>
              </a:ext>
            </a:extLst>
          </p:cNvPr>
          <p:cNvGrpSpPr/>
          <p:nvPr/>
        </p:nvGrpSpPr>
        <p:grpSpPr>
          <a:xfrm>
            <a:off x="5120354" y="4534853"/>
            <a:ext cx="205187" cy="198343"/>
            <a:chOff x="5213886" y="1690790"/>
            <a:chExt cx="205187" cy="198343"/>
          </a:xfrm>
        </p:grpSpPr>
        <p:sp>
          <p:nvSpPr>
            <p:cNvPr id="576" name="Oval 159">
              <a:extLst>
                <a:ext uri="{FF2B5EF4-FFF2-40B4-BE49-F238E27FC236}">
                  <a16:creationId xmlns:a16="http://schemas.microsoft.com/office/drawing/2014/main" id="{2CBEBE1E-B543-4411-9DE7-9955DA7C64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77" name="그림 576">
              <a:extLst>
                <a:ext uri="{FF2B5EF4-FFF2-40B4-BE49-F238E27FC236}">
                  <a16:creationId xmlns:a16="http://schemas.microsoft.com/office/drawing/2014/main" id="{AE97EF22-38D9-4A2B-89A2-25D089445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78" name="사각형: 둥근 모서리 577">
            <a:extLst>
              <a:ext uri="{FF2B5EF4-FFF2-40B4-BE49-F238E27FC236}">
                <a16:creationId xmlns:a16="http://schemas.microsoft.com/office/drawing/2014/main" id="{E00D013B-1E4A-464A-A11F-7959E07E18D7}"/>
              </a:ext>
            </a:extLst>
          </p:cNvPr>
          <p:cNvSpPr/>
          <p:nvPr/>
        </p:nvSpPr>
        <p:spPr>
          <a:xfrm>
            <a:off x="4927551" y="4346248"/>
            <a:ext cx="1007391" cy="14766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79" name="사각형: 둥근 모서리 578">
            <a:extLst>
              <a:ext uri="{FF2B5EF4-FFF2-40B4-BE49-F238E27FC236}">
                <a16:creationId xmlns:a16="http://schemas.microsoft.com/office/drawing/2014/main" id="{94FCC46A-5B73-429F-A909-23AD1037D149}"/>
              </a:ext>
            </a:extLst>
          </p:cNvPr>
          <p:cNvSpPr/>
          <p:nvPr/>
        </p:nvSpPr>
        <p:spPr>
          <a:xfrm>
            <a:off x="4933056" y="1738585"/>
            <a:ext cx="1007391" cy="14766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580" name="연결선: 꺾임 579">
            <a:extLst>
              <a:ext uri="{FF2B5EF4-FFF2-40B4-BE49-F238E27FC236}">
                <a16:creationId xmlns:a16="http://schemas.microsoft.com/office/drawing/2014/main" id="{0E8D9DBA-287C-4A66-BA87-51EE341DA31D}"/>
              </a:ext>
            </a:extLst>
          </p:cNvPr>
          <p:cNvCxnSpPr>
            <a:stCxn id="535" idx="2"/>
            <a:endCxn id="578" idx="0"/>
          </p:cNvCxnSpPr>
          <p:nvPr/>
        </p:nvCxnSpPr>
        <p:spPr>
          <a:xfrm rot="16200000" flipH="1">
            <a:off x="5214355" y="4129355"/>
            <a:ext cx="268277" cy="165507"/>
          </a:xfrm>
          <a:prstGeom prst="bentConnector3">
            <a:avLst>
              <a:gd name="adj1" fmla="val 178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연결선: 꺾임 580">
            <a:extLst>
              <a:ext uri="{FF2B5EF4-FFF2-40B4-BE49-F238E27FC236}">
                <a16:creationId xmlns:a16="http://schemas.microsoft.com/office/drawing/2014/main" id="{2BA5C94D-D35C-481B-89C8-707DD949ADBB}"/>
              </a:ext>
            </a:extLst>
          </p:cNvPr>
          <p:cNvCxnSpPr>
            <a:stCxn id="511" idx="2"/>
            <a:endCxn id="579" idx="0"/>
          </p:cNvCxnSpPr>
          <p:nvPr/>
        </p:nvCxnSpPr>
        <p:spPr>
          <a:xfrm rot="16200000" flipH="1">
            <a:off x="5210953" y="1512786"/>
            <a:ext cx="280586" cy="171011"/>
          </a:xfrm>
          <a:prstGeom prst="bentConnector3">
            <a:avLst>
              <a:gd name="adj1" fmla="val 192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2" name="그림 581">
            <a:extLst>
              <a:ext uri="{FF2B5EF4-FFF2-40B4-BE49-F238E27FC236}">
                <a16:creationId xmlns:a16="http://schemas.microsoft.com/office/drawing/2014/main" id="{D47932FF-460D-4B42-9DCD-A2F5314ED8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475" y="4283658"/>
            <a:ext cx="284152" cy="284152"/>
          </a:xfrm>
          <a:prstGeom prst="rect">
            <a:avLst/>
          </a:prstGeom>
        </p:spPr>
      </p:pic>
      <p:pic>
        <p:nvPicPr>
          <p:cNvPr id="583" name="그림 582">
            <a:extLst>
              <a:ext uri="{FF2B5EF4-FFF2-40B4-BE49-F238E27FC236}">
                <a16:creationId xmlns:a16="http://schemas.microsoft.com/office/drawing/2014/main" id="{F96D0090-1FDC-4EB9-BB79-D9AD0657F9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181" y="4311690"/>
            <a:ext cx="236276" cy="236276"/>
          </a:xfrm>
          <a:prstGeom prst="rect">
            <a:avLst/>
          </a:prstGeom>
        </p:spPr>
      </p:pic>
      <p:pic>
        <p:nvPicPr>
          <p:cNvPr id="584" name="그림 583">
            <a:extLst>
              <a:ext uri="{FF2B5EF4-FFF2-40B4-BE49-F238E27FC236}">
                <a16:creationId xmlns:a16="http://schemas.microsoft.com/office/drawing/2014/main" id="{6BC3C6E4-430E-4AD4-AD2D-C41B57F87D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81" y="4280962"/>
            <a:ext cx="284152" cy="284152"/>
          </a:xfrm>
          <a:prstGeom prst="rect">
            <a:avLst/>
          </a:prstGeom>
        </p:spPr>
      </p:pic>
      <p:pic>
        <p:nvPicPr>
          <p:cNvPr id="585" name="그림 584">
            <a:extLst>
              <a:ext uri="{FF2B5EF4-FFF2-40B4-BE49-F238E27FC236}">
                <a16:creationId xmlns:a16="http://schemas.microsoft.com/office/drawing/2014/main" id="{27E92BA4-137D-4D0E-B18B-A85A141C936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487" y="4308994"/>
            <a:ext cx="236276" cy="236276"/>
          </a:xfrm>
          <a:prstGeom prst="rect">
            <a:avLst/>
          </a:prstGeom>
        </p:spPr>
      </p:pic>
      <p:pic>
        <p:nvPicPr>
          <p:cNvPr id="586" name="그림 585">
            <a:extLst>
              <a:ext uri="{FF2B5EF4-FFF2-40B4-BE49-F238E27FC236}">
                <a16:creationId xmlns:a16="http://schemas.microsoft.com/office/drawing/2014/main" id="{8B1069D9-D9D7-48B5-867D-2F01F3AFB02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352" y="1674592"/>
            <a:ext cx="284152" cy="284152"/>
          </a:xfrm>
          <a:prstGeom prst="rect">
            <a:avLst/>
          </a:prstGeom>
        </p:spPr>
      </p:pic>
      <p:pic>
        <p:nvPicPr>
          <p:cNvPr id="587" name="그림 586">
            <a:extLst>
              <a:ext uri="{FF2B5EF4-FFF2-40B4-BE49-F238E27FC236}">
                <a16:creationId xmlns:a16="http://schemas.microsoft.com/office/drawing/2014/main" id="{F47C0FF3-C5CD-4425-A994-EDBD6901294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058" y="1702624"/>
            <a:ext cx="236276" cy="236276"/>
          </a:xfrm>
          <a:prstGeom prst="rect">
            <a:avLst/>
          </a:prstGeom>
        </p:spPr>
      </p:pic>
      <p:pic>
        <p:nvPicPr>
          <p:cNvPr id="588" name="그림 587">
            <a:extLst>
              <a:ext uri="{FF2B5EF4-FFF2-40B4-BE49-F238E27FC236}">
                <a16:creationId xmlns:a16="http://schemas.microsoft.com/office/drawing/2014/main" id="{9ABAA830-BD14-4D05-AC76-FA57CF4663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425" y="1671790"/>
            <a:ext cx="284152" cy="284152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A929B39C-E684-431E-857D-F750C7523C8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31" y="1699822"/>
            <a:ext cx="236276" cy="236276"/>
          </a:xfrm>
          <a:prstGeom prst="rect">
            <a:avLst/>
          </a:prstGeom>
        </p:spPr>
      </p:pic>
      <p:sp>
        <p:nvSpPr>
          <p:cNvPr id="590" name="직사각형 589">
            <a:extLst>
              <a:ext uri="{FF2B5EF4-FFF2-40B4-BE49-F238E27FC236}">
                <a16:creationId xmlns:a16="http://schemas.microsoft.com/office/drawing/2014/main" id="{3668B48D-F730-475A-A310-1CA5B5B0FD73}"/>
              </a:ext>
            </a:extLst>
          </p:cNvPr>
          <p:cNvSpPr/>
          <p:nvPr/>
        </p:nvSpPr>
        <p:spPr>
          <a:xfrm>
            <a:off x="2228340" y="5747836"/>
            <a:ext cx="129422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Docker Private Registry (</a:t>
            </a:r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로컬 저장소</a:t>
            </a:r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900" b="1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91" name="직사각형 590">
            <a:extLst>
              <a:ext uri="{FF2B5EF4-FFF2-40B4-BE49-F238E27FC236}">
                <a16:creationId xmlns:a16="http://schemas.microsoft.com/office/drawing/2014/main" id="{88D81491-C069-4D96-B4A0-8728BFA0F9C8}"/>
              </a:ext>
            </a:extLst>
          </p:cNvPr>
          <p:cNvSpPr/>
          <p:nvPr/>
        </p:nvSpPr>
        <p:spPr>
          <a:xfrm>
            <a:off x="123094" y="1526386"/>
            <a:ext cx="4806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Client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92" name="사각형: 둥근 모서리 591">
            <a:extLst>
              <a:ext uri="{FF2B5EF4-FFF2-40B4-BE49-F238E27FC236}">
                <a16:creationId xmlns:a16="http://schemas.microsoft.com/office/drawing/2014/main" id="{4CBD3D2D-E8A6-4FAB-A9E7-1877BA4A3362}"/>
              </a:ext>
            </a:extLst>
          </p:cNvPr>
          <p:cNvSpPr/>
          <p:nvPr/>
        </p:nvSpPr>
        <p:spPr>
          <a:xfrm>
            <a:off x="1595981" y="3298095"/>
            <a:ext cx="1000735" cy="287425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Spring Cloud</a:t>
            </a:r>
          </a:p>
          <a:p>
            <a:pPr lvl="0" algn="ctr"/>
            <a:r>
              <a:rPr lang="en-US" altLang="ko-KR" sz="8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Security</a:t>
            </a:r>
          </a:p>
        </p:txBody>
      </p:sp>
      <p:pic>
        <p:nvPicPr>
          <p:cNvPr id="593" name="그림 592">
            <a:extLst>
              <a:ext uri="{FF2B5EF4-FFF2-40B4-BE49-F238E27FC236}">
                <a16:creationId xmlns:a16="http://schemas.microsoft.com/office/drawing/2014/main" id="{4B28990B-E8C6-4412-AB40-D68FB53908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4" y="3368647"/>
            <a:ext cx="164383" cy="116218"/>
          </a:xfrm>
          <a:prstGeom prst="rect">
            <a:avLst/>
          </a:prstGeom>
        </p:spPr>
      </p:pic>
      <p:cxnSp>
        <p:nvCxnSpPr>
          <p:cNvPr id="594" name="직선 화살표 연결선 593">
            <a:extLst>
              <a:ext uri="{FF2B5EF4-FFF2-40B4-BE49-F238E27FC236}">
                <a16:creationId xmlns:a16="http://schemas.microsoft.com/office/drawing/2014/main" id="{AF1DFC01-A478-4D16-8070-C213B559D5C2}"/>
              </a:ext>
            </a:extLst>
          </p:cNvPr>
          <p:cNvCxnSpPr>
            <a:cxnSpLocks/>
            <a:stCxn id="435" idx="2"/>
            <a:endCxn id="444" idx="0"/>
          </p:cNvCxnSpPr>
          <p:nvPr/>
        </p:nvCxnSpPr>
        <p:spPr>
          <a:xfrm>
            <a:off x="4341555" y="5861305"/>
            <a:ext cx="2962" cy="21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5" name="그림 594">
            <a:extLst>
              <a:ext uri="{FF2B5EF4-FFF2-40B4-BE49-F238E27FC236}">
                <a16:creationId xmlns:a16="http://schemas.microsoft.com/office/drawing/2014/main" id="{157BE335-274A-490C-A5DD-54D0564DE39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36870" y="3668596"/>
            <a:ext cx="432824" cy="372475"/>
          </a:xfrm>
          <a:prstGeom prst="rect">
            <a:avLst/>
          </a:prstGeom>
        </p:spPr>
      </p:pic>
      <p:sp>
        <p:nvSpPr>
          <p:cNvPr id="596" name="직사각형 595">
            <a:extLst>
              <a:ext uri="{FF2B5EF4-FFF2-40B4-BE49-F238E27FC236}">
                <a16:creationId xmlns:a16="http://schemas.microsoft.com/office/drawing/2014/main" id="{500E8721-925F-416C-8325-0000BAB3930B}"/>
              </a:ext>
            </a:extLst>
          </p:cNvPr>
          <p:cNvSpPr/>
          <p:nvPr/>
        </p:nvSpPr>
        <p:spPr>
          <a:xfrm>
            <a:off x="111549" y="3476775"/>
            <a:ext cx="4806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Client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97" name="사각형: 둥근 모서리 596">
            <a:extLst>
              <a:ext uri="{FF2B5EF4-FFF2-40B4-BE49-F238E27FC236}">
                <a16:creationId xmlns:a16="http://schemas.microsoft.com/office/drawing/2014/main" id="{C7EE8FF1-D51F-4A71-8D95-534324A25B89}"/>
              </a:ext>
            </a:extLst>
          </p:cNvPr>
          <p:cNvSpPr/>
          <p:nvPr/>
        </p:nvSpPr>
        <p:spPr>
          <a:xfrm>
            <a:off x="4402581" y="2651072"/>
            <a:ext cx="3589995" cy="71250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98" name="그림 597">
            <a:extLst>
              <a:ext uri="{FF2B5EF4-FFF2-40B4-BE49-F238E27FC236}">
                <a16:creationId xmlns:a16="http://schemas.microsoft.com/office/drawing/2014/main" id="{C93EFB93-5CDD-4EAD-A2AB-0EF1CF5F4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35" y="2678144"/>
            <a:ext cx="355086" cy="210090"/>
          </a:xfrm>
          <a:prstGeom prst="rect">
            <a:avLst/>
          </a:prstGeom>
        </p:spPr>
      </p:pic>
      <p:sp>
        <p:nvSpPr>
          <p:cNvPr id="599" name="직사각형 598">
            <a:extLst>
              <a:ext uri="{FF2B5EF4-FFF2-40B4-BE49-F238E27FC236}">
                <a16:creationId xmlns:a16="http://schemas.microsoft.com/office/drawing/2014/main" id="{80DE1021-880D-4BE0-854A-709AE6FA3391}"/>
              </a:ext>
            </a:extLst>
          </p:cNvPr>
          <p:cNvSpPr/>
          <p:nvPr/>
        </p:nvSpPr>
        <p:spPr>
          <a:xfrm>
            <a:off x="4509718" y="2671809"/>
            <a:ext cx="12923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 Node [DB]</a:t>
            </a:r>
          </a:p>
        </p:txBody>
      </p:sp>
      <p:pic>
        <p:nvPicPr>
          <p:cNvPr id="600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0189E0D7-7B01-43DE-8CBE-4CEFAE7795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105678" y="2691051"/>
            <a:ext cx="834084" cy="1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1" name="사각형: 둥근 모서리 600">
            <a:extLst>
              <a:ext uri="{FF2B5EF4-FFF2-40B4-BE49-F238E27FC236}">
                <a16:creationId xmlns:a16="http://schemas.microsoft.com/office/drawing/2014/main" id="{806BDD33-D7E4-4D78-A232-307946EF6D43}"/>
              </a:ext>
            </a:extLst>
          </p:cNvPr>
          <p:cNvSpPr/>
          <p:nvPr/>
        </p:nvSpPr>
        <p:spPr>
          <a:xfrm>
            <a:off x="4482354" y="3157787"/>
            <a:ext cx="1343697" cy="13057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Docker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02" name="직사각형 601">
            <a:extLst>
              <a:ext uri="{FF2B5EF4-FFF2-40B4-BE49-F238E27FC236}">
                <a16:creationId xmlns:a16="http://schemas.microsoft.com/office/drawing/2014/main" id="{8AD8223D-F7F2-4401-BDD6-57C6E877F36D}"/>
              </a:ext>
            </a:extLst>
          </p:cNvPr>
          <p:cNvSpPr/>
          <p:nvPr/>
        </p:nvSpPr>
        <p:spPr>
          <a:xfrm>
            <a:off x="4475728" y="2945543"/>
            <a:ext cx="646928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03" name="직사각형 602">
            <a:extLst>
              <a:ext uri="{FF2B5EF4-FFF2-40B4-BE49-F238E27FC236}">
                <a16:creationId xmlns:a16="http://schemas.microsoft.com/office/drawing/2014/main" id="{7A0EC50D-E336-4D08-8385-E79F37FD79D2}"/>
              </a:ext>
            </a:extLst>
          </p:cNvPr>
          <p:cNvSpPr/>
          <p:nvPr/>
        </p:nvSpPr>
        <p:spPr>
          <a:xfrm>
            <a:off x="5184534" y="2945543"/>
            <a:ext cx="646929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04" name="사각형: 둥근 모서리 603">
            <a:extLst>
              <a:ext uri="{FF2B5EF4-FFF2-40B4-BE49-F238E27FC236}">
                <a16:creationId xmlns:a16="http://schemas.microsoft.com/office/drawing/2014/main" id="{BBB73A50-B675-4C51-AB70-9D28E725F0C9}"/>
              </a:ext>
            </a:extLst>
          </p:cNvPr>
          <p:cNvSpPr/>
          <p:nvPr/>
        </p:nvSpPr>
        <p:spPr>
          <a:xfrm>
            <a:off x="5916607" y="2904900"/>
            <a:ext cx="1999210" cy="400334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05" name="사각형: 둥근 모서리 604">
            <a:extLst>
              <a:ext uri="{FF2B5EF4-FFF2-40B4-BE49-F238E27FC236}">
                <a16:creationId xmlns:a16="http://schemas.microsoft.com/office/drawing/2014/main" id="{91E1F5F8-2D96-442B-A97B-D745EFA6D952}"/>
              </a:ext>
            </a:extLst>
          </p:cNvPr>
          <p:cNvSpPr/>
          <p:nvPr/>
        </p:nvSpPr>
        <p:spPr>
          <a:xfrm>
            <a:off x="5948665" y="2923249"/>
            <a:ext cx="660699" cy="129321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06" name="사각형: 둥근 모서리 605">
            <a:extLst>
              <a:ext uri="{FF2B5EF4-FFF2-40B4-BE49-F238E27FC236}">
                <a16:creationId xmlns:a16="http://schemas.microsoft.com/office/drawing/2014/main" id="{AFCA3521-D4E5-4BB2-AEBC-B31061FF5B57}"/>
              </a:ext>
            </a:extLst>
          </p:cNvPr>
          <p:cNvSpPr/>
          <p:nvPr/>
        </p:nvSpPr>
        <p:spPr>
          <a:xfrm>
            <a:off x="5948310" y="3113874"/>
            <a:ext cx="945505" cy="125320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DB Master</a:t>
            </a:r>
          </a:p>
        </p:txBody>
      </p:sp>
      <p:sp>
        <p:nvSpPr>
          <p:cNvPr id="607" name="사각형: 둥근 모서리 606">
            <a:extLst>
              <a:ext uri="{FF2B5EF4-FFF2-40B4-BE49-F238E27FC236}">
                <a16:creationId xmlns:a16="http://schemas.microsoft.com/office/drawing/2014/main" id="{17AC9A46-9FEB-4401-BD26-7D84438520DF}"/>
              </a:ext>
            </a:extLst>
          </p:cNvPr>
          <p:cNvSpPr/>
          <p:nvPr/>
        </p:nvSpPr>
        <p:spPr>
          <a:xfrm>
            <a:off x="6976181" y="3103556"/>
            <a:ext cx="903419" cy="134718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DB Slave</a:t>
            </a:r>
          </a:p>
        </p:txBody>
      </p:sp>
      <p:cxnSp>
        <p:nvCxnSpPr>
          <p:cNvPr id="608" name="연결선: 꺾임 607">
            <a:extLst>
              <a:ext uri="{FF2B5EF4-FFF2-40B4-BE49-F238E27FC236}">
                <a16:creationId xmlns:a16="http://schemas.microsoft.com/office/drawing/2014/main" id="{DD2B6953-D3A6-4ABC-85DD-B2F64CF3EB12}"/>
              </a:ext>
            </a:extLst>
          </p:cNvPr>
          <p:cNvCxnSpPr>
            <a:cxnSpLocks/>
            <a:stCxn id="516" idx="1"/>
            <a:endCxn id="625" idx="3"/>
          </p:cNvCxnSpPr>
          <p:nvPr/>
        </p:nvCxnSpPr>
        <p:spPr>
          <a:xfrm rot="10800000">
            <a:off x="2580774" y="1563990"/>
            <a:ext cx="390953" cy="155366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연결선: 꺾임 608">
            <a:extLst>
              <a:ext uri="{FF2B5EF4-FFF2-40B4-BE49-F238E27FC236}">
                <a16:creationId xmlns:a16="http://schemas.microsoft.com/office/drawing/2014/main" id="{A96C6C18-5441-4DA2-987B-090628FA029D}"/>
              </a:ext>
            </a:extLst>
          </p:cNvPr>
          <p:cNvCxnSpPr>
            <a:stCxn id="442" idx="2"/>
            <a:endCxn id="611" idx="1"/>
          </p:cNvCxnSpPr>
          <p:nvPr/>
        </p:nvCxnSpPr>
        <p:spPr>
          <a:xfrm rot="16200000" flipH="1">
            <a:off x="-95632" y="2521695"/>
            <a:ext cx="1059845" cy="1528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연결선: 꺾임 609">
            <a:extLst>
              <a:ext uri="{FF2B5EF4-FFF2-40B4-BE49-F238E27FC236}">
                <a16:creationId xmlns:a16="http://schemas.microsoft.com/office/drawing/2014/main" id="{BCE90D36-5239-44E2-842F-F83F1719EB2D}"/>
              </a:ext>
            </a:extLst>
          </p:cNvPr>
          <p:cNvCxnSpPr>
            <a:stCxn id="595" idx="0"/>
            <a:endCxn id="611" idx="1"/>
          </p:cNvCxnSpPr>
          <p:nvPr/>
        </p:nvCxnSpPr>
        <p:spPr>
          <a:xfrm rot="5400000" flipH="1" flipV="1">
            <a:off x="161720" y="3319604"/>
            <a:ext cx="540555" cy="1574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1" name="Picture 2" descr="Deep dive – Azure Load Balancer | Marius Sandbu">
            <a:extLst>
              <a:ext uri="{FF2B5EF4-FFF2-40B4-BE49-F238E27FC236}">
                <a16:creationId xmlns:a16="http://schemas.microsoft.com/office/drawing/2014/main" id="{9DBDBEAB-9CC6-41DD-926B-AC63DE3034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510713" y="2950271"/>
            <a:ext cx="363529" cy="35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2" name="연결선: 꺾임 611">
            <a:extLst>
              <a:ext uri="{FF2B5EF4-FFF2-40B4-BE49-F238E27FC236}">
                <a16:creationId xmlns:a16="http://schemas.microsoft.com/office/drawing/2014/main" id="{E7670C93-8C5E-4CBD-BFA6-6C70CF63224F}"/>
              </a:ext>
            </a:extLst>
          </p:cNvPr>
          <p:cNvCxnSpPr>
            <a:stCxn id="458" idx="3"/>
            <a:endCxn id="614" idx="1"/>
          </p:cNvCxnSpPr>
          <p:nvPr/>
        </p:nvCxnSpPr>
        <p:spPr>
          <a:xfrm>
            <a:off x="3896748" y="1473227"/>
            <a:ext cx="597541" cy="234055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연결선: 꺾임 612">
            <a:extLst>
              <a:ext uri="{FF2B5EF4-FFF2-40B4-BE49-F238E27FC236}">
                <a16:creationId xmlns:a16="http://schemas.microsoft.com/office/drawing/2014/main" id="{3818AEDD-E24E-4912-BD7B-D9E885F5FCE0}"/>
              </a:ext>
            </a:extLst>
          </p:cNvPr>
          <p:cNvCxnSpPr>
            <a:cxnSpLocks/>
            <a:stCxn id="458" idx="3"/>
            <a:endCxn id="534" idx="1"/>
          </p:cNvCxnSpPr>
          <p:nvPr/>
        </p:nvCxnSpPr>
        <p:spPr>
          <a:xfrm>
            <a:off x="3896748" y="1473227"/>
            <a:ext cx="1395248" cy="2340559"/>
          </a:xfrm>
          <a:prstGeom prst="bentConnector3">
            <a:avLst>
              <a:gd name="adj1" fmla="val 20941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직사각형 613">
            <a:extLst>
              <a:ext uri="{FF2B5EF4-FFF2-40B4-BE49-F238E27FC236}">
                <a16:creationId xmlns:a16="http://schemas.microsoft.com/office/drawing/2014/main" id="{FFD859D7-48B3-420E-A594-0FF235CE50E8}"/>
              </a:ext>
            </a:extLst>
          </p:cNvPr>
          <p:cNvSpPr/>
          <p:nvPr/>
        </p:nvSpPr>
        <p:spPr>
          <a:xfrm>
            <a:off x="4494289" y="3722920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615" name="연결선: 꺾임 614">
            <a:extLst>
              <a:ext uri="{FF2B5EF4-FFF2-40B4-BE49-F238E27FC236}">
                <a16:creationId xmlns:a16="http://schemas.microsoft.com/office/drawing/2014/main" id="{9A72DF51-888F-4D06-A220-172C1955E508}"/>
              </a:ext>
            </a:extLst>
          </p:cNvPr>
          <p:cNvCxnSpPr>
            <a:stCxn id="611" idx="3"/>
            <a:endCxn id="458" idx="1"/>
          </p:cNvCxnSpPr>
          <p:nvPr/>
        </p:nvCxnSpPr>
        <p:spPr>
          <a:xfrm flipV="1">
            <a:off x="874242" y="1473227"/>
            <a:ext cx="2136121" cy="1654814"/>
          </a:xfrm>
          <a:prstGeom prst="bentConnector3">
            <a:avLst>
              <a:gd name="adj1" fmla="val 50000"/>
            </a:avLst>
          </a:prstGeom>
          <a:ln w="19050">
            <a:solidFill>
              <a:srgbClr val="00963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64B48C62-D192-4B74-A5FB-AC90D7AEE4F6}"/>
              </a:ext>
            </a:extLst>
          </p:cNvPr>
          <p:cNvSpPr/>
          <p:nvPr/>
        </p:nvSpPr>
        <p:spPr>
          <a:xfrm>
            <a:off x="699536" y="744383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Microservices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617" name="사각형: 둥근 모서리 616">
            <a:extLst>
              <a:ext uri="{FF2B5EF4-FFF2-40B4-BE49-F238E27FC236}">
                <a16:creationId xmlns:a16="http://schemas.microsoft.com/office/drawing/2014/main" id="{3A72C66F-24C9-4181-B117-69671DB05CD7}"/>
              </a:ext>
            </a:extLst>
          </p:cNvPr>
          <p:cNvSpPr/>
          <p:nvPr/>
        </p:nvSpPr>
        <p:spPr>
          <a:xfrm>
            <a:off x="953283" y="1026454"/>
            <a:ext cx="1718691" cy="2052283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618" name="그룹 617">
            <a:extLst>
              <a:ext uri="{FF2B5EF4-FFF2-40B4-BE49-F238E27FC236}">
                <a16:creationId xmlns:a16="http://schemas.microsoft.com/office/drawing/2014/main" id="{1DD65EF4-5216-48A9-9A3B-C0ADE194C229}"/>
              </a:ext>
            </a:extLst>
          </p:cNvPr>
          <p:cNvGrpSpPr/>
          <p:nvPr/>
        </p:nvGrpSpPr>
        <p:grpSpPr>
          <a:xfrm>
            <a:off x="1023290" y="1304098"/>
            <a:ext cx="996845" cy="139077"/>
            <a:chOff x="1274886" y="1471379"/>
            <a:chExt cx="3807946" cy="299395"/>
          </a:xfrm>
        </p:grpSpPr>
        <p:sp>
          <p:nvSpPr>
            <p:cNvPr id="619" name="사각형: 둥근 모서리 618">
              <a:extLst>
                <a:ext uri="{FF2B5EF4-FFF2-40B4-BE49-F238E27FC236}">
                  <a16:creationId xmlns:a16="http://schemas.microsoft.com/office/drawing/2014/main" id="{4A6188F3-2020-47CB-BCC3-3E93E9F29498}"/>
                </a:ext>
              </a:extLst>
            </p:cNvPr>
            <p:cNvSpPr/>
            <p:nvPr/>
          </p:nvSpPr>
          <p:spPr>
            <a:xfrm>
              <a:off x="1274886" y="1471380"/>
              <a:ext cx="3807946" cy="299394"/>
            </a:xfrm>
            <a:prstGeom prst="roundRect">
              <a:avLst>
                <a:gd name="adj" fmla="val 16175"/>
              </a:avLst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620" name="직사각형 619">
              <a:extLst>
                <a:ext uri="{FF2B5EF4-FFF2-40B4-BE49-F238E27FC236}">
                  <a16:creationId xmlns:a16="http://schemas.microsoft.com/office/drawing/2014/main" id="{37EB0137-CBEF-4ABE-B3D6-8380ED5F903F}"/>
                </a:ext>
              </a:extLst>
            </p:cNvPr>
            <p:cNvSpPr/>
            <p:nvPr/>
          </p:nvSpPr>
          <p:spPr>
            <a:xfrm>
              <a:off x="1274886" y="1471379"/>
              <a:ext cx="3807946" cy="287968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800" dirty="0">
                  <a:solidFill>
                    <a:schemeClr val="bg1"/>
                  </a:solidFill>
                  <a:latin typeface="다키 M Title" pitchFamily="2" charset="-127"/>
                  <a:ea typeface="다키 M Title" pitchFamily="2" charset="-127"/>
                </a:rPr>
                <a:t>SPA </a:t>
              </a:r>
            </a:p>
          </p:txBody>
        </p:sp>
      </p:grpSp>
      <p:pic>
        <p:nvPicPr>
          <p:cNvPr id="622" name="그림 621">
            <a:extLst>
              <a:ext uri="{FF2B5EF4-FFF2-40B4-BE49-F238E27FC236}">
                <a16:creationId xmlns:a16="http://schemas.microsoft.com/office/drawing/2014/main" id="{FB87A0CB-CB79-42C6-8833-40F7CBF24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78" y="1050043"/>
            <a:ext cx="347432" cy="205562"/>
          </a:xfrm>
          <a:prstGeom prst="rect">
            <a:avLst/>
          </a:prstGeom>
        </p:spPr>
      </p:pic>
      <p:sp>
        <p:nvSpPr>
          <p:cNvPr id="623" name="직사각형 622">
            <a:extLst>
              <a:ext uri="{FF2B5EF4-FFF2-40B4-BE49-F238E27FC236}">
                <a16:creationId xmlns:a16="http://schemas.microsoft.com/office/drawing/2014/main" id="{59F1A67A-42A4-409B-AED8-4D554A5538E6}"/>
              </a:ext>
            </a:extLst>
          </p:cNvPr>
          <p:cNvSpPr/>
          <p:nvPr/>
        </p:nvSpPr>
        <p:spPr>
          <a:xfrm>
            <a:off x="1111928" y="1061655"/>
            <a:ext cx="127174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[Web]</a:t>
            </a:r>
            <a:endParaRPr lang="ko-KR" altLang="en-US" sz="9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624" name="사각형: 둥근 모서리 623">
            <a:extLst>
              <a:ext uri="{FF2B5EF4-FFF2-40B4-BE49-F238E27FC236}">
                <a16:creationId xmlns:a16="http://schemas.microsoft.com/office/drawing/2014/main" id="{E8C7BBF2-1D67-41EF-9259-9C7BC3B557B0}"/>
              </a:ext>
            </a:extLst>
          </p:cNvPr>
          <p:cNvSpPr/>
          <p:nvPr/>
        </p:nvSpPr>
        <p:spPr>
          <a:xfrm>
            <a:off x="1033475" y="1684928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 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25" name="직사각형 624">
            <a:extLst>
              <a:ext uri="{FF2B5EF4-FFF2-40B4-BE49-F238E27FC236}">
                <a16:creationId xmlns:a16="http://schemas.microsoft.com/office/drawing/2014/main" id="{05EA2E45-D66D-41DF-B234-6332D096FC5A}"/>
              </a:ext>
            </a:extLst>
          </p:cNvPr>
          <p:cNvSpPr/>
          <p:nvPr/>
        </p:nvSpPr>
        <p:spPr>
          <a:xfrm>
            <a:off x="1835578" y="1473124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26" name="직사각형 625">
            <a:extLst>
              <a:ext uri="{FF2B5EF4-FFF2-40B4-BE49-F238E27FC236}">
                <a16:creationId xmlns:a16="http://schemas.microsoft.com/office/drawing/2014/main" id="{18C7377B-B436-4144-A1DB-4FBB3E297194}"/>
              </a:ext>
            </a:extLst>
          </p:cNvPr>
          <p:cNvSpPr/>
          <p:nvPr/>
        </p:nvSpPr>
        <p:spPr>
          <a:xfrm>
            <a:off x="1037797" y="1462954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27" name="사각형: 둥근 모서리 626">
            <a:extLst>
              <a:ext uri="{FF2B5EF4-FFF2-40B4-BE49-F238E27FC236}">
                <a16:creationId xmlns:a16="http://schemas.microsoft.com/office/drawing/2014/main" id="{F016DC6B-72D0-4183-924A-667A0E394EB7}"/>
              </a:ext>
            </a:extLst>
          </p:cNvPr>
          <p:cNvSpPr/>
          <p:nvPr/>
        </p:nvSpPr>
        <p:spPr>
          <a:xfrm>
            <a:off x="1032802" y="1854425"/>
            <a:ext cx="1558493" cy="1147829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28" name="직사각형 627">
            <a:extLst>
              <a:ext uri="{FF2B5EF4-FFF2-40B4-BE49-F238E27FC236}">
                <a16:creationId xmlns:a16="http://schemas.microsoft.com/office/drawing/2014/main" id="{8A0BDC6D-3094-4F32-85EE-ACEC1B79E2F1}"/>
              </a:ext>
            </a:extLst>
          </p:cNvPr>
          <p:cNvSpPr/>
          <p:nvPr/>
        </p:nvSpPr>
        <p:spPr>
          <a:xfrm>
            <a:off x="1080570" y="1882090"/>
            <a:ext cx="1452355" cy="1184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29" name="사각형: 둥근 모서리 628">
            <a:extLst>
              <a:ext uri="{FF2B5EF4-FFF2-40B4-BE49-F238E27FC236}">
                <a16:creationId xmlns:a16="http://schemas.microsoft.com/office/drawing/2014/main" id="{DD7CB813-59AC-40D8-A958-6CE6ACD7748F}"/>
              </a:ext>
            </a:extLst>
          </p:cNvPr>
          <p:cNvSpPr/>
          <p:nvPr/>
        </p:nvSpPr>
        <p:spPr>
          <a:xfrm>
            <a:off x="1454175" y="2029986"/>
            <a:ext cx="1078750" cy="134235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630" name="그림 629">
            <a:extLst>
              <a:ext uri="{FF2B5EF4-FFF2-40B4-BE49-F238E27FC236}">
                <a16:creationId xmlns:a16="http://schemas.microsoft.com/office/drawing/2014/main" id="{96434EE3-7C13-4BD2-95B4-432CFF2563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71" y="1965993"/>
            <a:ext cx="284152" cy="284152"/>
          </a:xfrm>
          <a:prstGeom prst="rect">
            <a:avLst/>
          </a:prstGeom>
        </p:spPr>
      </p:pic>
      <p:pic>
        <p:nvPicPr>
          <p:cNvPr id="631" name="그림 630">
            <a:extLst>
              <a:ext uri="{FF2B5EF4-FFF2-40B4-BE49-F238E27FC236}">
                <a16:creationId xmlns:a16="http://schemas.microsoft.com/office/drawing/2014/main" id="{83773F6E-2B9A-4B10-85DD-3D25DC588A0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7" y="1994025"/>
            <a:ext cx="236276" cy="236276"/>
          </a:xfrm>
          <a:prstGeom prst="rect">
            <a:avLst/>
          </a:prstGeom>
        </p:spPr>
      </p:pic>
      <p:sp>
        <p:nvSpPr>
          <p:cNvPr id="632" name="사각형: 둥근 모서리 631">
            <a:extLst>
              <a:ext uri="{FF2B5EF4-FFF2-40B4-BE49-F238E27FC236}">
                <a16:creationId xmlns:a16="http://schemas.microsoft.com/office/drawing/2014/main" id="{A9F35BEE-73D1-4D9E-A0B5-8FB3C7964517}"/>
              </a:ext>
            </a:extLst>
          </p:cNvPr>
          <p:cNvSpPr/>
          <p:nvPr/>
        </p:nvSpPr>
        <p:spPr>
          <a:xfrm>
            <a:off x="1077080" y="2251552"/>
            <a:ext cx="1452354" cy="146018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633" name="그룹 632">
            <a:extLst>
              <a:ext uri="{FF2B5EF4-FFF2-40B4-BE49-F238E27FC236}">
                <a16:creationId xmlns:a16="http://schemas.microsoft.com/office/drawing/2014/main" id="{E26711D2-E628-4948-B2BA-CA23359B0976}"/>
              </a:ext>
            </a:extLst>
          </p:cNvPr>
          <p:cNvGrpSpPr/>
          <p:nvPr/>
        </p:nvGrpSpPr>
        <p:grpSpPr>
          <a:xfrm>
            <a:off x="1116123" y="2468595"/>
            <a:ext cx="555945" cy="172418"/>
            <a:chOff x="961134" y="2324826"/>
            <a:chExt cx="760261" cy="357223"/>
          </a:xfrm>
        </p:grpSpPr>
        <p:sp>
          <p:nvSpPr>
            <p:cNvPr id="634" name="사각형: 둥근 모서리 633">
              <a:extLst>
                <a:ext uri="{FF2B5EF4-FFF2-40B4-BE49-F238E27FC236}">
                  <a16:creationId xmlns:a16="http://schemas.microsoft.com/office/drawing/2014/main" id="{2BB6FAA1-B821-40B3-8A97-CEE2551FA3F7}"/>
                </a:ext>
              </a:extLst>
            </p:cNvPr>
            <p:cNvSpPr/>
            <p:nvPr/>
          </p:nvSpPr>
          <p:spPr>
            <a:xfrm>
              <a:off x="974364" y="2391447"/>
              <a:ext cx="747031" cy="276999"/>
            </a:xfrm>
            <a:prstGeom prst="roundRect">
              <a:avLst>
                <a:gd name="adj" fmla="val 1252"/>
              </a:avLst>
            </a:prstGeom>
            <a:solidFill>
              <a:srgbClr val="3790AE"/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sz="700" dirty="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635" name="그림 634">
              <a:extLst>
                <a:ext uri="{FF2B5EF4-FFF2-40B4-BE49-F238E27FC236}">
                  <a16:creationId xmlns:a16="http://schemas.microsoft.com/office/drawing/2014/main" id="{70063E31-EB8B-4351-A56B-4DDE479C4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134" y="2378687"/>
              <a:ext cx="159134" cy="156824"/>
            </a:xfrm>
            <a:prstGeom prst="rect">
              <a:avLst/>
            </a:prstGeom>
          </p:spPr>
        </p:pic>
        <p:sp>
          <p:nvSpPr>
            <p:cNvPr id="636" name="직사각형 635">
              <a:extLst>
                <a:ext uri="{FF2B5EF4-FFF2-40B4-BE49-F238E27FC236}">
                  <a16:creationId xmlns:a16="http://schemas.microsoft.com/office/drawing/2014/main" id="{AA3C2742-C0CC-4C32-936A-FAD23B6DF931}"/>
                </a:ext>
              </a:extLst>
            </p:cNvPr>
            <p:cNvSpPr/>
            <p:nvPr/>
          </p:nvSpPr>
          <p:spPr>
            <a:xfrm>
              <a:off x="1099592" y="2324826"/>
              <a:ext cx="579053" cy="3572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View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637" name="사각형: 둥근 모서리 636">
            <a:extLst>
              <a:ext uri="{FF2B5EF4-FFF2-40B4-BE49-F238E27FC236}">
                <a16:creationId xmlns:a16="http://schemas.microsoft.com/office/drawing/2014/main" id="{23AB6542-9DC8-4935-A65C-AFB74C25AF60}"/>
              </a:ext>
            </a:extLst>
          </p:cNvPr>
          <p:cNvSpPr/>
          <p:nvPr/>
        </p:nvSpPr>
        <p:spPr>
          <a:xfrm>
            <a:off x="1967241" y="2804404"/>
            <a:ext cx="539616" cy="14586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A5A0F4EB-7EC9-4CBB-8072-4834D2B4AE82}"/>
              </a:ext>
            </a:extLst>
          </p:cNvPr>
          <p:cNvSpPr/>
          <p:nvPr/>
        </p:nvSpPr>
        <p:spPr>
          <a:xfrm>
            <a:off x="1965274" y="2779742"/>
            <a:ext cx="50017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Model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39" name="사각형: 둥근 모서리 638">
            <a:extLst>
              <a:ext uri="{FF2B5EF4-FFF2-40B4-BE49-F238E27FC236}">
                <a16:creationId xmlns:a16="http://schemas.microsoft.com/office/drawing/2014/main" id="{98B58734-68F3-40E2-8170-36356F8E4DC6}"/>
              </a:ext>
            </a:extLst>
          </p:cNvPr>
          <p:cNvSpPr/>
          <p:nvPr/>
        </p:nvSpPr>
        <p:spPr>
          <a:xfrm>
            <a:off x="1095338" y="2807169"/>
            <a:ext cx="593982" cy="13752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8E3CFA3C-B928-4EDA-931C-54F617E3F9DD}"/>
              </a:ext>
            </a:extLst>
          </p:cNvPr>
          <p:cNvSpPr/>
          <p:nvPr/>
        </p:nvSpPr>
        <p:spPr>
          <a:xfrm>
            <a:off x="1086258" y="2770457"/>
            <a:ext cx="63874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 err="1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ViewModel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41" name="사각형: 둥근 모서리 640">
            <a:extLst>
              <a:ext uri="{FF2B5EF4-FFF2-40B4-BE49-F238E27FC236}">
                <a16:creationId xmlns:a16="http://schemas.microsoft.com/office/drawing/2014/main" id="{3FF225C0-20CD-444F-AE7E-209E3F31B0BD}"/>
              </a:ext>
            </a:extLst>
          </p:cNvPr>
          <p:cNvSpPr/>
          <p:nvPr/>
        </p:nvSpPr>
        <p:spPr>
          <a:xfrm>
            <a:off x="1956744" y="2426520"/>
            <a:ext cx="550733" cy="282672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42" name="직사각형 641">
            <a:extLst>
              <a:ext uri="{FF2B5EF4-FFF2-40B4-BE49-F238E27FC236}">
                <a16:creationId xmlns:a16="http://schemas.microsoft.com/office/drawing/2014/main" id="{A15C42AD-65C1-4941-9FE1-660FE4D07FE1}"/>
              </a:ext>
            </a:extLst>
          </p:cNvPr>
          <p:cNvSpPr/>
          <p:nvPr/>
        </p:nvSpPr>
        <p:spPr>
          <a:xfrm>
            <a:off x="1922961" y="2413311"/>
            <a:ext cx="6319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Controller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643" name="직선 화살표 연결선 642">
            <a:extLst>
              <a:ext uri="{FF2B5EF4-FFF2-40B4-BE49-F238E27FC236}">
                <a16:creationId xmlns:a16="http://schemas.microsoft.com/office/drawing/2014/main" id="{0D478C02-D433-4F0E-A720-699FC80221AF}"/>
              </a:ext>
            </a:extLst>
          </p:cNvPr>
          <p:cNvCxnSpPr>
            <a:cxnSpLocks/>
            <a:stCxn id="634" idx="2"/>
          </p:cNvCxnSpPr>
          <p:nvPr/>
        </p:nvCxnSpPr>
        <p:spPr>
          <a:xfrm flipH="1">
            <a:off x="1392329" y="2634447"/>
            <a:ext cx="6604" cy="1813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직선 화살표 연결선 643">
            <a:extLst>
              <a:ext uri="{FF2B5EF4-FFF2-40B4-BE49-F238E27FC236}">
                <a16:creationId xmlns:a16="http://schemas.microsoft.com/office/drawing/2014/main" id="{45611C6D-63AE-47F6-84D2-EA51704CF00C}"/>
              </a:ext>
            </a:extLst>
          </p:cNvPr>
          <p:cNvCxnSpPr>
            <a:cxnSpLocks/>
            <a:stCxn id="639" idx="3"/>
            <a:endCxn id="637" idx="1"/>
          </p:cNvCxnSpPr>
          <p:nvPr/>
        </p:nvCxnSpPr>
        <p:spPr>
          <a:xfrm>
            <a:off x="1689320" y="2875933"/>
            <a:ext cx="277921" cy="1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연결선: 꺾임 644">
            <a:extLst>
              <a:ext uri="{FF2B5EF4-FFF2-40B4-BE49-F238E27FC236}">
                <a16:creationId xmlns:a16="http://schemas.microsoft.com/office/drawing/2014/main" id="{837C4725-F36B-4E6C-AF13-99E6077B85E5}"/>
              </a:ext>
            </a:extLst>
          </p:cNvPr>
          <p:cNvCxnSpPr>
            <a:cxnSpLocks/>
            <a:stCxn id="634" idx="3"/>
            <a:endCxn id="641" idx="1"/>
          </p:cNvCxnSpPr>
          <p:nvPr/>
        </p:nvCxnSpPr>
        <p:spPr>
          <a:xfrm>
            <a:off x="1672068" y="2567599"/>
            <a:ext cx="284676" cy="25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6" name="그룹 645">
            <a:extLst>
              <a:ext uri="{FF2B5EF4-FFF2-40B4-BE49-F238E27FC236}">
                <a16:creationId xmlns:a16="http://schemas.microsoft.com/office/drawing/2014/main" id="{D7970EC8-7B80-43C9-B6F0-4A6336F308CB}"/>
              </a:ext>
            </a:extLst>
          </p:cNvPr>
          <p:cNvGrpSpPr/>
          <p:nvPr/>
        </p:nvGrpSpPr>
        <p:grpSpPr>
          <a:xfrm>
            <a:off x="2393072" y="2248573"/>
            <a:ext cx="131476" cy="143168"/>
            <a:chOff x="5213886" y="1690790"/>
            <a:chExt cx="205187" cy="198343"/>
          </a:xfrm>
        </p:grpSpPr>
        <p:sp>
          <p:nvSpPr>
            <p:cNvPr id="647" name="Oval 159">
              <a:extLst>
                <a:ext uri="{FF2B5EF4-FFF2-40B4-BE49-F238E27FC236}">
                  <a16:creationId xmlns:a16="http://schemas.microsoft.com/office/drawing/2014/main" id="{5ED08D47-085D-406B-B9C4-17B83A966DE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648" name="그림 647">
              <a:extLst>
                <a:ext uri="{FF2B5EF4-FFF2-40B4-BE49-F238E27FC236}">
                  <a16:creationId xmlns:a16="http://schemas.microsoft.com/office/drawing/2014/main" id="{2FBD0CF8-47B7-436C-BBDF-DE63F85D0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649" name="사각형: 둥근 모서리 648">
            <a:extLst>
              <a:ext uri="{FF2B5EF4-FFF2-40B4-BE49-F238E27FC236}">
                <a16:creationId xmlns:a16="http://schemas.microsoft.com/office/drawing/2014/main" id="{5EA15BEF-90E0-42A3-9E39-A4A57E52DE73}"/>
              </a:ext>
            </a:extLst>
          </p:cNvPr>
          <p:cNvSpPr/>
          <p:nvPr/>
        </p:nvSpPr>
        <p:spPr>
          <a:xfrm>
            <a:off x="8505041" y="2308696"/>
            <a:ext cx="1239841" cy="114758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50" name="직사각형 649">
            <a:extLst>
              <a:ext uri="{FF2B5EF4-FFF2-40B4-BE49-F238E27FC236}">
                <a16:creationId xmlns:a16="http://schemas.microsoft.com/office/drawing/2014/main" id="{9E92A1FC-B468-49CE-A36E-8F365E40DAA8}"/>
              </a:ext>
            </a:extLst>
          </p:cNvPr>
          <p:cNvSpPr/>
          <p:nvPr/>
        </p:nvSpPr>
        <p:spPr>
          <a:xfrm>
            <a:off x="8556352" y="2386126"/>
            <a:ext cx="1102638" cy="149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latin typeface="다키 B" pitchFamily="2" charset="-127"/>
                <a:ea typeface="다키 B" pitchFamily="2" charset="-127"/>
              </a:rPr>
              <a:t>시스템 및 관계기관연계</a:t>
            </a:r>
          </a:p>
        </p:txBody>
      </p:sp>
      <p:sp>
        <p:nvSpPr>
          <p:cNvPr id="651" name="십자형 650">
            <a:extLst>
              <a:ext uri="{FF2B5EF4-FFF2-40B4-BE49-F238E27FC236}">
                <a16:creationId xmlns:a16="http://schemas.microsoft.com/office/drawing/2014/main" id="{65707B52-FE64-4594-95CF-FDB0227EC21F}"/>
              </a:ext>
            </a:extLst>
          </p:cNvPr>
          <p:cNvSpPr/>
          <p:nvPr/>
        </p:nvSpPr>
        <p:spPr>
          <a:xfrm>
            <a:off x="8667382" y="3006580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ESB/SOAP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52" name="십자형 651">
            <a:extLst>
              <a:ext uri="{FF2B5EF4-FFF2-40B4-BE49-F238E27FC236}">
                <a16:creationId xmlns:a16="http://schemas.microsoft.com/office/drawing/2014/main" id="{834290BB-3DDD-4B18-BD55-7F787C614DE7}"/>
              </a:ext>
            </a:extLst>
          </p:cNvPr>
          <p:cNvSpPr/>
          <p:nvPr/>
        </p:nvSpPr>
        <p:spPr>
          <a:xfrm>
            <a:off x="8652159" y="2617048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Rest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endParaRPr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(Open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56" name="AutoShape 48">
            <a:extLst>
              <a:ext uri="{FF2B5EF4-FFF2-40B4-BE49-F238E27FC236}">
                <a16:creationId xmlns:a16="http://schemas.microsoft.com/office/drawing/2014/main" id="{2E1304BF-76FB-4D37-A26F-3D868A793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803" y="5497513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ko-KR" sz="1000" dirty="0">
                <a:solidFill>
                  <a:srgbClr val="000000"/>
                </a:solidFill>
                <a:latin typeface="다키 L" pitchFamily="2" charset="-127"/>
                <a:ea typeface="다키 L" pitchFamily="2" charset="-127"/>
              </a:rPr>
              <a:t>EFK Stack(</a:t>
            </a:r>
            <a:r>
              <a:rPr kumimoji="1" lang="en-US" altLang="ko-KR" sz="1000" dirty="0" err="1">
                <a:solidFill>
                  <a:srgbClr val="000000"/>
                </a:solidFill>
                <a:latin typeface="다키 L" pitchFamily="2" charset="-127"/>
                <a:ea typeface="다키 L" pitchFamily="2" charset="-127"/>
              </a:rPr>
              <a:t>Fluentd</a:t>
            </a:r>
            <a:r>
              <a:rPr kumimoji="1" lang="en-US" altLang="ko-KR" sz="1000" dirty="0">
                <a:solidFill>
                  <a:srgbClr val="000000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</p:txBody>
      </p:sp>
      <p:sp>
        <p:nvSpPr>
          <p:cNvPr id="657" name="AutoShape 48">
            <a:extLst>
              <a:ext uri="{FF2B5EF4-FFF2-40B4-BE49-F238E27FC236}">
                <a16:creationId xmlns:a16="http://schemas.microsoft.com/office/drawing/2014/main" id="{7567E27B-E711-4730-83D1-A60F47507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139" y="5952074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00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몽고</a:t>
            </a:r>
            <a:r>
              <a:rPr lang="en-US" altLang="ko-KR" sz="100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DB</a:t>
            </a:r>
            <a:endParaRPr lang="en-US" altLang="ko-KR" sz="1000" dirty="0">
              <a:solidFill>
                <a:schemeClr val="tx2"/>
              </a:solidFill>
              <a:latin typeface="다키 M" pitchFamily="2" charset="-127"/>
              <a:ea typeface="다키 M" pitchFamily="2" charset="-127"/>
            </a:endParaRPr>
          </a:p>
        </p:txBody>
      </p:sp>
      <p:pic>
        <p:nvPicPr>
          <p:cNvPr id="658" name="그림 657">
            <a:extLst>
              <a:ext uri="{FF2B5EF4-FFF2-40B4-BE49-F238E27FC236}">
                <a16:creationId xmlns:a16="http://schemas.microsoft.com/office/drawing/2014/main" id="{EE33DD41-3C6C-46D9-A37D-D9895FEE980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595" y="6178630"/>
            <a:ext cx="222600" cy="222600"/>
          </a:xfrm>
          <a:prstGeom prst="rect">
            <a:avLst/>
          </a:prstGeom>
        </p:spPr>
      </p:pic>
      <p:pic>
        <p:nvPicPr>
          <p:cNvPr id="659" name="그림 658">
            <a:extLst>
              <a:ext uri="{FF2B5EF4-FFF2-40B4-BE49-F238E27FC236}">
                <a16:creationId xmlns:a16="http://schemas.microsoft.com/office/drawing/2014/main" id="{E29485FA-248A-4A28-9F74-4B55F26493B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26" y="6207095"/>
            <a:ext cx="144299" cy="144299"/>
          </a:xfrm>
          <a:prstGeom prst="rect">
            <a:avLst/>
          </a:prstGeom>
        </p:spPr>
      </p:pic>
      <p:sp>
        <p:nvSpPr>
          <p:cNvPr id="660" name="직사각형 659">
            <a:extLst>
              <a:ext uri="{FF2B5EF4-FFF2-40B4-BE49-F238E27FC236}">
                <a16:creationId xmlns:a16="http://schemas.microsoft.com/office/drawing/2014/main" id="{DCB1EFD1-CBA1-4511-ABB5-C60C2EC7B265}"/>
              </a:ext>
            </a:extLst>
          </p:cNvPr>
          <p:cNvSpPr/>
          <p:nvPr/>
        </p:nvSpPr>
        <p:spPr>
          <a:xfrm>
            <a:off x="8215481" y="6174504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Boot</a:t>
            </a:r>
          </a:p>
        </p:txBody>
      </p:sp>
      <p:sp>
        <p:nvSpPr>
          <p:cNvPr id="661" name="직사각형 660">
            <a:extLst>
              <a:ext uri="{FF2B5EF4-FFF2-40B4-BE49-F238E27FC236}">
                <a16:creationId xmlns:a16="http://schemas.microsoft.com/office/drawing/2014/main" id="{11FBE736-19D7-4561-B9FF-029476AE78DC}"/>
              </a:ext>
            </a:extLst>
          </p:cNvPr>
          <p:cNvSpPr/>
          <p:nvPr/>
        </p:nvSpPr>
        <p:spPr>
          <a:xfrm>
            <a:off x="9076284" y="6174561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err="1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UnderTow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62" name="Text Box 236">
            <a:extLst>
              <a:ext uri="{FF2B5EF4-FFF2-40B4-BE49-F238E27FC236}">
                <a16:creationId xmlns:a16="http://schemas.microsoft.com/office/drawing/2014/main" id="{0DE95C60-30DE-4B0B-8BE2-921D2A407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5056" y="5437349"/>
            <a:ext cx="392996" cy="1046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ko-KR" altLang="en-US" sz="800" b="1" dirty="0">
                <a:latin typeface="다키 B" pitchFamily="2" charset="-127"/>
                <a:ea typeface="다키 B" pitchFamily="2" charset="-127"/>
              </a:rPr>
              <a:t>범례</a:t>
            </a:r>
          </a:p>
        </p:txBody>
      </p:sp>
      <p:sp>
        <p:nvSpPr>
          <p:cNvPr id="663" name="사각형: 둥근 모서리 662">
            <a:extLst>
              <a:ext uri="{FF2B5EF4-FFF2-40B4-BE49-F238E27FC236}">
                <a16:creationId xmlns:a16="http://schemas.microsoft.com/office/drawing/2014/main" id="{BA1BCF1A-AB7C-440B-953E-C944F5060389}"/>
              </a:ext>
            </a:extLst>
          </p:cNvPr>
          <p:cNvSpPr/>
          <p:nvPr/>
        </p:nvSpPr>
        <p:spPr>
          <a:xfrm>
            <a:off x="2909515" y="3764000"/>
            <a:ext cx="1100287" cy="66864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664" name="그림 663">
            <a:extLst>
              <a:ext uri="{FF2B5EF4-FFF2-40B4-BE49-F238E27FC236}">
                <a16:creationId xmlns:a16="http://schemas.microsoft.com/office/drawing/2014/main" id="{61A29106-A707-4291-99B8-087BEF7FD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00" y="3761683"/>
            <a:ext cx="355086" cy="198081"/>
          </a:xfrm>
          <a:prstGeom prst="rect">
            <a:avLst/>
          </a:prstGeom>
        </p:spPr>
      </p:pic>
      <p:sp>
        <p:nvSpPr>
          <p:cNvPr id="665" name="직사각형 664">
            <a:extLst>
              <a:ext uri="{FF2B5EF4-FFF2-40B4-BE49-F238E27FC236}">
                <a16:creationId xmlns:a16="http://schemas.microsoft.com/office/drawing/2014/main" id="{6FEEF747-BD86-4120-8F20-1E6DFCE02D0D}"/>
              </a:ext>
            </a:extLst>
          </p:cNvPr>
          <p:cNvSpPr/>
          <p:nvPr/>
        </p:nvSpPr>
        <p:spPr>
          <a:xfrm>
            <a:off x="3133552" y="3747998"/>
            <a:ext cx="8442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</a:t>
            </a:r>
            <a:r>
              <a:rPr lang="en-US" altLang="ko-KR" sz="800" b="1" dirty="0" err="1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redis</a:t>
            </a:r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666" name="사각형: 둥근 모서리 665">
            <a:extLst>
              <a:ext uri="{FF2B5EF4-FFF2-40B4-BE49-F238E27FC236}">
                <a16:creationId xmlns:a16="http://schemas.microsoft.com/office/drawing/2014/main" id="{AF53DDF2-44F4-4F3D-B394-B681F19AA435}"/>
              </a:ext>
            </a:extLst>
          </p:cNvPr>
          <p:cNvSpPr/>
          <p:nvPr/>
        </p:nvSpPr>
        <p:spPr>
          <a:xfrm>
            <a:off x="2964093" y="4100347"/>
            <a:ext cx="996997" cy="29362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667" name="그림 666">
            <a:extLst>
              <a:ext uri="{FF2B5EF4-FFF2-40B4-BE49-F238E27FC236}">
                <a16:creationId xmlns:a16="http://schemas.microsoft.com/office/drawing/2014/main" id="{C9743D0C-0D68-4908-AB2B-208B009D4A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789" y="3888804"/>
            <a:ext cx="177759" cy="177759"/>
          </a:xfrm>
          <a:prstGeom prst="rect">
            <a:avLst/>
          </a:prstGeom>
        </p:spPr>
      </p:pic>
      <p:pic>
        <p:nvPicPr>
          <p:cNvPr id="668" name="그림 667">
            <a:extLst>
              <a:ext uri="{FF2B5EF4-FFF2-40B4-BE49-F238E27FC236}">
                <a16:creationId xmlns:a16="http://schemas.microsoft.com/office/drawing/2014/main" id="{3065E0BE-ACE6-420F-8847-B431B1818BA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838" y="2966482"/>
            <a:ext cx="491123" cy="100457"/>
          </a:xfrm>
          <a:prstGeom prst="rect">
            <a:avLst/>
          </a:prstGeom>
        </p:spPr>
      </p:pic>
      <p:sp>
        <p:nvSpPr>
          <p:cNvPr id="265" name="사각형: 둥근 모서리 264">
            <a:extLst>
              <a:ext uri="{FF2B5EF4-FFF2-40B4-BE49-F238E27FC236}">
                <a16:creationId xmlns:a16="http://schemas.microsoft.com/office/drawing/2014/main" id="{8774B09A-82ED-4CE0-94D4-AB6320AF219E}"/>
              </a:ext>
            </a:extLst>
          </p:cNvPr>
          <p:cNvSpPr/>
          <p:nvPr/>
        </p:nvSpPr>
        <p:spPr>
          <a:xfrm>
            <a:off x="3006231" y="4128439"/>
            <a:ext cx="920894" cy="217808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Redis Server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955E8A9-B9C1-4073-BB31-97CD1A72CCA1}"/>
              </a:ext>
            </a:extLst>
          </p:cNvPr>
          <p:cNvCxnSpPr>
            <a:cxnSpLocks/>
            <a:stCxn id="656" idx="2"/>
            <a:endCxn id="657" idx="0"/>
          </p:cNvCxnSpPr>
          <p:nvPr/>
        </p:nvCxnSpPr>
        <p:spPr>
          <a:xfrm rot="5400000">
            <a:off x="6910651" y="5859827"/>
            <a:ext cx="180829" cy="36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58328B80-BE17-4B15-8F73-2D75BB88A850}"/>
              </a:ext>
            </a:extLst>
          </p:cNvPr>
          <p:cNvSpPr/>
          <p:nvPr/>
        </p:nvSpPr>
        <p:spPr>
          <a:xfrm>
            <a:off x="6330720" y="5401067"/>
            <a:ext cx="1339985" cy="905489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ysDash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2482C8"/>
              </a:solidFill>
              <a:effectLst/>
              <a:uLnTx/>
              <a:uFillTx/>
              <a:latin typeface="다키 B" pitchFamily="2" charset="-127"/>
              <a:ea typeface="다키 B" pitchFamily="2" charset="-127"/>
              <a:cs typeface="+mn-cs"/>
            </a:endParaRPr>
          </a:p>
        </p:txBody>
      </p:sp>
      <p:sp>
        <p:nvSpPr>
          <p:cNvPr id="287" name="사각형: 둥근 모서리 286">
            <a:extLst>
              <a:ext uri="{FF2B5EF4-FFF2-40B4-BE49-F238E27FC236}">
                <a16:creationId xmlns:a16="http://schemas.microsoft.com/office/drawing/2014/main" id="{F7C2A2A5-B9E1-4686-9C5D-E8580F2F3DBB}"/>
              </a:ext>
            </a:extLst>
          </p:cNvPr>
          <p:cNvSpPr/>
          <p:nvPr/>
        </p:nvSpPr>
        <p:spPr>
          <a:xfrm>
            <a:off x="6416762" y="2176701"/>
            <a:ext cx="1460994" cy="24665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Spring Boot (Under Tow)</a:t>
            </a:r>
          </a:p>
        </p:txBody>
      </p:sp>
      <p:sp>
        <p:nvSpPr>
          <p:cNvPr id="288" name="AutoShape 5209">
            <a:extLst>
              <a:ext uri="{FF2B5EF4-FFF2-40B4-BE49-F238E27FC236}">
                <a16:creationId xmlns:a16="http://schemas.microsoft.com/office/drawing/2014/main" id="{1BFEB038-4180-4ED5-8E8F-73C356C5C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415" y="1363186"/>
            <a:ext cx="1441118" cy="776132"/>
          </a:xfrm>
          <a:prstGeom prst="roundRect">
            <a:avLst>
              <a:gd name="adj" fmla="val 2097"/>
            </a:avLst>
          </a:prstGeom>
          <a:gradFill rotWithShape="0">
            <a:gsLst>
              <a:gs pos="0">
                <a:srgbClr val="FFFFFF"/>
              </a:gs>
              <a:gs pos="100000">
                <a:srgbClr val="DBF3F9"/>
              </a:gs>
            </a:gsLst>
            <a:lin ang="2700000" scaled="1"/>
          </a:gradFill>
          <a:ln w="9525">
            <a:solidFill>
              <a:srgbClr val="1E92D2"/>
            </a:solidFill>
            <a:round/>
            <a:headEnd/>
            <a:tailEnd/>
          </a:ln>
        </p:spPr>
        <p:txBody>
          <a:bodyPr lIns="91428" tIns="45714" rIns="91428" bIns="45714" anchor="ctr"/>
          <a:lstStyle>
            <a:lvl1pPr marL="80963" indent="-80963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l" latinLnBrk="0">
              <a:buFontTx/>
              <a:buChar char="-"/>
            </a:pPr>
            <a:endParaRPr lang="ko-KR" altLang="ko-KR" sz="7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9" name="Rectangle 50">
            <a:extLst>
              <a:ext uri="{FF2B5EF4-FFF2-40B4-BE49-F238E27FC236}">
                <a16:creationId xmlns:a16="http://schemas.microsoft.com/office/drawing/2014/main" id="{C21A5B3E-4120-4A55-9B42-87B553161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662" y="1970561"/>
            <a:ext cx="1374624" cy="147571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Spring Cloud/FW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90" name="사각형: 둥근 모서리 289">
            <a:extLst>
              <a:ext uri="{FF2B5EF4-FFF2-40B4-BE49-F238E27FC236}">
                <a16:creationId xmlns:a16="http://schemas.microsoft.com/office/drawing/2014/main" id="{84209784-CBE0-4610-949C-A5B251EF256E}"/>
              </a:ext>
            </a:extLst>
          </p:cNvPr>
          <p:cNvSpPr/>
          <p:nvPr/>
        </p:nvSpPr>
        <p:spPr>
          <a:xfrm>
            <a:off x="6439361" y="1399115"/>
            <a:ext cx="768326" cy="170730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controller</a:t>
            </a:r>
          </a:p>
        </p:txBody>
      </p:sp>
      <p:sp>
        <p:nvSpPr>
          <p:cNvPr id="291" name="사각형: 둥근 모서리 290">
            <a:extLst>
              <a:ext uri="{FF2B5EF4-FFF2-40B4-BE49-F238E27FC236}">
                <a16:creationId xmlns:a16="http://schemas.microsoft.com/office/drawing/2014/main" id="{8D9F6FB3-B0BC-4956-B338-CE0D31A14011}"/>
              </a:ext>
            </a:extLst>
          </p:cNvPr>
          <p:cNvSpPr/>
          <p:nvPr/>
        </p:nvSpPr>
        <p:spPr>
          <a:xfrm>
            <a:off x="6441587" y="1595126"/>
            <a:ext cx="768326" cy="154683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 err="1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sevice</a:t>
            </a:r>
            <a:endParaRPr lang="en-US" altLang="ko-KR" sz="8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536E5F5B-9685-41CA-A022-9220D7655351}"/>
              </a:ext>
            </a:extLst>
          </p:cNvPr>
          <p:cNvSpPr/>
          <p:nvPr/>
        </p:nvSpPr>
        <p:spPr>
          <a:xfrm>
            <a:off x="6439361" y="1774111"/>
            <a:ext cx="768326" cy="162836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repository</a:t>
            </a: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77AACCE9-0EE7-4D7E-BBE9-2797F5ECCF23}"/>
              </a:ext>
            </a:extLst>
          </p:cNvPr>
          <p:cNvSpPr/>
          <p:nvPr/>
        </p:nvSpPr>
        <p:spPr>
          <a:xfrm>
            <a:off x="6430894" y="4762093"/>
            <a:ext cx="1460994" cy="24665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Spring Boot (Under Tow)</a:t>
            </a:r>
          </a:p>
        </p:txBody>
      </p:sp>
      <p:sp>
        <p:nvSpPr>
          <p:cNvPr id="294" name="AutoShape 5209">
            <a:extLst>
              <a:ext uri="{FF2B5EF4-FFF2-40B4-BE49-F238E27FC236}">
                <a16:creationId xmlns:a16="http://schemas.microsoft.com/office/drawing/2014/main" id="{8D36518A-1405-4C85-A062-DE54DD6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547" y="3948578"/>
            <a:ext cx="1441118" cy="776132"/>
          </a:xfrm>
          <a:prstGeom prst="roundRect">
            <a:avLst>
              <a:gd name="adj" fmla="val 2097"/>
            </a:avLst>
          </a:prstGeom>
          <a:gradFill rotWithShape="0">
            <a:gsLst>
              <a:gs pos="0">
                <a:srgbClr val="FFFFFF"/>
              </a:gs>
              <a:gs pos="100000">
                <a:srgbClr val="DBF3F9"/>
              </a:gs>
            </a:gsLst>
            <a:lin ang="2700000" scaled="1"/>
          </a:gradFill>
          <a:ln w="9525">
            <a:solidFill>
              <a:srgbClr val="1E92D2"/>
            </a:solidFill>
            <a:round/>
            <a:headEnd/>
            <a:tailEnd/>
          </a:ln>
        </p:spPr>
        <p:txBody>
          <a:bodyPr lIns="91428" tIns="45714" rIns="91428" bIns="45714" anchor="ctr"/>
          <a:lstStyle>
            <a:lvl1pPr marL="80963" indent="-80963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l" latinLnBrk="0">
              <a:buFontTx/>
              <a:buChar char="-"/>
            </a:pPr>
            <a:endParaRPr lang="ko-KR" altLang="ko-KR" sz="7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5" name="Rectangle 50">
            <a:extLst>
              <a:ext uri="{FF2B5EF4-FFF2-40B4-BE49-F238E27FC236}">
                <a16:creationId xmlns:a16="http://schemas.microsoft.com/office/drawing/2014/main" id="{25D89D58-63F6-43BA-A540-B20848012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794" y="4555953"/>
            <a:ext cx="1374624" cy="147571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Spring Cloud/FW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96" name="사각형: 둥근 모서리 295">
            <a:extLst>
              <a:ext uri="{FF2B5EF4-FFF2-40B4-BE49-F238E27FC236}">
                <a16:creationId xmlns:a16="http://schemas.microsoft.com/office/drawing/2014/main" id="{0A35FD7C-43E1-4C87-85AD-C8786D6D5BAB}"/>
              </a:ext>
            </a:extLst>
          </p:cNvPr>
          <p:cNvSpPr/>
          <p:nvPr/>
        </p:nvSpPr>
        <p:spPr>
          <a:xfrm>
            <a:off x="6470794" y="3983367"/>
            <a:ext cx="732504" cy="183386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controller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5F47BDEA-BDB3-49E7-B2DA-E80426F2BFC7}"/>
              </a:ext>
            </a:extLst>
          </p:cNvPr>
          <p:cNvSpPr/>
          <p:nvPr/>
        </p:nvSpPr>
        <p:spPr>
          <a:xfrm>
            <a:off x="6473020" y="4188004"/>
            <a:ext cx="730278" cy="160056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 err="1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sevice</a:t>
            </a:r>
            <a:endParaRPr lang="en-US" altLang="ko-KR" sz="8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64C36278-EF37-419F-BD5B-CEBA9EB5DC23}"/>
              </a:ext>
            </a:extLst>
          </p:cNvPr>
          <p:cNvSpPr/>
          <p:nvPr/>
        </p:nvSpPr>
        <p:spPr>
          <a:xfrm>
            <a:off x="6470794" y="4375615"/>
            <a:ext cx="730278" cy="156703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repository</a:t>
            </a:r>
          </a:p>
        </p:txBody>
      </p:sp>
      <p:sp>
        <p:nvSpPr>
          <p:cNvPr id="299" name="Rectangle 41">
            <a:extLst>
              <a:ext uri="{FF2B5EF4-FFF2-40B4-BE49-F238E27FC236}">
                <a16:creationId xmlns:a16="http://schemas.microsoft.com/office/drawing/2014/main" id="{17EFD992-1B1B-4F30-B2A8-0238A6781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631" y="1398758"/>
            <a:ext cx="619813" cy="22870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Circuit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Breaker</a:t>
            </a:r>
          </a:p>
        </p:txBody>
      </p:sp>
      <p:sp>
        <p:nvSpPr>
          <p:cNvPr id="300" name="AutoShape 93">
            <a:extLst>
              <a:ext uri="{FF2B5EF4-FFF2-40B4-BE49-F238E27FC236}">
                <a16:creationId xmlns:a16="http://schemas.microsoft.com/office/drawing/2014/main" id="{3E4D2D7E-CF7D-415C-A4C1-6B7D54ED0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610" y="1359645"/>
            <a:ext cx="104099" cy="7761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rIns="0" anchor="ctr"/>
          <a:lstStyle/>
          <a:p>
            <a:pPr algn="ctr" latinLnBrk="0">
              <a:lnSpc>
                <a:spcPct val="110000"/>
              </a:lnSpc>
              <a:buClr>
                <a:srgbClr val="7685A2"/>
              </a:buClr>
              <a:buFont typeface="Wingdings" panose="05000000000000000000" pitchFamily="2" charset="2"/>
              <a:buNone/>
            </a:pPr>
            <a:r>
              <a:rPr lang="en-US" altLang="ko-KR" sz="700" dirty="0">
                <a:solidFill>
                  <a:srgbClr val="4D4D4D"/>
                </a:solidFill>
                <a:latin typeface="다키 M" pitchFamily="2" charset="-127"/>
                <a:ea typeface="다키 M" pitchFamily="2" charset="-127"/>
              </a:rPr>
              <a:t>Load Balancing </a:t>
            </a:r>
          </a:p>
        </p:txBody>
      </p:sp>
      <p:sp>
        <p:nvSpPr>
          <p:cNvPr id="301" name="Rectangle 41">
            <a:extLst>
              <a:ext uri="{FF2B5EF4-FFF2-40B4-BE49-F238E27FC236}">
                <a16:creationId xmlns:a16="http://schemas.microsoft.com/office/drawing/2014/main" id="{2C34A204-F4B1-41C6-8DC2-735493720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948" y="1647429"/>
            <a:ext cx="623418" cy="133352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Rabbit MQ</a:t>
            </a:r>
          </a:p>
        </p:txBody>
      </p:sp>
      <p:sp>
        <p:nvSpPr>
          <p:cNvPr id="302" name="Rectangle 41">
            <a:extLst>
              <a:ext uri="{FF2B5EF4-FFF2-40B4-BE49-F238E27FC236}">
                <a16:creationId xmlns:a16="http://schemas.microsoft.com/office/drawing/2014/main" id="{FB475F29-EE31-4453-A322-639DCA811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632" y="1796449"/>
            <a:ext cx="616733" cy="13886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Sleuth</a:t>
            </a:r>
          </a:p>
        </p:txBody>
      </p:sp>
      <p:sp>
        <p:nvSpPr>
          <p:cNvPr id="306" name="Rectangle 41">
            <a:extLst>
              <a:ext uri="{FF2B5EF4-FFF2-40B4-BE49-F238E27FC236}">
                <a16:creationId xmlns:a16="http://schemas.microsoft.com/office/drawing/2014/main" id="{64A13981-F4E4-445C-9FD8-A54BE16D1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416" y="3983865"/>
            <a:ext cx="619813" cy="22870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Circuit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Breaker</a:t>
            </a:r>
          </a:p>
        </p:txBody>
      </p:sp>
      <p:sp>
        <p:nvSpPr>
          <p:cNvPr id="307" name="Rectangle 41">
            <a:extLst>
              <a:ext uri="{FF2B5EF4-FFF2-40B4-BE49-F238E27FC236}">
                <a16:creationId xmlns:a16="http://schemas.microsoft.com/office/drawing/2014/main" id="{0E46E85B-80A5-476A-89D1-FD3F6015D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1359" y="4228808"/>
            <a:ext cx="623418" cy="14679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Rabbit MQ</a:t>
            </a:r>
          </a:p>
        </p:txBody>
      </p:sp>
      <p:sp>
        <p:nvSpPr>
          <p:cNvPr id="308" name="Rectangle 41">
            <a:extLst>
              <a:ext uri="{FF2B5EF4-FFF2-40B4-BE49-F238E27FC236}">
                <a16:creationId xmlns:a16="http://schemas.microsoft.com/office/drawing/2014/main" id="{232212AD-BB25-4ED2-AC50-C23638CAB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417" y="4390183"/>
            <a:ext cx="619812" cy="133008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Sleuth</a:t>
            </a:r>
          </a:p>
        </p:txBody>
      </p:sp>
      <p:sp>
        <p:nvSpPr>
          <p:cNvPr id="310" name="사각형: 둥근 대각선 방향 모서리 309">
            <a:extLst>
              <a:ext uri="{FF2B5EF4-FFF2-40B4-BE49-F238E27FC236}">
                <a16:creationId xmlns:a16="http://schemas.microsoft.com/office/drawing/2014/main" id="{A0DE3CA4-561D-48D2-B815-43FBCA9E1914}"/>
              </a:ext>
            </a:extLst>
          </p:cNvPr>
          <p:cNvSpPr/>
          <p:nvPr/>
        </p:nvSpPr>
        <p:spPr>
          <a:xfrm>
            <a:off x="5364990" y="5980231"/>
            <a:ext cx="970067" cy="322914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ko-KR" dirty="0">
                <a:solidFill>
                  <a:srgbClr val="44546A"/>
                </a:solidFill>
                <a:latin typeface="다키 M" pitchFamily="2" charset="-127"/>
                <a:ea typeface="다키 M" pitchFamily="2" charset="-127"/>
              </a:rPr>
              <a:t>Kibana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2054" name="Picture 6" descr="Harbor">
            <a:extLst>
              <a:ext uri="{FF2B5EF4-FFF2-40B4-BE49-F238E27FC236}">
                <a16:creationId xmlns:a16="http://schemas.microsoft.com/office/drawing/2014/main" id="{5F92F62B-6776-45BC-A8FF-B0BDB2F12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199" y="6162273"/>
            <a:ext cx="728366" cy="19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rd">
            <a:extLst>
              <a:ext uri="{FF2B5EF4-FFF2-40B4-BE49-F238E27FC236}">
                <a16:creationId xmlns:a16="http://schemas.microsoft.com/office/drawing/2014/main" id="{33EE3D12-E6CC-4404-9647-24EC73A9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980" y="6084702"/>
            <a:ext cx="301180" cy="3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toring, processing, distributed, system, file, data, analysing icon">
            <a:extLst>
              <a:ext uri="{FF2B5EF4-FFF2-40B4-BE49-F238E27FC236}">
                <a16:creationId xmlns:a16="http://schemas.microsoft.com/office/drawing/2014/main" id="{BD06E1A7-D43E-4381-9507-ED9184AD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47" y="6101346"/>
            <a:ext cx="306038" cy="30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2B3C7F2-B8CC-4127-BDD8-79407AC6A5C5}"/>
              </a:ext>
            </a:extLst>
          </p:cNvPr>
          <p:cNvCxnSpPr>
            <a:cxnSpLocks/>
            <a:stCxn id="2054" idx="3"/>
          </p:cNvCxnSpPr>
          <p:nvPr/>
        </p:nvCxnSpPr>
        <p:spPr>
          <a:xfrm>
            <a:off x="1936565" y="6258908"/>
            <a:ext cx="606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14A053-51B0-4DB1-94A6-089CC9343BF4}"/>
              </a:ext>
            </a:extLst>
          </p:cNvPr>
          <p:cNvSpPr/>
          <p:nvPr/>
        </p:nvSpPr>
        <p:spPr>
          <a:xfrm>
            <a:off x="2925791" y="6165076"/>
            <a:ext cx="48122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 err="1">
                <a:latin typeface="다키 L" pitchFamily="2" charset="-127"/>
                <a:ea typeface="다키 L" pitchFamily="2" charset="-127"/>
              </a:rPr>
              <a:t>MinIO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265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97CB51FF-59AE-494A-9E6B-ACDA76E9B356}"/>
              </a:ext>
            </a:extLst>
          </p:cNvPr>
          <p:cNvSpPr/>
          <p:nvPr/>
        </p:nvSpPr>
        <p:spPr>
          <a:xfrm>
            <a:off x="2437299" y="771335"/>
            <a:ext cx="5338045" cy="4234301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dirty="0">
                <a:latin typeface="다키 L" pitchFamily="2" charset="-127"/>
                <a:ea typeface="다키 L" pitchFamily="2" charset="-127"/>
              </a:rPr>
              <a:t> </a:t>
            </a:r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AD74DA87-1199-4483-B5B3-3173F1501B8E}"/>
              </a:ext>
            </a:extLst>
          </p:cNvPr>
          <p:cNvSpPr/>
          <p:nvPr/>
        </p:nvSpPr>
        <p:spPr>
          <a:xfrm>
            <a:off x="147052" y="5236035"/>
            <a:ext cx="3358227" cy="1153060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D520EE59-19CC-4B53-A962-A94151F650E0}"/>
              </a:ext>
            </a:extLst>
          </p:cNvPr>
          <p:cNvSpPr/>
          <p:nvPr/>
        </p:nvSpPr>
        <p:spPr>
          <a:xfrm>
            <a:off x="2520374" y="1638370"/>
            <a:ext cx="1295814" cy="242389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BDBADD-8EB2-4E1F-BD54-FF0F7556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84" y="45719"/>
            <a:ext cx="7839641" cy="499721"/>
          </a:xfrm>
        </p:spPr>
        <p:txBody>
          <a:bodyPr/>
          <a:lstStyle/>
          <a:p>
            <a:r>
              <a:rPr lang="ko-KR" altLang="en-US" dirty="0"/>
              <a:t>소프트웨어 아키텍처 구성도 </a:t>
            </a:r>
            <a:r>
              <a:rPr lang="en-US" altLang="ko-KR" dirty="0"/>
              <a:t>– spring cloud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5B27352-6ABA-4A42-968C-5C7B99BDA4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51157-3FC7-47B7-A138-266CB3D40BC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0611109-0CF4-49A5-A860-9A85A4BB6B55}"/>
              </a:ext>
            </a:extLst>
          </p:cNvPr>
          <p:cNvSpPr/>
          <p:nvPr/>
        </p:nvSpPr>
        <p:spPr>
          <a:xfrm>
            <a:off x="4181580" y="1225205"/>
            <a:ext cx="3444168" cy="1864824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5E0408C-EBF4-4D43-B43E-FE4BB1023582}"/>
              </a:ext>
            </a:extLst>
          </p:cNvPr>
          <p:cNvSpPr/>
          <p:nvPr/>
        </p:nvSpPr>
        <p:spPr>
          <a:xfrm>
            <a:off x="4197430" y="826756"/>
            <a:ext cx="1832437" cy="29593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Configuration Server   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140EE31B-7D79-41B6-9629-555A5A9FE6EA}"/>
              </a:ext>
            </a:extLst>
          </p:cNvPr>
          <p:cNvCxnSpPr>
            <a:cxnSpLocks/>
            <a:stCxn id="72" idx="1"/>
            <a:endCxn id="194" idx="1"/>
          </p:cNvCxnSpPr>
          <p:nvPr/>
        </p:nvCxnSpPr>
        <p:spPr>
          <a:xfrm rot="10800000" flipV="1">
            <a:off x="4177040" y="974722"/>
            <a:ext cx="20390" cy="379313"/>
          </a:xfrm>
          <a:prstGeom prst="bentConnector3">
            <a:avLst>
              <a:gd name="adj1" fmla="val 1221138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A15042B-79ED-411D-AFDE-2A8B0DDE8B66}"/>
              </a:ext>
            </a:extLst>
          </p:cNvPr>
          <p:cNvSpPr/>
          <p:nvPr/>
        </p:nvSpPr>
        <p:spPr>
          <a:xfrm>
            <a:off x="8197195" y="1918144"/>
            <a:ext cx="1292877" cy="179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다키 B" pitchFamily="2" charset="-127"/>
                <a:ea typeface="다키 B" pitchFamily="2" charset="-127"/>
              </a:rPr>
              <a:t> </a:t>
            </a:r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I/F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91918988-4DAA-4AD1-90AC-BB7C252A4726}"/>
              </a:ext>
            </a:extLst>
          </p:cNvPr>
          <p:cNvSpPr/>
          <p:nvPr/>
        </p:nvSpPr>
        <p:spPr>
          <a:xfrm>
            <a:off x="8197195" y="3905699"/>
            <a:ext cx="1299804" cy="183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다키 B" pitchFamily="2" charset="-127"/>
                <a:ea typeface="다키 B" pitchFamily="2" charset="-127"/>
              </a:rPr>
              <a:t>관계기관 </a:t>
            </a:r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I/F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AB705AB-7599-402E-A20B-2AEDD090E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35" y="5773075"/>
            <a:ext cx="901055" cy="36861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87A87BE-E191-4994-AB6B-4521E6543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062" y="5747689"/>
            <a:ext cx="416988" cy="416988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85C6D0F6-5B48-42FB-96C7-061F87BC2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85" y="5390154"/>
            <a:ext cx="451246" cy="428159"/>
          </a:xfrm>
          <a:prstGeom prst="rect">
            <a:avLst/>
          </a:prstGeom>
        </p:spPr>
      </p:pic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FB138216-1491-4A0E-86DF-73BDBF2984AE}"/>
              </a:ext>
            </a:extLst>
          </p:cNvPr>
          <p:cNvCxnSpPr>
            <a:stCxn id="19" idx="3"/>
            <a:endCxn id="35" idx="1"/>
          </p:cNvCxnSpPr>
          <p:nvPr/>
        </p:nvCxnSpPr>
        <p:spPr>
          <a:xfrm flipV="1">
            <a:off x="1219890" y="5956183"/>
            <a:ext cx="1583172" cy="11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0EDEFF64-F66E-4EAA-A07E-190A6207810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22388" y="5247641"/>
            <a:ext cx="195004" cy="908191"/>
          </a:xfrm>
          <a:prstGeom prst="bentConnector2">
            <a:avLst/>
          </a:prstGeom>
          <a:ln>
            <a:prstDash val="lg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1607A3E7-B957-4AA7-92D5-B6E9F96162C9}"/>
              </a:ext>
            </a:extLst>
          </p:cNvPr>
          <p:cNvSpPr/>
          <p:nvPr/>
        </p:nvSpPr>
        <p:spPr>
          <a:xfrm>
            <a:off x="2575956" y="1915687"/>
            <a:ext cx="1150650" cy="477338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Spring Cloud Gateway</a:t>
            </a:r>
          </a:p>
          <a:p>
            <a:pPr lvl="0" algn="ctr"/>
            <a:r>
              <a:rPr lang="en-US" altLang="ko-KR" sz="10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[Zuul2]</a:t>
            </a: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4047A3A2-C0C5-42BB-8B34-ED0D1DD99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458" y="1629338"/>
            <a:ext cx="383946" cy="227165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D36A5DA3-3B77-4B41-A6DE-5BD3A6300A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520" y="1127297"/>
            <a:ext cx="413473" cy="413473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F07682C8-AA6A-458B-B3C2-B58E0DCD0D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393" y="1183085"/>
            <a:ext cx="343809" cy="343809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86581C4-848D-41D5-B22D-C79145670822}"/>
              </a:ext>
            </a:extLst>
          </p:cNvPr>
          <p:cNvSpPr/>
          <p:nvPr/>
        </p:nvSpPr>
        <p:spPr>
          <a:xfrm>
            <a:off x="2524718" y="4290833"/>
            <a:ext cx="1368082" cy="57199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8675790-E127-4D78-A434-17814D2731D5}"/>
              </a:ext>
            </a:extLst>
          </p:cNvPr>
          <p:cNvSpPr/>
          <p:nvPr/>
        </p:nvSpPr>
        <p:spPr>
          <a:xfrm>
            <a:off x="2294533" y="6155226"/>
            <a:ext cx="11144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B880429-30B7-438C-AB92-03A8EE73CE0D}"/>
              </a:ext>
            </a:extLst>
          </p:cNvPr>
          <p:cNvSpPr/>
          <p:nvPr/>
        </p:nvSpPr>
        <p:spPr>
          <a:xfrm>
            <a:off x="305058" y="6065071"/>
            <a:ext cx="94288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3452A68-A70C-4028-AFC4-EE0BE3672268}"/>
              </a:ext>
            </a:extLst>
          </p:cNvPr>
          <p:cNvSpPr/>
          <p:nvPr/>
        </p:nvSpPr>
        <p:spPr>
          <a:xfrm>
            <a:off x="2505848" y="5437349"/>
            <a:ext cx="9610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Docker Private Registry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89" name="AutoShape 48">
            <a:extLst>
              <a:ext uri="{FF2B5EF4-FFF2-40B4-BE49-F238E27FC236}">
                <a16:creationId xmlns:a16="http://schemas.microsoft.com/office/drawing/2014/main" id="{A97226C7-7F56-4754-A306-761EC41F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824" y="4488231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Task Queues  </a:t>
            </a: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D1EACB8D-EC0A-4CE0-B520-005FDECB04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669" y="4488232"/>
            <a:ext cx="275235" cy="292750"/>
          </a:xfrm>
          <a:prstGeom prst="rect">
            <a:avLst/>
          </a:prstGeo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FF6F625-E458-4508-8E13-9CA79CFB9596}"/>
              </a:ext>
            </a:extLst>
          </p:cNvPr>
          <p:cNvSpPr/>
          <p:nvPr/>
        </p:nvSpPr>
        <p:spPr>
          <a:xfrm>
            <a:off x="8379869" y="5436910"/>
            <a:ext cx="110158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Cloud Bus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ADE4DA58-6484-458E-B2DB-6E6E5BD515ED}"/>
              </a:ext>
            </a:extLst>
          </p:cNvPr>
          <p:cNvSpPr/>
          <p:nvPr/>
        </p:nvSpPr>
        <p:spPr>
          <a:xfrm>
            <a:off x="2523025" y="2378265"/>
            <a:ext cx="10070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Service Routing</a:t>
            </a: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67B6C8BC-BFCE-4710-8753-26F9DD3B5C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335" y="5326469"/>
            <a:ext cx="165100" cy="97683"/>
          </a:xfrm>
          <a:prstGeom prst="rect">
            <a:avLst/>
          </a:prstGeom>
        </p:spPr>
      </p:pic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1AF0095F-E691-4F54-9848-3D99745E14AC}"/>
              </a:ext>
            </a:extLst>
          </p:cNvPr>
          <p:cNvSpPr/>
          <p:nvPr/>
        </p:nvSpPr>
        <p:spPr>
          <a:xfrm>
            <a:off x="8379869" y="5270901"/>
            <a:ext cx="842776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0FCEE8C-5C95-472B-832A-D5C1434197F5}"/>
              </a:ext>
            </a:extLst>
          </p:cNvPr>
          <p:cNvSpPr/>
          <p:nvPr/>
        </p:nvSpPr>
        <p:spPr>
          <a:xfrm>
            <a:off x="2436272" y="781263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Microservices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22D3DFE-BC47-4ABF-8534-C2DA896B3D3B}"/>
              </a:ext>
            </a:extLst>
          </p:cNvPr>
          <p:cNvSpPr/>
          <p:nvPr/>
        </p:nvSpPr>
        <p:spPr>
          <a:xfrm>
            <a:off x="2690409" y="1624368"/>
            <a:ext cx="7906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err="1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Api</a:t>
            </a:r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 Server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9FC482F-0D50-43D4-A874-A3FED521A9A5}"/>
              </a:ext>
            </a:extLst>
          </p:cNvPr>
          <p:cNvSpPr/>
          <p:nvPr/>
        </p:nvSpPr>
        <p:spPr>
          <a:xfrm>
            <a:off x="2586601" y="2625443"/>
            <a:ext cx="1150650" cy="665866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Eureka</a:t>
            </a:r>
          </a:p>
          <a:p>
            <a:pPr lvl="0" algn="ctr"/>
            <a:r>
              <a:rPr lang="en-US" altLang="ko-KR" sz="10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[Zookeeper]</a:t>
            </a:r>
          </a:p>
          <a:p>
            <a:pPr lvl="0" algn="ctr"/>
            <a:endParaRPr lang="en-US" altLang="ko-KR" sz="1000" dirty="0">
              <a:solidFill>
                <a:schemeClr val="bg1"/>
              </a:solidFill>
              <a:latin typeface="다키 M" pitchFamily="2" charset="-127"/>
              <a:ea typeface="다키 M" pitchFamily="2" charset="-127"/>
            </a:endParaRPr>
          </a:p>
          <a:p>
            <a:pPr lvl="0" algn="ctr"/>
            <a:endParaRPr lang="en-US" altLang="ko-KR" sz="1000" dirty="0">
              <a:solidFill>
                <a:schemeClr val="bg1"/>
              </a:solidFill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155354A-650A-43E6-AD1D-FF8B2B5BA255}"/>
              </a:ext>
            </a:extLst>
          </p:cNvPr>
          <p:cNvSpPr/>
          <p:nvPr/>
        </p:nvSpPr>
        <p:spPr>
          <a:xfrm>
            <a:off x="2557963" y="3289027"/>
            <a:ext cx="11714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Service Discovery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94BECB5-D6BC-44F1-823E-CCB4F0D9C49C}"/>
              </a:ext>
            </a:extLst>
          </p:cNvPr>
          <p:cNvSpPr/>
          <p:nvPr/>
        </p:nvSpPr>
        <p:spPr>
          <a:xfrm>
            <a:off x="2611290" y="3006729"/>
            <a:ext cx="1106056" cy="263994"/>
          </a:xfrm>
          <a:prstGeom prst="roundRect">
            <a:avLst>
              <a:gd name="adj" fmla="val 16175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Service Registry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8EFC83D3-A447-4C05-96E1-23D48D412EC0}"/>
              </a:ext>
            </a:extLst>
          </p:cNvPr>
          <p:cNvSpPr/>
          <p:nvPr/>
        </p:nvSpPr>
        <p:spPr>
          <a:xfrm>
            <a:off x="2580375" y="3517203"/>
            <a:ext cx="1150650" cy="304831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 err="1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Hystrix</a:t>
            </a:r>
            <a:endParaRPr lang="en-US" altLang="ko-KR" sz="1000" dirty="0">
              <a:solidFill>
                <a:schemeClr val="bg1"/>
              </a:solidFill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7DFAED3-651F-4C07-BE3E-2877AB96EE1A}"/>
              </a:ext>
            </a:extLst>
          </p:cNvPr>
          <p:cNvSpPr/>
          <p:nvPr/>
        </p:nvSpPr>
        <p:spPr>
          <a:xfrm>
            <a:off x="2527299" y="3816517"/>
            <a:ext cx="11714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Circuit Breaker</a:t>
            </a:r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E8CC6459-74BD-4240-AB80-6B91B812CC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940" y="885423"/>
            <a:ext cx="238769" cy="158210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7DF4F38E-2C45-4E1B-B6B7-240500C15D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166" y="2193419"/>
            <a:ext cx="238769" cy="15821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34C4B5E7-3A44-4C6C-BC21-63478D1A4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824" y="2624391"/>
            <a:ext cx="238769" cy="158210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3CE47BCF-0296-431A-B4E6-EBD9AD2497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217" y="3587755"/>
            <a:ext cx="238769" cy="158210"/>
          </a:xfrm>
          <a:prstGeom prst="rect">
            <a:avLst/>
          </a:prstGeom>
        </p:spPr>
      </p:pic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AB89DCE2-A583-466D-88CA-8CE02AF01AB0}"/>
              </a:ext>
            </a:extLst>
          </p:cNvPr>
          <p:cNvSpPr/>
          <p:nvPr/>
        </p:nvSpPr>
        <p:spPr>
          <a:xfrm>
            <a:off x="2533114" y="4284534"/>
            <a:ext cx="11714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Message Queue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31F00B6F-7BB9-4327-A75B-FB36AC275DB1}"/>
              </a:ext>
            </a:extLst>
          </p:cNvPr>
          <p:cNvSpPr/>
          <p:nvPr/>
        </p:nvSpPr>
        <p:spPr>
          <a:xfrm>
            <a:off x="8379869" y="5606626"/>
            <a:ext cx="74411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Rabbit MQ</a:t>
            </a:r>
          </a:p>
        </p:txBody>
      </p:sp>
      <p:pic>
        <p:nvPicPr>
          <p:cNvPr id="172" name="그림 171">
            <a:extLst>
              <a:ext uri="{FF2B5EF4-FFF2-40B4-BE49-F238E27FC236}">
                <a16:creationId xmlns:a16="http://schemas.microsoft.com/office/drawing/2014/main" id="{1122F7AB-6F88-44CD-9B38-6093F883F5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690" y="5645813"/>
            <a:ext cx="126790" cy="134859"/>
          </a:xfrm>
          <a:prstGeom prst="rect">
            <a:avLst/>
          </a:prstGeom>
        </p:spPr>
      </p:pic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B6FD2130-E30D-4E6B-AD3B-D29AD6C97E29}"/>
              </a:ext>
            </a:extLst>
          </p:cNvPr>
          <p:cNvSpPr/>
          <p:nvPr/>
        </p:nvSpPr>
        <p:spPr>
          <a:xfrm>
            <a:off x="5980077" y="796861"/>
            <a:ext cx="8515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Cloud Config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5F15FCB-FE72-4B66-B788-BD16759DFF6A}"/>
              </a:ext>
            </a:extLst>
          </p:cNvPr>
          <p:cNvSpPr/>
          <p:nvPr/>
        </p:nvSpPr>
        <p:spPr>
          <a:xfrm>
            <a:off x="2445709" y="1428750"/>
            <a:ext cx="8467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API Gateway</a:t>
            </a:r>
            <a:endParaRPr lang="ko-KR" altLang="en-US" dirty="0"/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56AB9D4C-9582-4792-A00B-6162AC18502D}"/>
              </a:ext>
            </a:extLst>
          </p:cNvPr>
          <p:cNvSpPr/>
          <p:nvPr/>
        </p:nvSpPr>
        <p:spPr>
          <a:xfrm>
            <a:off x="8044819" y="3793669"/>
            <a:ext cx="1607883" cy="12519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2" name="그림 191">
            <a:extLst>
              <a:ext uri="{FF2B5EF4-FFF2-40B4-BE49-F238E27FC236}">
                <a16:creationId xmlns:a16="http://schemas.microsoft.com/office/drawing/2014/main" id="{78BAEF5E-048A-4F16-8897-241C6E73F2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657" y="1751209"/>
            <a:ext cx="702535" cy="204906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B5177EA9-F0B8-4688-9427-E4C7F36EE9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040" y="1248991"/>
            <a:ext cx="355086" cy="210090"/>
          </a:xfrm>
          <a:prstGeom prst="rect">
            <a:avLst/>
          </a:prstGeom>
        </p:spPr>
      </p:pic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D5EB6D43-E49C-4010-B7D9-1C0A91FEEEAA}"/>
              </a:ext>
            </a:extLst>
          </p:cNvPr>
          <p:cNvSpPr/>
          <p:nvPr/>
        </p:nvSpPr>
        <p:spPr>
          <a:xfrm>
            <a:off x="4293642" y="1250759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API Service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0D35146-EB1A-4E2F-8D38-E5B02768454F}"/>
              </a:ext>
            </a:extLst>
          </p:cNvPr>
          <p:cNvSpPr/>
          <p:nvPr/>
        </p:nvSpPr>
        <p:spPr>
          <a:xfrm>
            <a:off x="4224416" y="1520539"/>
            <a:ext cx="3328405" cy="151104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2F258FE4-E838-4977-82EE-98897ADE616C}"/>
              </a:ext>
            </a:extLst>
          </p:cNvPr>
          <p:cNvSpPr/>
          <p:nvPr/>
        </p:nvSpPr>
        <p:spPr>
          <a:xfrm>
            <a:off x="4354579" y="1588459"/>
            <a:ext cx="1081912" cy="198343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매입 </a:t>
            </a: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Server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A19D53FB-92A9-47DC-834F-125707DAD393}"/>
              </a:ext>
            </a:extLst>
          </p:cNvPr>
          <p:cNvSpPr/>
          <p:nvPr/>
        </p:nvSpPr>
        <p:spPr>
          <a:xfrm>
            <a:off x="4359565" y="1822861"/>
            <a:ext cx="1081912" cy="198343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매출 서비스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6532E9B7-2CE1-42BC-8A11-949DEA928416}"/>
              </a:ext>
            </a:extLst>
          </p:cNvPr>
          <p:cNvGrpSpPr/>
          <p:nvPr/>
        </p:nvGrpSpPr>
        <p:grpSpPr>
          <a:xfrm>
            <a:off x="5235844" y="1591479"/>
            <a:ext cx="205187" cy="198343"/>
            <a:chOff x="5213886" y="1690790"/>
            <a:chExt cx="205187" cy="198343"/>
          </a:xfrm>
        </p:grpSpPr>
        <p:sp>
          <p:nvSpPr>
            <p:cNvPr id="211" name="Oval 159">
              <a:extLst>
                <a:ext uri="{FF2B5EF4-FFF2-40B4-BE49-F238E27FC236}">
                  <a16:creationId xmlns:a16="http://schemas.microsoft.com/office/drawing/2014/main" id="{F92C61B6-5D15-4A79-A392-DCFDE3BE1E5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F406C664-1CE3-42B2-94E5-F612476AE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E7DE2D1F-B6CA-4E97-8802-968C9A60D371}"/>
              </a:ext>
            </a:extLst>
          </p:cNvPr>
          <p:cNvGrpSpPr/>
          <p:nvPr/>
        </p:nvGrpSpPr>
        <p:grpSpPr>
          <a:xfrm>
            <a:off x="5240830" y="1824383"/>
            <a:ext cx="205187" cy="198343"/>
            <a:chOff x="5213886" y="1690790"/>
            <a:chExt cx="205187" cy="198343"/>
          </a:xfrm>
        </p:grpSpPr>
        <p:sp>
          <p:nvSpPr>
            <p:cNvPr id="218" name="Oval 159">
              <a:extLst>
                <a:ext uri="{FF2B5EF4-FFF2-40B4-BE49-F238E27FC236}">
                  <a16:creationId xmlns:a16="http://schemas.microsoft.com/office/drawing/2014/main" id="{ABF39F67-2161-466C-BC49-BBF93474F5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E2237E15-85AF-417E-AA02-9E6CD612B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673088FF-BC64-4536-A8E9-3E6A94BC41EB}"/>
              </a:ext>
            </a:extLst>
          </p:cNvPr>
          <p:cNvGrpSpPr/>
          <p:nvPr/>
        </p:nvGrpSpPr>
        <p:grpSpPr>
          <a:xfrm>
            <a:off x="5825640" y="917383"/>
            <a:ext cx="205187" cy="198343"/>
            <a:chOff x="5213886" y="1690790"/>
            <a:chExt cx="205187" cy="198343"/>
          </a:xfrm>
        </p:grpSpPr>
        <p:sp>
          <p:nvSpPr>
            <p:cNvPr id="221" name="Oval 159">
              <a:extLst>
                <a:ext uri="{FF2B5EF4-FFF2-40B4-BE49-F238E27FC236}">
                  <a16:creationId xmlns:a16="http://schemas.microsoft.com/office/drawing/2014/main" id="{AA3B6E06-2D7E-4786-AAC7-83292005B3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D8762CCB-B318-4C3E-BE88-B63427FC3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273411FF-2A42-4B37-BD3F-FD733BF23EBD}"/>
              </a:ext>
            </a:extLst>
          </p:cNvPr>
          <p:cNvGrpSpPr/>
          <p:nvPr/>
        </p:nvGrpSpPr>
        <p:grpSpPr>
          <a:xfrm>
            <a:off x="8078335" y="5474135"/>
            <a:ext cx="128666" cy="130100"/>
            <a:chOff x="5213886" y="1690790"/>
            <a:chExt cx="205187" cy="198343"/>
          </a:xfrm>
        </p:grpSpPr>
        <p:sp>
          <p:nvSpPr>
            <p:cNvPr id="224" name="Oval 159">
              <a:extLst>
                <a:ext uri="{FF2B5EF4-FFF2-40B4-BE49-F238E27FC236}">
                  <a16:creationId xmlns:a16="http://schemas.microsoft.com/office/drawing/2014/main" id="{E05C6378-4B4A-40FF-847B-A937A0B40B9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C0B2C91F-AF00-4E8A-AF57-4AA737C83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F0444154-1585-4213-9216-8CDC4C5EA237}"/>
              </a:ext>
            </a:extLst>
          </p:cNvPr>
          <p:cNvSpPr/>
          <p:nvPr/>
        </p:nvSpPr>
        <p:spPr>
          <a:xfrm>
            <a:off x="7948067" y="5213175"/>
            <a:ext cx="1789985" cy="1178099"/>
          </a:xfrm>
          <a:prstGeom prst="roundRect">
            <a:avLst/>
          </a:prstGeom>
          <a:noFill/>
          <a:ln w="28575">
            <a:solidFill>
              <a:schemeClr val="accent6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AutoShape 48">
            <a:extLst>
              <a:ext uri="{FF2B5EF4-FFF2-40B4-BE49-F238E27FC236}">
                <a16:creationId xmlns:a16="http://schemas.microsoft.com/office/drawing/2014/main" id="{BAFFB0B2-E851-4311-9CD1-17C59BC21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461" y="5492687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                 Sleuth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B2A5DF07-FCBF-462E-A3A2-2147E72410A9}"/>
              </a:ext>
            </a:extLst>
          </p:cNvPr>
          <p:cNvSpPr/>
          <p:nvPr/>
        </p:nvSpPr>
        <p:spPr>
          <a:xfrm>
            <a:off x="3698751" y="5241365"/>
            <a:ext cx="114618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Monitoring</a:t>
            </a:r>
          </a:p>
        </p:txBody>
      </p:sp>
      <p:pic>
        <p:nvPicPr>
          <p:cNvPr id="240" name="그림 239">
            <a:extLst>
              <a:ext uri="{FF2B5EF4-FFF2-40B4-BE49-F238E27FC236}">
                <a16:creationId xmlns:a16="http://schemas.microsoft.com/office/drawing/2014/main" id="{B3D7DC0B-26CC-467A-A653-BC0995B8B0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27" y="5538591"/>
            <a:ext cx="702535" cy="204906"/>
          </a:xfrm>
          <a:prstGeom prst="rect">
            <a:avLst/>
          </a:prstGeom>
        </p:spPr>
      </p:pic>
      <p:cxnSp>
        <p:nvCxnSpPr>
          <p:cNvPr id="246" name="직선 화살표 연결선 245">
            <a:extLst>
              <a:ext uri="{FF2B5EF4-FFF2-40B4-BE49-F238E27FC236}">
                <a16:creationId xmlns:a16="http://schemas.microsoft.com/office/drawing/2014/main" id="{A73D0E40-435A-41E4-9131-5B31F3727A9E}"/>
              </a:ext>
            </a:extLst>
          </p:cNvPr>
          <p:cNvCxnSpPr>
            <a:cxnSpLocks/>
          </p:cNvCxnSpPr>
          <p:nvPr/>
        </p:nvCxnSpPr>
        <p:spPr>
          <a:xfrm>
            <a:off x="8048625" y="5866142"/>
            <a:ext cx="345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4A9F2E06-7197-46C6-9F3A-4AC324C48615}"/>
              </a:ext>
            </a:extLst>
          </p:cNvPr>
          <p:cNvSpPr/>
          <p:nvPr/>
        </p:nvSpPr>
        <p:spPr>
          <a:xfrm>
            <a:off x="8382226" y="5765738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서비스 연계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251" name="연결선: 꺾임 250">
            <a:extLst>
              <a:ext uri="{FF2B5EF4-FFF2-40B4-BE49-F238E27FC236}">
                <a16:creationId xmlns:a16="http://schemas.microsoft.com/office/drawing/2014/main" id="{C0DDE402-5C9B-41DA-BCE9-48AF6E09F3CD}"/>
              </a:ext>
            </a:extLst>
          </p:cNvPr>
          <p:cNvCxnSpPr>
            <a:cxnSpLocks/>
            <a:stCxn id="72" idx="1"/>
            <a:endCxn id="201" idx="1"/>
          </p:cNvCxnSpPr>
          <p:nvPr/>
        </p:nvCxnSpPr>
        <p:spPr>
          <a:xfrm rot="10800000" flipV="1">
            <a:off x="4179380" y="974722"/>
            <a:ext cx="18050" cy="2791535"/>
          </a:xfrm>
          <a:prstGeom prst="bentConnector3">
            <a:avLst>
              <a:gd name="adj1" fmla="val 1366482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그림 192">
            <a:extLst>
              <a:ext uri="{FF2B5EF4-FFF2-40B4-BE49-F238E27FC236}">
                <a16:creationId xmlns:a16="http://schemas.microsoft.com/office/drawing/2014/main" id="{F2378BE6-B26C-4390-ABA1-0DB9BD6771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10" y="2259498"/>
            <a:ext cx="385749" cy="261026"/>
          </a:xfrm>
          <a:prstGeom prst="rect">
            <a:avLst/>
          </a:prstGeom>
        </p:spPr>
      </p:pic>
      <p:cxnSp>
        <p:nvCxnSpPr>
          <p:cNvPr id="263" name="연결선: 꺾임 262">
            <a:extLst>
              <a:ext uri="{FF2B5EF4-FFF2-40B4-BE49-F238E27FC236}">
                <a16:creationId xmlns:a16="http://schemas.microsoft.com/office/drawing/2014/main" id="{10747930-F764-4CE8-A43F-8E07369ADC51}"/>
              </a:ext>
            </a:extLst>
          </p:cNvPr>
          <p:cNvCxnSpPr>
            <a:stCxn id="71" idx="0"/>
            <a:endCxn id="72" idx="0"/>
          </p:cNvCxnSpPr>
          <p:nvPr/>
        </p:nvCxnSpPr>
        <p:spPr>
          <a:xfrm rot="5400000" flipH="1" flipV="1">
            <a:off x="1224929" y="1501435"/>
            <a:ext cx="4563398" cy="3214041"/>
          </a:xfrm>
          <a:prstGeom prst="bentConnector3">
            <a:avLst>
              <a:gd name="adj1" fmla="val 105009"/>
            </a:avLst>
          </a:prstGeom>
          <a:ln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사각형: 둥근 모서리 263">
            <a:extLst>
              <a:ext uri="{FF2B5EF4-FFF2-40B4-BE49-F238E27FC236}">
                <a16:creationId xmlns:a16="http://schemas.microsoft.com/office/drawing/2014/main" id="{0C844FF4-CE24-4C4D-9AB4-8A3D850E32AA}"/>
              </a:ext>
            </a:extLst>
          </p:cNvPr>
          <p:cNvSpPr/>
          <p:nvPr/>
        </p:nvSpPr>
        <p:spPr>
          <a:xfrm>
            <a:off x="176266" y="1440135"/>
            <a:ext cx="1988021" cy="1560377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65" name="그림 264">
            <a:extLst>
              <a:ext uri="{FF2B5EF4-FFF2-40B4-BE49-F238E27FC236}">
                <a16:creationId xmlns:a16="http://schemas.microsoft.com/office/drawing/2014/main" id="{EDFA4EA3-B07C-4269-B316-D34F65DB80A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77450" y="722508"/>
            <a:ext cx="664085" cy="571491"/>
          </a:xfrm>
          <a:prstGeom prst="rect">
            <a:avLst/>
          </a:prstGeom>
        </p:spPr>
      </p:pic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021C4987-4158-45CC-AD02-D9350491A707}"/>
              </a:ext>
            </a:extLst>
          </p:cNvPr>
          <p:cNvGrpSpPr/>
          <p:nvPr/>
        </p:nvGrpSpPr>
        <p:grpSpPr>
          <a:xfrm>
            <a:off x="1372951" y="1453702"/>
            <a:ext cx="792824" cy="281417"/>
            <a:chOff x="1274886" y="1471379"/>
            <a:chExt cx="3807946" cy="299395"/>
          </a:xfrm>
        </p:grpSpPr>
        <p:sp>
          <p:nvSpPr>
            <p:cNvPr id="267" name="사각형: 둥근 모서리 266">
              <a:extLst>
                <a:ext uri="{FF2B5EF4-FFF2-40B4-BE49-F238E27FC236}">
                  <a16:creationId xmlns:a16="http://schemas.microsoft.com/office/drawing/2014/main" id="{443725BC-D350-430E-AEAF-E6B7FD37E176}"/>
                </a:ext>
              </a:extLst>
            </p:cNvPr>
            <p:cNvSpPr/>
            <p:nvPr/>
          </p:nvSpPr>
          <p:spPr>
            <a:xfrm>
              <a:off x="1274886" y="1471380"/>
              <a:ext cx="3807946" cy="299394"/>
            </a:xfrm>
            <a:prstGeom prst="roundRect">
              <a:avLst>
                <a:gd name="adj" fmla="val 16175"/>
              </a:avLst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33F9173D-0D24-4523-A052-C6217ECA7545}"/>
                </a:ext>
              </a:extLst>
            </p:cNvPr>
            <p:cNvSpPr/>
            <p:nvPr/>
          </p:nvSpPr>
          <p:spPr>
            <a:xfrm>
              <a:off x="1274886" y="1471379"/>
              <a:ext cx="3807946" cy="287968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1000" dirty="0">
                  <a:solidFill>
                    <a:schemeClr val="bg1"/>
                  </a:solidFill>
                  <a:latin typeface="다키 M Title" pitchFamily="2" charset="-127"/>
                  <a:ea typeface="다키 M Title" pitchFamily="2" charset="-127"/>
                </a:rPr>
                <a:t>Web SPA </a:t>
              </a:r>
            </a:p>
          </p:txBody>
        </p:sp>
      </p:grpSp>
      <p:pic>
        <p:nvPicPr>
          <p:cNvPr id="269" name="Picture 2" descr="Deep dive – Azure Load Balancer | Marius Sandbu">
            <a:extLst>
              <a:ext uri="{FF2B5EF4-FFF2-40B4-BE49-F238E27FC236}">
                <a16:creationId xmlns:a16="http://schemas.microsoft.com/office/drawing/2014/main" id="{53E351D6-5EDA-4D6F-B69E-AB2699413F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1273002" y="802034"/>
            <a:ext cx="403952" cy="39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0" name="연결선: 꺾임 269">
            <a:extLst>
              <a:ext uri="{FF2B5EF4-FFF2-40B4-BE49-F238E27FC236}">
                <a16:creationId xmlns:a16="http://schemas.microsoft.com/office/drawing/2014/main" id="{FD4DE0A7-8036-4F22-BF2B-305F267FD6AF}"/>
              </a:ext>
            </a:extLst>
          </p:cNvPr>
          <p:cNvCxnSpPr>
            <a:cxnSpLocks/>
            <a:stCxn id="271" idx="3"/>
            <a:endCxn id="269" idx="1"/>
          </p:cNvCxnSpPr>
          <p:nvPr/>
        </p:nvCxnSpPr>
        <p:spPr>
          <a:xfrm flipV="1">
            <a:off x="868729" y="999571"/>
            <a:ext cx="40427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1" name="그림 270">
            <a:extLst>
              <a:ext uri="{FF2B5EF4-FFF2-40B4-BE49-F238E27FC236}">
                <a16:creationId xmlns:a16="http://schemas.microsoft.com/office/drawing/2014/main" id="{BB721B39-0D58-4DA9-881D-F332D31A0547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204644" y="713826"/>
            <a:ext cx="664085" cy="571491"/>
          </a:xfrm>
          <a:prstGeom prst="rect">
            <a:avLst/>
          </a:prstGeom>
        </p:spPr>
      </p:pic>
      <p:pic>
        <p:nvPicPr>
          <p:cNvPr id="272" name="그림 271">
            <a:extLst>
              <a:ext uri="{FF2B5EF4-FFF2-40B4-BE49-F238E27FC236}">
                <a16:creationId xmlns:a16="http://schemas.microsoft.com/office/drawing/2014/main" id="{93A0B239-12C5-4C42-B197-615D90E45BD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67947" y="713826"/>
            <a:ext cx="664085" cy="571491"/>
          </a:xfrm>
          <a:prstGeom prst="rect">
            <a:avLst/>
          </a:prstGeom>
        </p:spPr>
      </p:pic>
      <p:pic>
        <p:nvPicPr>
          <p:cNvPr id="273" name="그림 272">
            <a:extLst>
              <a:ext uri="{FF2B5EF4-FFF2-40B4-BE49-F238E27FC236}">
                <a16:creationId xmlns:a16="http://schemas.microsoft.com/office/drawing/2014/main" id="{359D1EAA-491A-4771-B7A9-BE3579C23EA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07" y="1694748"/>
            <a:ext cx="502110" cy="207205"/>
          </a:xfrm>
          <a:prstGeom prst="rect">
            <a:avLst/>
          </a:prstGeom>
        </p:spPr>
      </p:pic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F9891E80-33F9-4120-A483-D0099E882AFF}"/>
              </a:ext>
            </a:extLst>
          </p:cNvPr>
          <p:cNvGrpSpPr/>
          <p:nvPr/>
        </p:nvGrpSpPr>
        <p:grpSpPr>
          <a:xfrm>
            <a:off x="259585" y="1947580"/>
            <a:ext cx="760262" cy="377957"/>
            <a:chOff x="961133" y="2378686"/>
            <a:chExt cx="760262" cy="289760"/>
          </a:xfrm>
        </p:grpSpPr>
        <p:sp>
          <p:nvSpPr>
            <p:cNvPr id="275" name="사각형: 둥근 모서리 274">
              <a:extLst>
                <a:ext uri="{FF2B5EF4-FFF2-40B4-BE49-F238E27FC236}">
                  <a16:creationId xmlns:a16="http://schemas.microsoft.com/office/drawing/2014/main" id="{93010B21-A8CD-416A-89DE-7546FB230024}"/>
                </a:ext>
              </a:extLst>
            </p:cNvPr>
            <p:cNvSpPr/>
            <p:nvPr/>
          </p:nvSpPr>
          <p:spPr>
            <a:xfrm>
              <a:off x="974364" y="2391447"/>
              <a:ext cx="747031" cy="276999"/>
            </a:xfrm>
            <a:prstGeom prst="roundRect">
              <a:avLst>
                <a:gd name="adj" fmla="val 1252"/>
              </a:avLst>
            </a:prstGeom>
            <a:solidFill>
              <a:srgbClr val="3790AE"/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dirty="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276" name="그림 275">
              <a:extLst>
                <a:ext uri="{FF2B5EF4-FFF2-40B4-BE49-F238E27FC236}">
                  <a16:creationId xmlns:a16="http://schemas.microsoft.com/office/drawing/2014/main" id="{B0C6AFD8-5CA4-4747-9727-3ACBC7DE4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133" y="2378686"/>
              <a:ext cx="253295" cy="249618"/>
            </a:xfrm>
            <a:prstGeom prst="rect">
              <a:avLst/>
            </a:prstGeom>
          </p:spPr>
        </p:pic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AEECF6C9-BC0A-4D2B-A2E0-BB456E13E75D}"/>
                </a:ext>
              </a:extLst>
            </p:cNvPr>
            <p:cNvSpPr/>
            <p:nvPr/>
          </p:nvSpPr>
          <p:spPr>
            <a:xfrm>
              <a:off x="1214428" y="2425950"/>
              <a:ext cx="469103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View</a:t>
              </a:r>
              <a:endParaRPr lang="ko-KR" altLang="en-US" sz="9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E61A6186-C40F-4036-86A2-AA7BFA023F13}"/>
              </a:ext>
            </a:extLst>
          </p:cNvPr>
          <p:cNvSpPr/>
          <p:nvPr/>
        </p:nvSpPr>
        <p:spPr>
          <a:xfrm>
            <a:off x="1307605" y="2576405"/>
            <a:ext cx="776886" cy="31991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2376418F-EB1D-48FD-88D8-FA5495264274}"/>
              </a:ext>
            </a:extLst>
          </p:cNvPr>
          <p:cNvSpPr/>
          <p:nvPr/>
        </p:nvSpPr>
        <p:spPr>
          <a:xfrm>
            <a:off x="1408495" y="2617285"/>
            <a:ext cx="5316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Model</a:t>
            </a:r>
            <a:endParaRPr lang="ko-KR" altLang="en-US" sz="9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21352C48-1142-4238-8810-B5A776149889}"/>
              </a:ext>
            </a:extLst>
          </p:cNvPr>
          <p:cNvSpPr/>
          <p:nvPr/>
        </p:nvSpPr>
        <p:spPr>
          <a:xfrm>
            <a:off x="272815" y="2581075"/>
            <a:ext cx="747032" cy="31991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66CB8B65-A86C-463C-A631-D576221D4649}"/>
              </a:ext>
            </a:extLst>
          </p:cNvPr>
          <p:cNvSpPr/>
          <p:nvPr/>
        </p:nvSpPr>
        <p:spPr>
          <a:xfrm>
            <a:off x="228564" y="2624204"/>
            <a:ext cx="83235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err="1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ViewModel</a:t>
            </a:r>
            <a:endParaRPr lang="ko-KR" altLang="en-US" sz="9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B1DC6CD6-940C-4CDC-A5E6-1544BB82FE88}"/>
              </a:ext>
            </a:extLst>
          </p:cNvPr>
          <p:cNvSpPr/>
          <p:nvPr/>
        </p:nvSpPr>
        <p:spPr>
          <a:xfrm>
            <a:off x="1315417" y="1956206"/>
            <a:ext cx="761029" cy="37795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B36A2E96-EE0C-4623-BA26-A09D3CC00153}"/>
              </a:ext>
            </a:extLst>
          </p:cNvPr>
          <p:cNvSpPr/>
          <p:nvPr/>
        </p:nvSpPr>
        <p:spPr>
          <a:xfrm>
            <a:off x="1322342" y="1931101"/>
            <a:ext cx="757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Controller</a:t>
            </a:r>
            <a:endParaRPr lang="ko-KR" altLang="en-US" sz="9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284" name="연결선: 꺾임 283">
            <a:extLst>
              <a:ext uri="{FF2B5EF4-FFF2-40B4-BE49-F238E27FC236}">
                <a16:creationId xmlns:a16="http://schemas.microsoft.com/office/drawing/2014/main" id="{80FDEFD0-B824-4654-916A-1042A8BB1445}"/>
              </a:ext>
            </a:extLst>
          </p:cNvPr>
          <p:cNvCxnSpPr>
            <a:cxnSpLocks/>
            <a:stCxn id="269" idx="3"/>
            <a:endCxn id="268" idx="0"/>
          </p:cNvCxnSpPr>
          <p:nvPr/>
        </p:nvCxnSpPr>
        <p:spPr>
          <a:xfrm>
            <a:off x="1676954" y="999571"/>
            <a:ext cx="92409" cy="4541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5" name="그림 284">
            <a:extLst>
              <a:ext uri="{FF2B5EF4-FFF2-40B4-BE49-F238E27FC236}">
                <a16:creationId xmlns:a16="http://schemas.microsoft.com/office/drawing/2014/main" id="{21CD8120-4DBA-4E11-8E89-3B085D171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09" y="1455097"/>
            <a:ext cx="347432" cy="205562"/>
          </a:xfrm>
          <a:prstGeom prst="rect">
            <a:avLst/>
          </a:prstGeom>
        </p:spPr>
      </p:pic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9BB8A311-4616-43A5-9C2D-F60C041F9224}"/>
              </a:ext>
            </a:extLst>
          </p:cNvPr>
          <p:cNvSpPr/>
          <p:nvPr/>
        </p:nvSpPr>
        <p:spPr>
          <a:xfrm>
            <a:off x="386667" y="1475335"/>
            <a:ext cx="7954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Web Server</a:t>
            </a:r>
            <a:endParaRPr lang="ko-KR" altLang="en-US" sz="9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cxnSp>
        <p:nvCxnSpPr>
          <p:cNvPr id="287" name="직선 화살표 연결선 286">
            <a:extLst>
              <a:ext uri="{FF2B5EF4-FFF2-40B4-BE49-F238E27FC236}">
                <a16:creationId xmlns:a16="http://schemas.microsoft.com/office/drawing/2014/main" id="{E0A0AFEE-2653-4DF6-9E5A-857E28A757C7}"/>
              </a:ext>
            </a:extLst>
          </p:cNvPr>
          <p:cNvCxnSpPr>
            <a:stCxn id="275" idx="2"/>
            <a:endCxn id="280" idx="0"/>
          </p:cNvCxnSpPr>
          <p:nvPr/>
        </p:nvCxnSpPr>
        <p:spPr>
          <a:xfrm flipH="1">
            <a:off x="646331" y="2325537"/>
            <a:ext cx="1" cy="2555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4B3D72B5-60F7-4584-ABB6-6D3CC392B3A9}"/>
              </a:ext>
            </a:extLst>
          </p:cNvPr>
          <p:cNvCxnSpPr>
            <a:stCxn id="280" idx="3"/>
            <a:endCxn id="278" idx="1"/>
          </p:cNvCxnSpPr>
          <p:nvPr/>
        </p:nvCxnSpPr>
        <p:spPr>
          <a:xfrm flipV="1">
            <a:off x="1019847" y="2736364"/>
            <a:ext cx="287758" cy="46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연결선: 꺾임 288">
            <a:extLst>
              <a:ext uri="{FF2B5EF4-FFF2-40B4-BE49-F238E27FC236}">
                <a16:creationId xmlns:a16="http://schemas.microsoft.com/office/drawing/2014/main" id="{BBF1DDC0-732F-4298-A71F-A8D8B70742E0}"/>
              </a:ext>
            </a:extLst>
          </p:cNvPr>
          <p:cNvCxnSpPr>
            <a:stCxn id="275" idx="3"/>
            <a:endCxn id="282" idx="1"/>
          </p:cNvCxnSpPr>
          <p:nvPr/>
        </p:nvCxnSpPr>
        <p:spPr>
          <a:xfrm>
            <a:off x="1019847" y="2144881"/>
            <a:ext cx="295570" cy="30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사각형: 둥근 모서리 289">
            <a:extLst>
              <a:ext uri="{FF2B5EF4-FFF2-40B4-BE49-F238E27FC236}">
                <a16:creationId xmlns:a16="http://schemas.microsoft.com/office/drawing/2014/main" id="{633AFC02-E2F7-4A45-9BA7-49A3395E3A5A}"/>
              </a:ext>
            </a:extLst>
          </p:cNvPr>
          <p:cNvSpPr/>
          <p:nvPr/>
        </p:nvSpPr>
        <p:spPr>
          <a:xfrm>
            <a:off x="176266" y="3193469"/>
            <a:ext cx="1983255" cy="1812167"/>
          </a:xfrm>
          <a:prstGeom prst="roundRect">
            <a:avLst>
              <a:gd name="adj" fmla="val 125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8F930243-B54C-4CF0-8622-6ECACAE638E3}"/>
              </a:ext>
            </a:extLst>
          </p:cNvPr>
          <p:cNvSpPr/>
          <p:nvPr/>
        </p:nvSpPr>
        <p:spPr>
          <a:xfrm>
            <a:off x="194535" y="3252019"/>
            <a:ext cx="65594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인증</a:t>
            </a:r>
            <a:r>
              <a:rPr lang="en-US" altLang="ko-KR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인가</a:t>
            </a:r>
            <a:endParaRPr lang="ko-KR" altLang="en-US" dirty="0"/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DADBC637-D0FD-4444-824A-3CDB33F06192}"/>
              </a:ext>
            </a:extLst>
          </p:cNvPr>
          <p:cNvSpPr/>
          <p:nvPr/>
        </p:nvSpPr>
        <p:spPr>
          <a:xfrm>
            <a:off x="5735083" y="1587522"/>
            <a:ext cx="1740365" cy="1344265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DFA84F28-9CEC-40CF-A60B-A8AB368B63D9}"/>
              </a:ext>
            </a:extLst>
          </p:cNvPr>
          <p:cNvSpPr/>
          <p:nvPr/>
        </p:nvSpPr>
        <p:spPr>
          <a:xfrm>
            <a:off x="5752883" y="1626533"/>
            <a:ext cx="11153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서비스 프로세스</a:t>
            </a:r>
            <a:endParaRPr lang="ko-KR" altLang="en-US" dirty="0"/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3A2A1C81-747A-40F9-B540-4879BE11796F}"/>
              </a:ext>
            </a:extLst>
          </p:cNvPr>
          <p:cNvSpPr/>
          <p:nvPr/>
        </p:nvSpPr>
        <p:spPr>
          <a:xfrm>
            <a:off x="5878813" y="1913641"/>
            <a:ext cx="1440024" cy="2399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Internal Access Layer</a:t>
            </a: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D0312D84-437A-4CE7-9684-0FFB1F174245}"/>
              </a:ext>
            </a:extLst>
          </p:cNvPr>
          <p:cNvSpPr/>
          <p:nvPr/>
        </p:nvSpPr>
        <p:spPr>
          <a:xfrm>
            <a:off x="5871717" y="2189656"/>
            <a:ext cx="1440024" cy="2399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Business Layer</a:t>
            </a:r>
          </a:p>
        </p:txBody>
      </p:sp>
      <p:sp>
        <p:nvSpPr>
          <p:cNvPr id="299" name="사각형: 둥근 모서리 298">
            <a:extLst>
              <a:ext uri="{FF2B5EF4-FFF2-40B4-BE49-F238E27FC236}">
                <a16:creationId xmlns:a16="http://schemas.microsoft.com/office/drawing/2014/main" id="{095B0B73-9993-45E0-8D99-611B4BD5E096}"/>
              </a:ext>
            </a:extLst>
          </p:cNvPr>
          <p:cNvSpPr/>
          <p:nvPr/>
        </p:nvSpPr>
        <p:spPr>
          <a:xfrm>
            <a:off x="5871717" y="2465671"/>
            <a:ext cx="1440024" cy="2399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Data Layer</a:t>
            </a:r>
          </a:p>
        </p:txBody>
      </p:sp>
      <p:cxnSp>
        <p:nvCxnSpPr>
          <p:cNvPr id="302" name="연결선: 꺾임 301">
            <a:extLst>
              <a:ext uri="{FF2B5EF4-FFF2-40B4-BE49-F238E27FC236}">
                <a16:creationId xmlns:a16="http://schemas.microsoft.com/office/drawing/2014/main" id="{15E47C00-EEC5-4A0C-BE81-DAD0076E8D3B}"/>
              </a:ext>
            </a:extLst>
          </p:cNvPr>
          <p:cNvCxnSpPr>
            <a:cxnSpLocks/>
            <a:stCxn id="35" idx="3"/>
            <a:endCxn id="198" idx="3"/>
          </p:cNvCxnSpPr>
          <p:nvPr/>
        </p:nvCxnSpPr>
        <p:spPr>
          <a:xfrm flipV="1">
            <a:off x="3220050" y="4283373"/>
            <a:ext cx="4408038" cy="1672810"/>
          </a:xfrm>
          <a:prstGeom prst="bentConnector3">
            <a:avLst>
              <a:gd name="adj1" fmla="val 105186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연결선: 꺾임 303">
            <a:extLst>
              <a:ext uri="{FF2B5EF4-FFF2-40B4-BE49-F238E27FC236}">
                <a16:creationId xmlns:a16="http://schemas.microsoft.com/office/drawing/2014/main" id="{8B8E6352-0E49-44FA-93BF-03CC39849C83}"/>
              </a:ext>
            </a:extLst>
          </p:cNvPr>
          <p:cNvCxnSpPr>
            <a:cxnSpLocks/>
            <a:stCxn id="35" idx="3"/>
            <a:endCxn id="17" idx="3"/>
          </p:cNvCxnSpPr>
          <p:nvPr/>
        </p:nvCxnSpPr>
        <p:spPr>
          <a:xfrm flipV="1">
            <a:off x="3220050" y="2157617"/>
            <a:ext cx="4405698" cy="3798566"/>
          </a:xfrm>
          <a:prstGeom prst="bentConnector3">
            <a:avLst>
              <a:gd name="adj1" fmla="val 105189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47D57D55-0A23-46BE-888B-4EDADA50D51F}"/>
              </a:ext>
            </a:extLst>
          </p:cNvPr>
          <p:cNvSpPr/>
          <p:nvPr/>
        </p:nvSpPr>
        <p:spPr>
          <a:xfrm>
            <a:off x="3642108" y="5219647"/>
            <a:ext cx="4031342" cy="1169448"/>
          </a:xfrm>
          <a:prstGeom prst="round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6" name="연결선: 꺾임 305">
            <a:extLst>
              <a:ext uri="{FF2B5EF4-FFF2-40B4-BE49-F238E27FC236}">
                <a16:creationId xmlns:a16="http://schemas.microsoft.com/office/drawing/2014/main" id="{B2188BE3-EB9A-4986-A944-C8B44D87B930}"/>
              </a:ext>
            </a:extLst>
          </p:cNvPr>
          <p:cNvCxnSpPr>
            <a:cxnSpLocks/>
            <a:stCxn id="17" idx="2"/>
            <a:endCxn id="238" idx="3"/>
          </p:cNvCxnSpPr>
          <p:nvPr/>
        </p:nvCxnSpPr>
        <p:spPr>
          <a:xfrm rot="5400000">
            <a:off x="4139395" y="3865284"/>
            <a:ext cx="2539524" cy="9890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844E0C86-3618-4336-8D06-503D3436CF86}"/>
              </a:ext>
            </a:extLst>
          </p:cNvPr>
          <p:cNvSpPr/>
          <p:nvPr/>
        </p:nvSpPr>
        <p:spPr>
          <a:xfrm>
            <a:off x="4183920" y="3637427"/>
            <a:ext cx="3444168" cy="1291891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6BF96BAF-EC06-4BF7-B371-BDB6BEB665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356" y="3565403"/>
            <a:ext cx="410659" cy="410659"/>
          </a:xfrm>
          <a:prstGeom prst="rect">
            <a:avLst/>
          </a:prstGeom>
        </p:spPr>
      </p:pic>
      <p:pic>
        <p:nvPicPr>
          <p:cNvPr id="200" name="그림 199">
            <a:extLst>
              <a:ext uri="{FF2B5EF4-FFF2-40B4-BE49-F238E27FC236}">
                <a16:creationId xmlns:a16="http://schemas.microsoft.com/office/drawing/2014/main" id="{0850D355-A1C3-4224-A8BC-F9821898F0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229" y="3603939"/>
            <a:ext cx="341469" cy="341469"/>
          </a:xfrm>
          <a:prstGeom prst="rect">
            <a:avLst/>
          </a:prstGeom>
        </p:spPr>
      </p:pic>
      <p:pic>
        <p:nvPicPr>
          <p:cNvPr id="201" name="그림 200">
            <a:extLst>
              <a:ext uri="{FF2B5EF4-FFF2-40B4-BE49-F238E27FC236}">
                <a16:creationId xmlns:a16="http://schemas.microsoft.com/office/drawing/2014/main" id="{0684A445-9CFD-4CEC-812A-AA1DCC679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380" y="3661213"/>
            <a:ext cx="355086" cy="210090"/>
          </a:xfrm>
          <a:prstGeom prst="rect">
            <a:avLst/>
          </a:prstGeom>
        </p:spPr>
      </p:pic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29391481-2F8F-4195-A1EB-35505FFF810D}"/>
              </a:ext>
            </a:extLst>
          </p:cNvPr>
          <p:cNvSpPr/>
          <p:nvPr/>
        </p:nvSpPr>
        <p:spPr>
          <a:xfrm>
            <a:off x="4295982" y="3662981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Interface Server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6FD7DD65-BD43-4A17-84DF-D26354288ECD}"/>
              </a:ext>
            </a:extLst>
          </p:cNvPr>
          <p:cNvSpPr/>
          <p:nvPr/>
        </p:nvSpPr>
        <p:spPr>
          <a:xfrm>
            <a:off x="4228365" y="3925178"/>
            <a:ext cx="3324455" cy="930011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57E72E90-2A6D-43FE-AD03-7F426D6582AC}"/>
              </a:ext>
            </a:extLst>
          </p:cNvPr>
          <p:cNvSpPr/>
          <p:nvPr/>
        </p:nvSpPr>
        <p:spPr>
          <a:xfrm>
            <a:off x="4298834" y="4003100"/>
            <a:ext cx="1057092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국세청 서비스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6D0682E2-9763-43D5-9CB9-953034E59449}"/>
              </a:ext>
            </a:extLst>
          </p:cNvPr>
          <p:cNvGrpSpPr/>
          <p:nvPr/>
        </p:nvGrpSpPr>
        <p:grpSpPr>
          <a:xfrm>
            <a:off x="5147089" y="3999794"/>
            <a:ext cx="205187" cy="198343"/>
            <a:chOff x="5213886" y="1690790"/>
            <a:chExt cx="205187" cy="198343"/>
          </a:xfrm>
        </p:grpSpPr>
        <p:sp>
          <p:nvSpPr>
            <p:cNvPr id="231" name="Oval 159">
              <a:extLst>
                <a:ext uri="{FF2B5EF4-FFF2-40B4-BE49-F238E27FC236}">
                  <a16:creationId xmlns:a16="http://schemas.microsoft.com/office/drawing/2014/main" id="{4C74DEA7-3ABE-4EC5-A717-9DE61389E1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232" name="그림 231">
              <a:extLst>
                <a:ext uri="{FF2B5EF4-FFF2-40B4-BE49-F238E27FC236}">
                  <a16:creationId xmlns:a16="http://schemas.microsoft.com/office/drawing/2014/main" id="{5BBB9FC1-3CBE-49D4-BD8B-DC96B7913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300" name="사각형: 둥근 모서리 299">
            <a:extLst>
              <a:ext uri="{FF2B5EF4-FFF2-40B4-BE49-F238E27FC236}">
                <a16:creationId xmlns:a16="http://schemas.microsoft.com/office/drawing/2014/main" id="{3BADBD96-043F-4F65-93E2-BDF4097C16DF}"/>
              </a:ext>
            </a:extLst>
          </p:cNvPr>
          <p:cNvSpPr/>
          <p:nvPr/>
        </p:nvSpPr>
        <p:spPr>
          <a:xfrm>
            <a:off x="5720732" y="4015742"/>
            <a:ext cx="1723615" cy="769272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308" name="연결선: 꺾임 307">
            <a:extLst>
              <a:ext uri="{FF2B5EF4-FFF2-40B4-BE49-F238E27FC236}">
                <a16:creationId xmlns:a16="http://schemas.microsoft.com/office/drawing/2014/main" id="{F8241E8C-B5B8-4759-90CB-6CCEA377E33B}"/>
              </a:ext>
            </a:extLst>
          </p:cNvPr>
          <p:cNvCxnSpPr>
            <a:cxnSpLocks/>
            <a:stCxn id="198" idx="2"/>
            <a:endCxn id="238" idx="3"/>
          </p:cNvCxnSpPr>
          <p:nvPr/>
        </p:nvCxnSpPr>
        <p:spPr>
          <a:xfrm rot="5400000">
            <a:off x="5060210" y="4783758"/>
            <a:ext cx="700235" cy="991355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0" name="그림 309">
            <a:extLst>
              <a:ext uri="{FF2B5EF4-FFF2-40B4-BE49-F238E27FC236}">
                <a16:creationId xmlns:a16="http://schemas.microsoft.com/office/drawing/2014/main" id="{09636C93-886D-4845-998E-75230E786A6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492" y="6043041"/>
            <a:ext cx="1066050" cy="226732"/>
          </a:xfrm>
          <a:prstGeom prst="rect">
            <a:avLst/>
          </a:prstGeom>
        </p:spPr>
      </p:pic>
      <p:cxnSp>
        <p:nvCxnSpPr>
          <p:cNvPr id="312" name="연결선: 꺾임 311">
            <a:extLst>
              <a:ext uri="{FF2B5EF4-FFF2-40B4-BE49-F238E27FC236}">
                <a16:creationId xmlns:a16="http://schemas.microsoft.com/office/drawing/2014/main" id="{D346E7C9-A4C6-49A6-BCFD-0062CCCEC9A5}"/>
              </a:ext>
            </a:extLst>
          </p:cNvPr>
          <p:cNvCxnSpPr>
            <a:cxnSpLocks/>
            <a:stCxn id="238" idx="2"/>
            <a:endCxn id="310" idx="0"/>
          </p:cNvCxnSpPr>
          <p:nvPr/>
        </p:nvCxnSpPr>
        <p:spPr>
          <a:xfrm rot="16200000" flipH="1">
            <a:off x="4204725" y="5903249"/>
            <a:ext cx="276622" cy="2962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사각형: 둥근 모서리 321">
            <a:extLst>
              <a:ext uri="{FF2B5EF4-FFF2-40B4-BE49-F238E27FC236}">
                <a16:creationId xmlns:a16="http://schemas.microsoft.com/office/drawing/2014/main" id="{DFB737FC-0909-4F85-B602-C607FA310FDD}"/>
              </a:ext>
            </a:extLst>
          </p:cNvPr>
          <p:cNvSpPr/>
          <p:nvPr/>
        </p:nvSpPr>
        <p:spPr>
          <a:xfrm>
            <a:off x="5861561" y="4493679"/>
            <a:ext cx="1440024" cy="2399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Data Layer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B8FBCE10-501F-498E-870B-3673159101CF}"/>
              </a:ext>
            </a:extLst>
          </p:cNvPr>
          <p:cNvSpPr/>
          <p:nvPr/>
        </p:nvSpPr>
        <p:spPr>
          <a:xfrm>
            <a:off x="4364105" y="2054202"/>
            <a:ext cx="1081912" cy="198343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비용 서비스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52B83CB-A0CB-45B0-8004-53AFB55A681B}"/>
              </a:ext>
            </a:extLst>
          </p:cNvPr>
          <p:cNvGrpSpPr/>
          <p:nvPr/>
        </p:nvGrpSpPr>
        <p:grpSpPr>
          <a:xfrm>
            <a:off x="5228118" y="2055724"/>
            <a:ext cx="205187" cy="198343"/>
            <a:chOff x="5213886" y="1690790"/>
            <a:chExt cx="205187" cy="198343"/>
          </a:xfrm>
        </p:grpSpPr>
        <p:sp>
          <p:nvSpPr>
            <p:cNvPr id="147" name="Oval 159">
              <a:extLst>
                <a:ext uri="{FF2B5EF4-FFF2-40B4-BE49-F238E27FC236}">
                  <a16:creationId xmlns:a16="http://schemas.microsoft.com/office/drawing/2014/main" id="{A83E2F18-EE35-44FC-A3AB-7D8D272D0D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4758685E-9A75-48FA-93D2-97ECA0A72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BCFBECCB-0998-4429-B63A-DC670CBD7942}"/>
              </a:ext>
            </a:extLst>
          </p:cNvPr>
          <p:cNvSpPr/>
          <p:nvPr/>
        </p:nvSpPr>
        <p:spPr>
          <a:xfrm>
            <a:off x="4354579" y="2526812"/>
            <a:ext cx="1081912" cy="198343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서비스 보안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4CEBDB93-7A2B-450D-AC33-DD70383E533E}"/>
              </a:ext>
            </a:extLst>
          </p:cNvPr>
          <p:cNvGrpSpPr/>
          <p:nvPr/>
        </p:nvGrpSpPr>
        <p:grpSpPr>
          <a:xfrm>
            <a:off x="5218592" y="2528334"/>
            <a:ext cx="205187" cy="198343"/>
            <a:chOff x="5213886" y="1690790"/>
            <a:chExt cx="205187" cy="198343"/>
          </a:xfrm>
        </p:grpSpPr>
        <p:sp>
          <p:nvSpPr>
            <p:cNvPr id="155" name="Oval 159">
              <a:extLst>
                <a:ext uri="{FF2B5EF4-FFF2-40B4-BE49-F238E27FC236}">
                  <a16:creationId xmlns:a16="http://schemas.microsoft.com/office/drawing/2014/main" id="{6BD3F021-3342-4567-8BE5-9CD4EE2E945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6DD7AC3E-0BD3-49CC-A76E-27F2F2FD9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9FD8C53E-2BAA-42D4-905B-B8A135F7A9F8}"/>
              </a:ext>
            </a:extLst>
          </p:cNvPr>
          <p:cNvSpPr/>
          <p:nvPr/>
        </p:nvSpPr>
        <p:spPr>
          <a:xfrm>
            <a:off x="4348121" y="2759848"/>
            <a:ext cx="1081912" cy="198343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다우연계 서비스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1DF839C-8199-4EEF-A4A7-856CB6358050}"/>
              </a:ext>
            </a:extLst>
          </p:cNvPr>
          <p:cNvGrpSpPr/>
          <p:nvPr/>
        </p:nvGrpSpPr>
        <p:grpSpPr>
          <a:xfrm>
            <a:off x="5229386" y="2761370"/>
            <a:ext cx="205187" cy="198343"/>
            <a:chOff x="5213886" y="1690790"/>
            <a:chExt cx="205187" cy="198343"/>
          </a:xfrm>
        </p:grpSpPr>
        <p:sp>
          <p:nvSpPr>
            <p:cNvPr id="164" name="Oval 159">
              <a:extLst>
                <a:ext uri="{FF2B5EF4-FFF2-40B4-BE49-F238E27FC236}">
                  <a16:creationId xmlns:a16="http://schemas.microsoft.com/office/drawing/2014/main" id="{6CDDF724-978D-4C1C-A4A6-FA24D268874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165" name="그림 164">
              <a:extLst>
                <a:ext uri="{FF2B5EF4-FFF2-40B4-BE49-F238E27FC236}">
                  <a16:creationId xmlns:a16="http://schemas.microsoft.com/office/drawing/2014/main" id="{2FD612AC-C7AF-4AC0-8E9E-CFB8EE4A8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536402D9-A49F-4381-9398-A951E7F3CF7D}"/>
              </a:ext>
            </a:extLst>
          </p:cNvPr>
          <p:cNvSpPr/>
          <p:nvPr/>
        </p:nvSpPr>
        <p:spPr>
          <a:xfrm>
            <a:off x="4295982" y="4251348"/>
            <a:ext cx="1057092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4</a:t>
            </a:r>
            <a:r>
              <a:rPr lang="ko-KR" altLang="en-US" sz="900" b="1" dirty="0" err="1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대보험</a:t>
            </a: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 서비스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30CF5CCB-D03D-4295-9AE4-134D5145BE27}"/>
              </a:ext>
            </a:extLst>
          </p:cNvPr>
          <p:cNvGrpSpPr/>
          <p:nvPr/>
        </p:nvGrpSpPr>
        <p:grpSpPr>
          <a:xfrm>
            <a:off x="5144237" y="4248042"/>
            <a:ext cx="205187" cy="198343"/>
            <a:chOff x="5213886" y="1690790"/>
            <a:chExt cx="205187" cy="198343"/>
          </a:xfrm>
        </p:grpSpPr>
        <p:sp>
          <p:nvSpPr>
            <p:cNvPr id="169" name="Oval 159">
              <a:extLst>
                <a:ext uri="{FF2B5EF4-FFF2-40B4-BE49-F238E27FC236}">
                  <a16:creationId xmlns:a16="http://schemas.microsoft.com/office/drawing/2014/main" id="{287A6E07-670D-4552-9CC2-81002DE6B24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5F6EE9FC-D334-4CC3-9ED6-14E4DB2E0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C0A0239D-D8DA-4F9F-997C-7358D424A93A}"/>
              </a:ext>
            </a:extLst>
          </p:cNvPr>
          <p:cNvSpPr/>
          <p:nvPr/>
        </p:nvSpPr>
        <p:spPr>
          <a:xfrm>
            <a:off x="5861561" y="4221129"/>
            <a:ext cx="1440024" cy="2399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Business Layer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9A4C8CB0-0FB9-4354-B9F4-89F7A129097A}"/>
              </a:ext>
            </a:extLst>
          </p:cNvPr>
          <p:cNvSpPr/>
          <p:nvPr/>
        </p:nvSpPr>
        <p:spPr>
          <a:xfrm>
            <a:off x="4293128" y="4508540"/>
            <a:ext cx="1057092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카드연계 서비스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A4441871-A9D8-4236-8CCA-0F4C627CB909}"/>
              </a:ext>
            </a:extLst>
          </p:cNvPr>
          <p:cNvGrpSpPr/>
          <p:nvPr/>
        </p:nvGrpSpPr>
        <p:grpSpPr>
          <a:xfrm>
            <a:off x="5141383" y="4505234"/>
            <a:ext cx="205187" cy="198343"/>
            <a:chOff x="5213886" y="1690790"/>
            <a:chExt cx="205187" cy="198343"/>
          </a:xfrm>
        </p:grpSpPr>
        <p:sp>
          <p:nvSpPr>
            <p:cNvPr id="178" name="Oval 159">
              <a:extLst>
                <a:ext uri="{FF2B5EF4-FFF2-40B4-BE49-F238E27FC236}">
                  <a16:creationId xmlns:a16="http://schemas.microsoft.com/office/drawing/2014/main" id="{407133E8-586A-424B-BFB8-EBC1B6B030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179" name="그림 178">
              <a:extLst>
                <a:ext uri="{FF2B5EF4-FFF2-40B4-BE49-F238E27FC236}">
                  <a16:creationId xmlns:a16="http://schemas.microsoft.com/office/drawing/2014/main" id="{8EC5FAE1-BBAF-4552-AFC2-F4AE425FF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1D9EEAC5-F168-4273-BE52-E29B6985FC41}"/>
              </a:ext>
            </a:extLst>
          </p:cNvPr>
          <p:cNvCxnSpPr>
            <a:cxnSpLocks/>
            <a:stCxn id="211" idx="6"/>
            <a:endCxn id="126" idx="3"/>
          </p:cNvCxnSpPr>
          <p:nvPr/>
        </p:nvCxnSpPr>
        <p:spPr>
          <a:xfrm flipH="1">
            <a:off x="3737251" y="1690651"/>
            <a:ext cx="1703780" cy="1267725"/>
          </a:xfrm>
          <a:prstGeom prst="bentConnector3">
            <a:avLst>
              <a:gd name="adj1" fmla="val -7848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연결선: 꺾임 186">
            <a:extLst>
              <a:ext uri="{FF2B5EF4-FFF2-40B4-BE49-F238E27FC236}">
                <a16:creationId xmlns:a16="http://schemas.microsoft.com/office/drawing/2014/main" id="{5ADE30D2-9F36-4CF2-BB01-D7FFCB6ACBEE}"/>
              </a:ext>
            </a:extLst>
          </p:cNvPr>
          <p:cNvCxnSpPr>
            <a:cxnSpLocks/>
            <a:stCxn id="126" idx="3"/>
            <a:endCxn id="93" idx="3"/>
          </p:cNvCxnSpPr>
          <p:nvPr/>
        </p:nvCxnSpPr>
        <p:spPr>
          <a:xfrm>
            <a:off x="3737251" y="2958376"/>
            <a:ext cx="106653" cy="1676231"/>
          </a:xfrm>
          <a:prstGeom prst="bentConnector3">
            <a:avLst>
              <a:gd name="adj1" fmla="val 241545"/>
            </a:avLst>
          </a:prstGeom>
          <a:ln w="28575">
            <a:solidFill>
              <a:schemeClr val="accent2"/>
            </a:solidFill>
            <a:prstDash val="lgDashDot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8CDB5B1A-D745-4447-94B1-86273010A014}"/>
              </a:ext>
            </a:extLst>
          </p:cNvPr>
          <p:cNvCxnSpPr>
            <a:cxnSpLocks/>
            <a:stCxn id="141" idx="2"/>
            <a:endCxn id="143" idx="0"/>
          </p:cNvCxnSpPr>
          <p:nvPr/>
        </p:nvCxnSpPr>
        <p:spPr>
          <a:xfrm rot="5400000">
            <a:off x="2596499" y="2487339"/>
            <a:ext cx="272762" cy="134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A418E844-0933-46B8-B975-0632E7F396AD}"/>
              </a:ext>
            </a:extLst>
          </p:cNvPr>
          <p:cNvSpPr/>
          <p:nvPr/>
        </p:nvSpPr>
        <p:spPr>
          <a:xfrm>
            <a:off x="5682680" y="3996522"/>
            <a:ext cx="123324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인터페이스 프로세스</a:t>
            </a:r>
            <a:endParaRPr lang="ko-KR" altLang="en-US" dirty="0"/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62240C76-C18F-426B-9BEF-62B8617C174F}"/>
              </a:ext>
            </a:extLst>
          </p:cNvPr>
          <p:cNvSpPr/>
          <p:nvPr/>
        </p:nvSpPr>
        <p:spPr>
          <a:xfrm>
            <a:off x="4348121" y="2285049"/>
            <a:ext cx="1081912" cy="198343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거래 서비스</a:t>
            </a:r>
            <a:endParaRPr lang="en-US" altLang="ko-KR" sz="9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7523E28B-ED03-4A4F-A34D-22252B2E26F5}"/>
              </a:ext>
            </a:extLst>
          </p:cNvPr>
          <p:cNvGrpSpPr/>
          <p:nvPr/>
        </p:nvGrpSpPr>
        <p:grpSpPr>
          <a:xfrm>
            <a:off x="5229386" y="2286571"/>
            <a:ext cx="205187" cy="198343"/>
            <a:chOff x="5213886" y="1690790"/>
            <a:chExt cx="205187" cy="198343"/>
          </a:xfrm>
        </p:grpSpPr>
        <p:sp>
          <p:nvSpPr>
            <p:cNvPr id="151" name="Oval 159">
              <a:extLst>
                <a:ext uri="{FF2B5EF4-FFF2-40B4-BE49-F238E27FC236}">
                  <a16:creationId xmlns:a16="http://schemas.microsoft.com/office/drawing/2014/main" id="{385C9852-A1FA-4CFE-8530-05C3FB2484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43094D4B-7ED2-4A58-A6E7-6E4734E0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213" name="사각형: 둥근 대각선 방향 모서리 212">
            <a:extLst>
              <a:ext uri="{FF2B5EF4-FFF2-40B4-BE49-F238E27FC236}">
                <a16:creationId xmlns:a16="http://schemas.microsoft.com/office/drawing/2014/main" id="{DAB92661-B577-43F1-A9CF-11969553E5F4}"/>
              </a:ext>
            </a:extLst>
          </p:cNvPr>
          <p:cNvSpPr/>
          <p:nvPr/>
        </p:nvSpPr>
        <p:spPr>
          <a:xfrm>
            <a:off x="8387205" y="4307376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금융기관</a:t>
            </a:r>
          </a:p>
        </p:txBody>
      </p:sp>
      <p:sp>
        <p:nvSpPr>
          <p:cNvPr id="214" name="사각형: 둥근 대각선 방향 모서리 213">
            <a:extLst>
              <a:ext uri="{FF2B5EF4-FFF2-40B4-BE49-F238E27FC236}">
                <a16:creationId xmlns:a16="http://schemas.microsoft.com/office/drawing/2014/main" id="{27A25A1B-CA89-40FF-A138-FB76EF7ACE68}"/>
              </a:ext>
            </a:extLst>
          </p:cNvPr>
          <p:cNvSpPr/>
          <p:nvPr/>
        </p:nvSpPr>
        <p:spPr>
          <a:xfrm>
            <a:off x="8387205" y="4140561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국세청</a:t>
            </a:r>
          </a:p>
        </p:txBody>
      </p:sp>
      <p:sp>
        <p:nvSpPr>
          <p:cNvPr id="226" name="사각형: 둥근 대각선 방향 모서리 225">
            <a:extLst>
              <a:ext uri="{FF2B5EF4-FFF2-40B4-BE49-F238E27FC236}">
                <a16:creationId xmlns:a16="http://schemas.microsoft.com/office/drawing/2014/main" id="{90289E24-739C-408A-BD68-729C49D59CF7}"/>
              </a:ext>
            </a:extLst>
          </p:cNvPr>
          <p:cNvSpPr/>
          <p:nvPr/>
        </p:nvSpPr>
        <p:spPr>
          <a:xfrm>
            <a:off x="8387205" y="4474191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카드사</a:t>
            </a:r>
          </a:p>
        </p:txBody>
      </p:sp>
      <p:sp>
        <p:nvSpPr>
          <p:cNvPr id="228" name="사각형: 둥근 대각선 방향 모서리 227">
            <a:extLst>
              <a:ext uri="{FF2B5EF4-FFF2-40B4-BE49-F238E27FC236}">
                <a16:creationId xmlns:a16="http://schemas.microsoft.com/office/drawing/2014/main" id="{DF82361A-8E6A-4E4D-9EC8-90A070F3D913}"/>
              </a:ext>
            </a:extLst>
          </p:cNvPr>
          <p:cNvSpPr/>
          <p:nvPr/>
        </p:nvSpPr>
        <p:spPr>
          <a:xfrm>
            <a:off x="8387205" y="4825066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행정안전부</a:t>
            </a:r>
          </a:p>
        </p:txBody>
      </p:sp>
      <p:sp>
        <p:nvSpPr>
          <p:cNvPr id="229" name="사각형: 둥근 대각선 방향 모서리 228">
            <a:extLst>
              <a:ext uri="{FF2B5EF4-FFF2-40B4-BE49-F238E27FC236}">
                <a16:creationId xmlns:a16="http://schemas.microsoft.com/office/drawing/2014/main" id="{32741960-BD48-4375-9E89-0966CAA0E687}"/>
              </a:ext>
            </a:extLst>
          </p:cNvPr>
          <p:cNvSpPr/>
          <p:nvPr/>
        </p:nvSpPr>
        <p:spPr>
          <a:xfrm>
            <a:off x="8384157" y="4641006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4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대보험포탈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57432967-A2B6-4459-9320-67B91F91E4EC}"/>
              </a:ext>
            </a:extLst>
          </p:cNvPr>
          <p:cNvSpPr/>
          <p:nvPr/>
        </p:nvSpPr>
        <p:spPr>
          <a:xfrm>
            <a:off x="8038532" y="757562"/>
            <a:ext cx="1607883" cy="1414219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AutoShape 48">
            <a:extLst>
              <a:ext uri="{FF2B5EF4-FFF2-40B4-BE49-F238E27FC236}">
                <a16:creationId xmlns:a16="http://schemas.microsoft.com/office/drawing/2014/main" id="{CCC07FCD-19B5-4487-ABF9-24B68FC20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760" y="5320295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Scouter ?????</a:t>
            </a:r>
          </a:p>
        </p:txBody>
      </p:sp>
      <p:sp>
        <p:nvSpPr>
          <p:cNvPr id="235" name="사각형: 둥근 대각선 방향 모서리 234">
            <a:extLst>
              <a:ext uri="{FF2B5EF4-FFF2-40B4-BE49-F238E27FC236}">
                <a16:creationId xmlns:a16="http://schemas.microsoft.com/office/drawing/2014/main" id="{F153A79D-9D48-4D65-9A1E-ABEA556B72B7}"/>
              </a:ext>
            </a:extLst>
          </p:cNvPr>
          <p:cNvSpPr/>
          <p:nvPr/>
        </p:nvSpPr>
        <p:spPr>
          <a:xfrm>
            <a:off x="8398312" y="1192322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전자결재</a:t>
            </a:r>
          </a:p>
        </p:txBody>
      </p:sp>
      <p:sp>
        <p:nvSpPr>
          <p:cNvPr id="241" name="사각형: 둥근 대각선 방향 모서리 240">
            <a:extLst>
              <a:ext uri="{FF2B5EF4-FFF2-40B4-BE49-F238E27FC236}">
                <a16:creationId xmlns:a16="http://schemas.microsoft.com/office/drawing/2014/main" id="{DF891991-AD2B-4355-B10C-9635533EABFF}"/>
              </a:ext>
            </a:extLst>
          </p:cNvPr>
          <p:cNvSpPr/>
          <p:nvPr/>
        </p:nvSpPr>
        <p:spPr>
          <a:xfrm>
            <a:off x="8398312" y="1025507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통합정보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사용자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43" name="사각형: 둥근 대각선 방향 모서리 242">
            <a:extLst>
              <a:ext uri="{FF2B5EF4-FFF2-40B4-BE49-F238E27FC236}">
                <a16:creationId xmlns:a16="http://schemas.microsoft.com/office/drawing/2014/main" id="{ADC65119-A16F-4AC4-9DE0-CC049845FA1F}"/>
              </a:ext>
            </a:extLst>
          </p:cNvPr>
          <p:cNvSpPr/>
          <p:nvPr/>
        </p:nvSpPr>
        <p:spPr>
          <a:xfrm>
            <a:off x="8398312" y="1359137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Mail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44" name="사각형: 둥근 대각선 방향 모서리 243">
            <a:extLst>
              <a:ext uri="{FF2B5EF4-FFF2-40B4-BE49-F238E27FC236}">
                <a16:creationId xmlns:a16="http://schemas.microsoft.com/office/drawing/2014/main" id="{5FB3114C-4813-44E7-823D-BEB84ECBC8D6}"/>
              </a:ext>
            </a:extLst>
          </p:cNvPr>
          <p:cNvSpPr/>
          <p:nvPr/>
        </p:nvSpPr>
        <p:spPr>
          <a:xfrm>
            <a:off x="8398312" y="1710012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Works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45" name="사각형: 둥근 대각선 방향 모서리 244">
            <a:extLst>
              <a:ext uri="{FF2B5EF4-FFF2-40B4-BE49-F238E27FC236}">
                <a16:creationId xmlns:a16="http://schemas.microsoft.com/office/drawing/2014/main" id="{0668F4D2-5665-40FA-A43B-C68E98F71567}"/>
              </a:ext>
            </a:extLst>
          </p:cNvPr>
          <p:cNvSpPr/>
          <p:nvPr/>
        </p:nvSpPr>
        <p:spPr>
          <a:xfrm>
            <a:off x="8395264" y="1525952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Messenger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F3BB0EF3-2E61-4B21-BBB8-A399A606D337}"/>
              </a:ext>
            </a:extLst>
          </p:cNvPr>
          <p:cNvCxnSpPr>
            <a:cxnSpLocks/>
            <a:stCxn id="337" idx="1"/>
            <a:endCxn id="89" idx="2"/>
          </p:cNvCxnSpPr>
          <p:nvPr/>
        </p:nvCxnSpPr>
        <p:spPr>
          <a:xfrm rot="10800000" flipV="1">
            <a:off x="3175919" y="3002133"/>
            <a:ext cx="5051773" cy="1759830"/>
          </a:xfrm>
          <a:prstGeom prst="bentConnector4">
            <a:avLst>
              <a:gd name="adj1" fmla="val 6419"/>
              <a:gd name="adj2" fmla="val 112990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연결선: 꺾임 247">
            <a:extLst>
              <a:ext uri="{FF2B5EF4-FFF2-40B4-BE49-F238E27FC236}">
                <a16:creationId xmlns:a16="http://schemas.microsoft.com/office/drawing/2014/main" id="{1D16DB11-6B2D-4D3F-8C56-89898CDF38E3}"/>
              </a:ext>
            </a:extLst>
          </p:cNvPr>
          <p:cNvCxnSpPr>
            <a:cxnSpLocks/>
            <a:stCxn id="337" idx="1"/>
            <a:endCxn id="89" idx="2"/>
          </p:cNvCxnSpPr>
          <p:nvPr/>
        </p:nvCxnSpPr>
        <p:spPr>
          <a:xfrm rot="10800000" flipV="1">
            <a:off x="3175919" y="3002133"/>
            <a:ext cx="5051773" cy="1759830"/>
          </a:xfrm>
          <a:prstGeom prst="bentConnector4">
            <a:avLst>
              <a:gd name="adj1" fmla="val 6248"/>
              <a:gd name="adj2" fmla="val 112990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9" name="Group 1014">
            <a:extLst>
              <a:ext uri="{FF2B5EF4-FFF2-40B4-BE49-F238E27FC236}">
                <a16:creationId xmlns:a16="http://schemas.microsoft.com/office/drawing/2014/main" id="{CF4BF575-C77D-42C9-97FA-40019422D136}"/>
              </a:ext>
            </a:extLst>
          </p:cNvPr>
          <p:cNvGrpSpPr>
            <a:grpSpLocks/>
          </p:cNvGrpSpPr>
          <p:nvPr/>
        </p:nvGrpSpPr>
        <p:grpSpPr bwMode="auto">
          <a:xfrm>
            <a:off x="312583" y="3802894"/>
            <a:ext cx="163169" cy="200742"/>
            <a:chOff x="5666" y="988"/>
            <a:chExt cx="202" cy="351"/>
          </a:xfrm>
        </p:grpSpPr>
        <p:sp>
          <p:nvSpPr>
            <p:cNvPr id="250" name="Freeform 1015">
              <a:extLst>
                <a:ext uri="{FF2B5EF4-FFF2-40B4-BE49-F238E27FC236}">
                  <a16:creationId xmlns:a16="http://schemas.microsoft.com/office/drawing/2014/main" id="{91F2C56A-F4B8-4108-94C5-06E65FC2D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4"/>
              <a:ext cx="144" cy="328"/>
            </a:xfrm>
            <a:custGeom>
              <a:avLst/>
              <a:gdLst>
                <a:gd name="T0" fmla="*/ 0 w 144"/>
                <a:gd name="T1" fmla="*/ 1 h 328"/>
                <a:gd name="T2" fmla="*/ 0 w 144"/>
                <a:gd name="T3" fmla="*/ 327 h 328"/>
                <a:gd name="T4" fmla="*/ 143 w 144"/>
                <a:gd name="T5" fmla="*/ 312 h 328"/>
                <a:gd name="T6" fmla="*/ 143 w 144"/>
                <a:gd name="T7" fmla="*/ 6 h 328"/>
                <a:gd name="T8" fmla="*/ 143 w 144"/>
                <a:gd name="T9" fmla="*/ 6 h 328"/>
                <a:gd name="T10" fmla="*/ 0 w 144"/>
                <a:gd name="T11" fmla="*/ 0 h 328"/>
                <a:gd name="T12" fmla="*/ 143 w 144"/>
                <a:gd name="T13" fmla="*/ 6 h 328"/>
                <a:gd name="T14" fmla="*/ 0 w 144"/>
                <a:gd name="T15" fmla="*/ 0 h 328"/>
                <a:gd name="T16" fmla="*/ 143 w 144"/>
                <a:gd name="T17" fmla="*/ 6 h 328"/>
                <a:gd name="T18" fmla="*/ 0 w 144"/>
                <a:gd name="T19" fmla="*/ 0 h 328"/>
                <a:gd name="T20" fmla="*/ 143 w 144"/>
                <a:gd name="T21" fmla="*/ 6 h 328"/>
                <a:gd name="T22" fmla="*/ 0 w 144"/>
                <a:gd name="T23" fmla="*/ 0 h 328"/>
                <a:gd name="T24" fmla="*/ 143 w 144"/>
                <a:gd name="T25" fmla="*/ 6 h 328"/>
                <a:gd name="T26" fmla="*/ 0 w 144"/>
                <a:gd name="T27" fmla="*/ 0 h 328"/>
                <a:gd name="T28" fmla="*/ 143 w 144"/>
                <a:gd name="T29" fmla="*/ 6 h 328"/>
                <a:gd name="T30" fmla="*/ 0 w 144"/>
                <a:gd name="T31" fmla="*/ 0 h 328"/>
                <a:gd name="T32" fmla="*/ 143 w 144"/>
                <a:gd name="T33" fmla="*/ 6 h 328"/>
                <a:gd name="T34" fmla="*/ 0 w 144"/>
                <a:gd name="T35" fmla="*/ 0 h 328"/>
                <a:gd name="T36" fmla="*/ 143 w 144"/>
                <a:gd name="T37" fmla="*/ 6 h 328"/>
                <a:gd name="T38" fmla="*/ 0 w 144"/>
                <a:gd name="T39" fmla="*/ 0 h 328"/>
                <a:gd name="T40" fmla="*/ 143 w 144"/>
                <a:gd name="T41" fmla="*/ 6 h 328"/>
                <a:gd name="T42" fmla="*/ 0 w 144"/>
                <a:gd name="T43" fmla="*/ 0 h 328"/>
                <a:gd name="T44" fmla="*/ 143 w 144"/>
                <a:gd name="T45" fmla="*/ 6 h 328"/>
                <a:gd name="T46" fmla="*/ 0 w 144"/>
                <a:gd name="T47" fmla="*/ 0 h 328"/>
                <a:gd name="T48" fmla="*/ 143 w 144"/>
                <a:gd name="T49" fmla="*/ 6 h 328"/>
                <a:gd name="T50" fmla="*/ 0 w 144"/>
                <a:gd name="T51" fmla="*/ 0 h 328"/>
                <a:gd name="T52" fmla="*/ 143 w 144"/>
                <a:gd name="T53" fmla="*/ 6 h 328"/>
                <a:gd name="T54" fmla="*/ 0 w 144"/>
                <a:gd name="T55" fmla="*/ 0 h 328"/>
                <a:gd name="T56" fmla="*/ 143 w 144"/>
                <a:gd name="T57" fmla="*/ 6 h 328"/>
                <a:gd name="T58" fmla="*/ 0 w 144"/>
                <a:gd name="T59" fmla="*/ 0 h 328"/>
                <a:gd name="T60" fmla="*/ 143 w 144"/>
                <a:gd name="T61" fmla="*/ 6 h 328"/>
                <a:gd name="T62" fmla="*/ 0 w 144"/>
                <a:gd name="T63" fmla="*/ 0 h 328"/>
                <a:gd name="T64" fmla="*/ 143 w 144"/>
                <a:gd name="T65" fmla="*/ 6 h 328"/>
                <a:gd name="T66" fmla="*/ 0 w 144"/>
                <a:gd name="T67" fmla="*/ 0 h 328"/>
                <a:gd name="T68" fmla="*/ 143 w 144"/>
                <a:gd name="T69" fmla="*/ 6 h 328"/>
                <a:gd name="T70" fmla="*/ 0 w 144"/>
                <a:gd name="T71" fmla="*/ 0 h 328"/>
                <a:gd name="T72" fmla="*/ 143 w 144"/>
                <a:gd name="T73" fmla="*/ 6 h 328"/>
                <a:gd name="T74" fmla="*/ 0 w 144"/>
                <a:gd name="T75" fmla="*/ 0 h 328"/>
                <a:gd name="T76" fmla="*/ 143 w 144"/>
                <a:gd name="T77" fmla="*/ 6 h 328"/>
                <a:gd name="T78" fmla="*/ 0 w 144"/>
                <a:gd name="T79" fmla="*/ 0 h 328"/>
                <a:gd name="T80" fmla="*/ 143 w 144"/>
                <a:gd name="T81" fmla="*/ 6 h 328"/>
                <a:gd name="T82" fmla="*/ 0 w 144"/>
                <a:gd name="T83" fmla="*/ 0 h 328"/>
                <a:gd name="T84" fmla="*/ 0 w 144"/>
                <a:gd name="T85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4" h="328">
                  <a:moveTo>
                    <a:pt x="0" y="1"/>
                  </a:moveTo>
                  <a:lnTo>
                    <a:pt x="0" y="327"/>
                  </a:lnTo>
                  <a:lnTo>
                    <a:pt x="143" y="312"/>
                  </a:lnTo>
                  <a:lnTo>
                    <a:pt x="143" y="6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5400000" scaled="1"/>
            </a:gradFill>
            <a:ln w="9088" cap="flat" cmpd="sng">
              <a:solidFill>
                <a:srgbClr val="72727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52" name="Freeform 1016">
              <a:extLst>
                <a:ext uri="{FF2B5EF4-FFF2-40B4-BE49-F238E27FC236}">
                  <a16:creationId xmlns:a16="http://schemas.microsoft.com/office/drawing/2014/main" id="{41E2D3D7-62C5-4300-9226-6AD0CEE6E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0 h 328"/>
                <a:gd name="T2" fmla="*/ 58 w 59"/>
                <a:gd name="T3" fmla="*/ 327 h 328"/>
                <a:gd name="T4" fmla="*/ 0 w 59"/>
                <a:gd name="T5" fmla="*/ 271 h 328"/>
                <a:gd name="T6" fmla="*/ 0 w 59"/>
                <a:gd name="T7" fmla="*/ 26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327 h 328"/>
                <a:gd name="T14" fmla="*/ 58 w 59"/>
                <a:gd name="T15" fmla="*/ 0 h 328"/>
                <a:gd name="T16" fmla="*/ 58 w 59"/>
                <a:gd name="T17" fmla="*/ 327 h 328"/>
                <a:gd name="T18" fmla="*/ 58 w 59"/>
                <a:gd name="T19" fmla="*/ 0 h 328"/>
                <a:gd name="T20" fmla="*/ 58 w 59"/>
                <a:gd name="T21" fmla="*/ 327 h 328"/>
                <a:gd name="T22" fmla="*/ 58 w 59"/>
                <a:gd name="T23" fmla="*/ 0 h 328"/>
                <a:gd name="T24" fmla="*/ 58 w 59"/>
                <a:gd name="T25" fmla="*/ 327 h 328"/>
                <a:gd name="T26" fmla="*/ 58 w 59"/>
                <a:gd name="T27" fmla="*/ 0 h 328"/>
                <a:gd name="T28" fmla="*/ 58 w 59"/>
                <a:gd name="T29" fmla="*/ 327 h 328"/>
                <a:gd name="T30" fmla="*/ 58 w 59"/>
                <a:gd name="T31" fmla="*/ 0 h 328"/>
                <a:gd name="T32" fmla="*/ 58 w 59"/>
                <a:gd name="T33" fmla="*/ 327 h 328"/>
                <a:gd name="T34" fmla="*/ 58 w 59"/>
                <a:gd name="T35" fmla="*/ 0 h 328"/>
                <a:gd name="T36" fmla="*/ 58 w 59"/>
                <a:gd name="T37" fmla="*/ 327 h 328"/>
                <a:gd name="T38" fmla="*/ 58 w 59"/>
                <a:gd name="T39" fmla="*/ 0 h 328"/>
                <a:gd name="T40" fmla="*/ 58 w 59"/>
                <a:gd name="T41" fmla="*/ 327 h 328"/>
                <a:gd name="T42" fmla="*/ 58 w 59"/>
                <a:gd name="T43" fmla="*/ 0 h 328"/>
                <a:gd name="T44" fmla="*/ 58 w 59"/>
                <a:gd name="T45" fmla="*/ 327 h 328"/>
                <a:gd name="T46" fmla="*/ 58 w 59"/>
                <a:gd name="T47" fmla="*/ 0 h 328"/>
                <a:gd name="T48" fmla="*/ 58 w 59"/>
                <a:gd name="T49" fmla="*/ 327 h 328"/>
                <a:gd name="T50" fmla="*/ 58 w 59"/>
                <a:gd name="T51" fmla="*/ 0 h 328"/>
                <a:gd name="T52" fmla="*/ 58 w 59"/>
                <a:gd name="T53" fmla="*/ 327 h 328"/>
                <a:gd name="T54" fmla="*/ 58 w 59"/>
                <a:gd name="T5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53" name="Line 1017">
              <a:extLst>
                <a:ext uri="{FF2B5EF4-FFF2-40B4-BE49-F238E27FC236}">
                  <a16:creationId xmlns:a16="http://schemas.microsoft.com/office/drawing/2014/main" id="{FAA92BDF-6072-400E-A00B-62AFBE98B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91" y="1008"/>
              <a:ext cx="0" cy="279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54" name="Line 1018">
              <a:extLst>
                <a:ext uri="{FF2B5EF4-FFF2-40B4-BE49-F238E27FC236}">
                  <a16:creationId xmlns:a16="http://schemas.microsoft.com/office/drawing/2014/main" id="{98C973A8-DCD8-4878-BA42-A987F2052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0" y="1000"/>
              <a:ext cx="0" cy="306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55" name="Line 1019">
              <a:extLst>
                <a:ext uri="{FF2B5EF4-FFF2-40B4-BE49-F238E27FC236}">
                  <a16:creationId xmlns:a16="http://schemas.microsoft.com/office/drawing/2014/main" id="{4A46DBE0-46D9-44AB-8988-F29B07A02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7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56" name="Line 1020">
              <a:extLst>
                <a:ext uri="{FF2B5EF4-FFF2-40B4-BE49-F238E27FC236}">
                  <a16:creationId xmlns:a16="http://schemas.microsoft.com/office/drawing/2014/main" id="{E8B73D24-2F9E-45F9-BD4D-44B10FA3E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3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57" name="AutoShape 1021">
              <a:extLst>
                <a:ext uri="{FF2B5EF4-FFF2-40B4-BE49-F238E27FC236}">
                  <a16:creationId xmlns:a16="http://schemas.microsoft.com/office/drawing/2014/main" id="{37A0D93B-E7D8-4F88-8E26-23CBD595496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09" y="998"/>
              <a:ext cx="27" cy="89"/>
            </a:xfrm>
            <a:prstGeom prst="roundRect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58" name="Freeform 1022">
              <a:extLst>
                <a:ext uri="{FF2B5EF4-FFF2-40B4-BE49-F238E27FC236}">
                  <a16:creationId xmlns:a16="http://schemas.microsoft.com/office/drawing/2014/main" id="{4B74D9DE-A221-4940-8FC1-9DC6F5681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327 h 328"/>
                <a:gd name="T2" fmla="*/ 0 w 59"/>
                <a:gd name="T3" fmla="*/ 26 h 328"/>
                <a:gd name="T4" fmla="*/ 58 w 59"/>
                <a:gd name="T5" fmla="*/ 0 h 328"/>
                <a:gd name="T6" fmla="*/ 58 w 59"/>
                <a:gd name="T7" fmla="*/ 0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0 h 328"/>
                <a:gd name="T14" fmla="*/ 58 w 59"/>
                <a:gd name="T15" fmla="*/ 0 h 328"/>
                <a:gd name="T16" fmla="*/ 58 w 59"/>
                <a:gd name="T17" fmla="*/ 0 h 328"/>
                <a:gd name="T18" fmla="*/ 58 w 59"/>
                <a:gd name="T19" fmla="*/ 0 h 328"/>
                <a:gd name="T20" fmla="*/ 58 w 59"/>
                <a:gd name="T21" fmla="*/ 0 h 328"/>
                <a:gd name="T22" fmla="*/ 58 w 59"/>
                <a:gd name="T23" fmla="*/ 0 h 328"/>
                <a:gd name="T24" fmla="*/ 58 w 59"/>
                <a:gd name="T25" fmla="*/ 0 h 328"/>
                <a:gd name="T26" fmla="*/ 58 w 59"/>
                <a:gd name="T27" fmla="*/ 0 h 328"/>
                <a:gd name="T28" fmla="*/ 58 w 59"/>
                <a:gd name="T29" fmla="*/ 0 h 328"/>
                <a:gd name="T30" fmla="*/ 58 w 59"/>
                <a:gd name="T31" fmla="*/ 0 h 328"/>
                <a:gd name="T32" fmla="*/ 58 w 59"/>
                <a:gd name="T33" fmla="*/ 0 h 328"/>
                <a:gd name="T34" fmla="*/ 58 w 59"/>
                <a:gd name="T35" fmla="*/ 0 h 328"/>
                <a:gd name="T36" fmla="*/ 58 w 59"/>
                <a:gd name="T37" fmla="*/ 0 h 328"/>
                <a:gd name="T38" fmla="*/ 58 w 59"/>
                <a:gd name="T39" fmla="*/ 0 h 328"/>
                <a:gd name="T40" fmla="*/ 58 w 59"/>
                <a:gd name="T41" fmla="*/ 0 h 328"/>
                <a:gd name="T42" fmla="*/ 58 w 59"/>
                <a:gd name="T43" fmla="*/ 0 h 328"/>
                <a:gd name="T44" fmla="*/ 58 w 59"/>
                <a:gd name="T45" fmla="*/ 0 h 328"/>
                <a:gd name="T46" fmla="*/ 58 w 59"/>
                <a:gd name="T47" fmla="*/ 0 h 328"/>
                <a:gd name="T48" fmla="*/ 58 w 59"/>
                <a:gd name="T49" fmla="*/ 0 h 328"/>
                <a:gd name="T50" fmla="*/ 58 w 59"/>
                <a:gd name="T51" fmla="*/ 0 h 328"/>
                <a:gd name="T52" fmla="*/ 58 w 59"/>
                <a:gd name="T53" fmla="*/ 0 h 328"/>
                <a:gd name="T54" fmla="*/ 58 w 59"/>
                <a:gd name="T55" fmla="*/ 0 h 328"/>
                <a:gd name="T56" fmla="*/ 58 w 59"/>
                <a:gd name="T57" fmla="*/ 0 h 328"/>
                <a:gd name="T58" fmla="*/ 58 w 59"/>
                <a:gd name="T59" fmla="*/ 0 h 328"/>
                <a:gd name="T60" fmla="*/ 58 w 59"/>
                <a:gd name="T61" fmla="*/ 0 h 328"/>
                <a:gd name="T62" fmla="*/ 58 w 59"/>
                <a:gd name="T63" fmla="*/ 0 h 328"/>
                <a:gd name="T64" fmla="*/ 58 w 59"/>
                <a:gd name="T65" fmla="*/ 0 h 328"/>
                <a:gd name="T66" fmla="*/ 58 w 59"/>
                <a:gd name="T67" fmla="*/ 0 h 328"/>
                <a:gd name="T68" fmla="*/ 58 w 59"/>
                <a:gd name="T69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60" name="AutoShape 1023">
              <a:extLst>
                <a:ext uri="{FF2B5EF4-FFF2-40B4-BE49-F238E27FC236}">
                  <a16:creationId xmlns:a16="http://schemas.microsoft.com/office/drawing/2014/main" id="{ECFA1CE7-4AA7-412D-96DA-3C438765A15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0" y="1068"/>
              <a:ext cx="17" cy="15"/>
            </a:xfrm>
            <a:prstGeom prst="roundRect">
              <a:avLst>
                <a:gd name="adj" fmla="val 0"/>
              </a:avLst>
            </a:prstGeom>
            <a:solidFill>
              <a:srgbClr val="72727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61" name="Oval 1024">
              <a:extLst>
                <a:ext uri="{FF2B5EF4-FFF2-40B4-BE49-F238E27FC236}">
                  <a16:creationId xmlns:a16="http://schemas.microsoft.com/office/drawing/2014/main" id="{5168ABA3-258F-4B70-A75F-9F1BEE511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2" y="1076"/>
              <a:ext cx="3" cy="3"/>
            </a:xfrm>
            <a:prstGeom prst="ellips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62" name="Line 1025">
              <a:extLst>
                <a:ext uri="{FF2B5EF4-FFF2-40B4-BE49-F238E27FC236}">
                  <a16:creationId xmlns:a16="http://schemas.microsoft.com/office/drawing/2014/main" id="{12571527-48F7-4AB3-9488-0E0AD3EE1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3" y="1073"/>
              <a:ext cx="0" cy="0"/>
            </a:xfrm>
            <a:prstGeom prst="lin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2" name="AutoShape 1026">
              <a:extLst>
                <a:ext uri="{FF2B5EF4-FFF2-40B4-BE49-F238E27FC236}">
                  <a16:creationId xmlns:a16="http://schemas.microsoft.com/office/drawing/2014/main" id="{A846F8A1-E92B-452F-8F36-86A7B75AF4B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3" y="1070"/>
              <a:ext cx="6" cy="11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5400000" scaled="1"/>
            </a:gradFill>
            <a:ln w="9088">
              <a:solidFill>
                <a:srgbClr val="FF404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3" name="AutoShape 1027">
              <a:extLst>
                <a:ext uri="{FF2B5EF4-FFF2-40B4-BE49-F238E27FC236}">
                  <a16:creationId xmlns:a16="http://schemas.microsoft.com/office/drawing/2014/main" id="{BCDA1B1B-4403-484B-8255-13BA737133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4" y="1073"/>
              <a:ext cx="5" cy="0"/>
            </a:xfrm>
            <a:prstGeom prst="roundRect">
              <a:avLst>
                <a:gd name="adj" fmla="val 0"/>
              </a:avLst>
            </a:prstGeom>
            <a:solidFill>
              <a:srgbClr val="FF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4" name="Line 1028">
              <a:extLst>
                <a:ext uri="{FF2B5EF4-FFF2-40B4-BE49-F238E27FC236}">
                  <a16:creationId xmlns:a16="http://schemas.microsoft.com/office/drawing/2014/main" id="{15475D2D-235E-4089-AC50-8975707264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09" y="997"/>
              <a:ext cx="0" cy="314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1" name="Line 1029">
              <a:extLst>
                <a:ext uri="{FF2B5EF4-FFF2-40B4-BE49-F238E27FC236}">
                  <a16:creationId xmlns:a16="http://schemas.microsoft.com/office/drawing/2014/main" id="{58C09DF3-B9A2-4667-8FE5-135534656F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" y="998"/>
              <a:ext cx="0" cy="31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3" name="Freeform 1030">
              <a:extLst>
                <a:ext uri="{FF2B5EF4-FFF2-40B4-BE49-F238E27FC236}">
                  <a16:creationId xmlns:a16="http://schemas.microsoft.com/office/drawing/2014/main" id="{398942A2-00EF-40F9-88A0-5D5545EAC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1314"/>
              <a:ext cx="15" cy="10"/>
            </a:xfrm>
            <a:custGeom>
              <a:avLst/>
              <a:gdLst>
                <a:gd name="T0" fmla="*/ 0 w 15"/>
                <a:gd name="T1" fmla="*/ 0 h 10"/>
                <a:gd name="T2" fmla="*/ 14 w 15"/>
                <a:gd name="T3" fmla="*/ 0 h 10"/>
                <a:gd name="T4" fmla="*/ 14 w 15"/>
                <a:gd name="T5" fmla="*/ 9 h 10"/>
                <a:gd name="T6" fmla="*/ 0 w 15"/>
                <a:gd name="T7" fmla="*/ 0 h 10"/>
                <a:gd name="T8" fmla="*/ 0 w 15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0" y="0"/>
                  </a:moveTo>
                  <a:lnTo>
                    <a:pt x="14" y="0"/>
                  </a:lnTo>
                  <a:lnTo>
                    <a:pt x="14" y="9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5" name="Freeform 1031">
              <a:extLst>
                <a:ext uri="{FF2B5EF4-FFF2-40B4-BE49-F238E27FC236}">
                  <a16:creationId xmlns:a16="http://schemas.microsoft.com/office/drawing/2014/main" id="{4B6C05BD-DC5F-426C-863B-9DBAA2588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3"/>
              <a:ext cx="144" cy="329"/>
            </a:xfrm>
            <a:custGeom>
              <a:avLst/>
              <a:gdLst>
                <a:gd name="T0" fmla="*/ 143 w 144"/>
                <a:gd name="T1" fmla="*/ 313 h 329"/>
                <a:gd name="T2" fmla="*/ 143 w 144"/>
                <a:gd name="T3" fmla="*/ 7 h 329"/>
                <a:gd name="T4" fmla="*/ 0 w 144"/>
                <a:gd name="T5" fmla="*/ 1 h 329"/>
                <a:gd name="T6" fmla="*/ 0 w 144"/>
                <a:gd name="T7" fmla="*/ 1 h 329"/>
                <a:gd name="T8" fmla="*/ 0 w 144"/>
                <a:gd name="T9" fmla="*/ 1 h 329"/>
                <a:gd name="T10" fmla="*/ 0 w 144"/>
                <a:gd name="T11" fmla="*/ 1 h 329"/>
                <a:gd name="T12" fmla="*/ 0 w 144"/>
                <a:gd name="T13" fmla="*/ 1 h 329"/>
                <a:gd name="T14" fmla="*/ 0 w 144"/>
                <a:gd name="T15" fmla="*/ 1 h 329"/>
                <a:gd name="T16" fmla="*/ 0 w 144"/>
                <a:gd name="T17" fmla="*/ 1 h 329"/>
                <a:gd name="T18" fmla="*/ 0 w 144"/>
                <a:gd name="T19" fmla="*/ 1 h 329"/>
                <a:gd name="T20" fmla="*/ 0 w 144"/>
                <a:gd name="T21" fmla="*/ 1 h 329"/>
                <a:gd name="T22" fmla="*/ 0 w 144"/>
                <a:gd name="T23" fmla="*/ 1 h 329"/>
                <a:gd name="T24" fmla="*/ 0 w 144"/>
                <a:gd name="T25" fmla="*/ 1 h 329"/>
                <a:gd name="T26" fmla="*/ 0 w 144"/>
                <a:gd name="T27" fmla="*/ 1 h 329"/>
                <a:gd name="T28" fmla="*/ 0 w 144"/>
                <a:gd name="T29" fmla="*/ 1 h 329"/>
                <a:gd name="T30" fmla="*/ 0 w 144"/>
                <a:gd name="T31" fmla="*/ 1 h 329"/>
                <a:gd name="T32" fmla="*/ 0 w 144"/>
                <a:gd name="T33" fmla="*/ 1 h 329"/>
                <a:gd name="T34" fmla="*/ 0 w 144"/>
                <a:gd name="T35" fmla="*/ 1 h 329"/>
                <a:gd name="T36" fmla="*/ 0 w 144"/>
                <a:gd name="T37" fmla="*/ 1 h 329"/>
                <a:gd name="T38" fmla="*/ 0 w 144"/>
                <a:gd name="T39" fmla="*/ 1 h 329"/>
                <a:gd name="T40" fmla="*/ 0 w 144"/>
                <a:gd name="T41" fmla="*/ 0 h 329"/>
                <a:gd name="T42" fmla="*/ 143 w 144"/>
                <a:gd name="T43" fmla="*/ 313 h 329"/>
                <a:gd name="T44" fmla="*/ 143 w 144"/>
                <a:gd name="T45" fmla="*/ 313 h 329"/>
                <a:gd name="T46" fmla="*/ 143 w 144"/>
                <a:gd name="T47" fmla="*/ 313 h 329"/>
                <a:gd name="T48" fmla="*/ 143 w 144"/>
                <a:gd name="T49" fmla="*/ 313 h 329"/>
                <a:gd name="T50" fmla="*/ 143 w 144"/>
                <a:gd name="T51" fmla="*/ 313 h 329"/>
                <a:gd name="T52" fmla="*/ 143 w 144"/>
                <a:gd name="T53" fmla="*/ 313 h 329"/>
                <a:gd name="T54" fmla="*/ 143 w 144"/>
                <a:gd name="T55" fmla="*/ 313 h 329"/>
                <a:gd name="T56" fmla="*/ 143 w 144"/>
                <a:gd name="T57" fmla="*/ 313 h 329"/>
                <a:gd name="T58" fmla="*/ 143 w 144"/>
                <a:gd name="T59" fmla="*/ 313 h 329"/>
                <a:gd name="T60" fmla="*/ 143 w 144"/>
                <a:gd name="T61" fmla="*/ 313 h 329"/>
                <a:gd name="T62" fmla="*/ 143 w 144"/>
                <a:gd name="T63" fmla="*/ 313 h 329"/>
                <a:gd name="T64" fmla="*/ 143 w 144"/>
                <a:gd name="T65" fmla="*/ 313 h 329"/>
                <a:gd name="T66" fmla="*/ 143 w 144"/>
                <a:gd name="T67" fmla="*/ 313 h 329"/>
                <a:gd name="T68" fmla="*/ 143 w 144"/>
                <a:gd name="T69" fmla="*/ 313 h 329"/>
                <a:gd name="T70" fmla="*/ 143 w 144"/>
                <a:gd name="T71" fmla="*/ 313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4" h="329">
                  <a:moveTo>
                    <a:pt x="0" y="328"/>
                  </a:moveTo>
                  <a:lnTo>
                    <a:pt x="143" y="313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0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7" name="AutoShape 1032">
              <a:extLst>
                <a:ext uri="{FF2B5EF4-FFF2-40B4-BE49-F238E27FC236}">
                  <a16:creationId xmlns:a16="http://schemas.microsoft.com/office/drawing/2014/main" id="{980CE75D-7286-4162-B458-1ED1F838FE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731" y="994"/>
              <a:ext cx="26" cy="328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9" name="Freeform 1033">
              <a:extLst>
                <a:ext uri="{FF2B5EF4-FFF2-40B4-BE49-F238E27FC236}">
                  <a16:creationId xmlns:a16="http://schemas.microsoft.com/office/drawing/2014/main" id="{0A5A0ADB-9CD9-4F12-B749-96CF31F5B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2" y="988"/>
              <a:ext cx="78" cy="351"/>
            </a:xfrm>
            <a:custGeom>
              <a:avLst/>
              <a:gdLst>
                <a:gd name="T0" fmla="*/ 0 w 78"/>
                <a:gd name="T1" fmla="*/ 4 h 351"/>
                <a:gd name="T2" fmla="*/ 12 w 78"/>
                <a:gd name="T3" fmla="*/ 0 h 351"/>
                <a:gd name="T4" fmla="*/ 77 w 78"/>
                <a:gd name="T5" fmla="*/ 4 h 351"/>
                <a:gd name="T6" fmla="*/ 77 w 78"/>
                <a:gd name="T7" fmla="*/ 334 h 351"/>
                <a:gd name="T8" fmla="*/ 13 w 78"/>
                <a:gd name="T9" fmla="*/ 350 h 351"/>
                <a:gd name="T10" fmla="*/ 0 w 78"/>
                <a:gd name="T11" fmla="*/ 342 h 351"/>
                <a:gd name="T12" fmla="*/ 0 w 78"/>
                <a:gd name="T13" fmla="*/ 326 h 351"/>
                <a:gd name="T14" fmla="*/ 13 w 78"/>
                <a:gd name="T15" fmla="*/ 334 h 351"/>
                <a:gd name="T16" fmla="*/ 13 w 78"/>
                <a:gd name="T17" fmla="*/ 9 h 351"/>
                <a:gd name="T18" fmla="*/ 0 w 78"/>
                <a:gd name="T19" fmla="*/ 10 h 351"/>
                <a:gd name="T20" fmla="*/ 0 w 78"/>
                <a:gd name="T21" fmla="*/ 4 h 351"/>
                <a:gd name="T22" fmla="*/ 0 w 78"/>
                <a:gd name="T23" fmla="*/ 4 h 351"/>
                <a:gd name="T24" fmla="*/ 0 w 78"/>
                <a:gd name="T25" fmla="*/ 4 h 351"/>
                <a:gd name="T26" fmla="*/ 0 w 78"/>
                <a:gd name="T27" fmla="*/ 4 h 351"/>
                <a:gd name="T28" fmla="*/ 0 w 78"/>
                <a:gd name="T29" fmla="*/ 4 h 351"/>
                <a:gd name="T30" fmla="*/ 0 w 78"/>
                <a:gd name="T31" fmla="*/ 4 h 351"/>
                <a:gd name="T32" fmla="*/ 0 w 78"/>
                <a:gd name="T33" fmla="*/ 4 h 351"/>
                <a:gd name="T34" fmla="*/ 0 w 78"/>
                <a:gd name="T35" fmla="*/ 4 h 351"/>
                <a:gd name="T36" fmla="*/ 0 w 78"/>
                <a:gd name="T37" fmla="*/ 4 h 351"/>
                <a:gd name="T38" fmla="*/ 0 w 78"/>
                <a:gd name="T39" fmla="*/ 4 h 351"/>
                <a:gd name="T40" fmla="*/ 0 w 78"/>
                <a:gd name="T41" fmla="*/ 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8" h="351">
                  <a:moveTo>
                    <a:pt x="0" y="4"/>
                  </a:moveTo>
                  <a:lnTo>
                    <a:pt x="12" y="0"/>
                  </a:lnTo>
                  <a:lnTo>
                    <a:pt x="77" y="4"/>
                  </a:lnTo>
                  <a:lnTo>
                    <a:pt x="77" y="334"/>
                  </a:lnTo>
                  <a:lnTo>
                    <a:pt x="13" y="350"/>
                  </a:lnTo>
                  <a:lnTo>
                    <a:pt x="0" y="342"/>
                  </a:lnTo>
                  <a:lnTo>
                    <a:pt x="0" y="326"/>
                  </a:lnTo>
                  <a:lnTo>
                    <a:pt x="13" y="334"/>
                  </a:lnTo>
                  <a:lnTo>
                    <a:pt x="13" y="9"/>
                  </a:lnTo>
                  <a:lnTo>
                    <a:pt x="0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</a:path>
              </a:pathLst>
            </a:custGeom>
            <a:gradFill rotWithShape="0">
              <a:gsLst>
                <a:gs pos="0">
                  <a:srgbClr val="727272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F8F8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11" name="Line 1034">
              <a:extLst>
                <a:ext uri="{FF2B5EF4-FFF2-40B4-BE49-F238E27FC236}">
                  <a16:creationId xmlns:a16="http://schemas.microsoft.com/office/drawing/2014/main" id="{62C52C73-6C40-4CD9-BB53-56AC6BC98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1" y="994"/>
              <a:ext cx="0" cy="32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13" name="Freeform 1035">
              <a:extLst>
                <a:ext uri="{FF2B5EF4-FFF2-40B4-BE49-F238E27FC236}">
                  <a16:creationId xmlns:a16="http://schemas.microsoft.com/office/drawing/2014/main" id="{E8094771-1725-435F-B426-51D1C4A4D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989"/>
              <a:ext cx="21" cy="350"/>
            </a:xfrm>
            <a:custGeom>
              <a:avLst/>
              <a:gdLst>
                <a:gd name="T0" fmla="*/ 0 w 21"/>
                <a:gd name="T1" fmla="*/ 3 h 350"/>
                <a:gd name="T2" fmla="*/ 13 w 21"/>
                <a:gd name="T3" fmla="*/ 0 h 350"/>
                <a:gd name="T4" fmla="*/ 20 w 21"/>
                <a:gd name="T5" fmla="*/ 0 h 350"/>
                <a:gd name="T6" fmla="*/ 20 w 21"/>
                <a:gd name="T7" fmla="*/ 349 h 350"/>
                <a:gd name="T8" fmla="*/ 13 w 21"/>
                <a:gd name="T9" fmla="*/ 349 h 350"/>
                <a:gd name="T10" fmla="*/ 0 w 21"/>
                <a:gd name="T11" fmla="*/ 341 h 350"/>
                <a:gd name="T12" fmla="*/ 0 w 21"/>
                <a:gd name="T13" fmla="*/ 325 h 350"/>
                <a:gd name="T14" fmla="*/ 14 w 21"/>
                <a:gd name="T15" fmla="*/ 333 h 350"/>
                <a:gd name="T16" fmla="*/ 14 w 21"/>
                <a:gd name="T17" fmla="*/ 6 h 350"/>
                <a:gd name="T18" fmla="*/ 0 w 21"/>
                <a:gd name="T19" fmla="*/ 9 h 350"/>
                <a:gd name="T20" fmla="*/ 0 w 21"/>
                <a:gd name="T21" fmla="*/ 3 h 350"/>
                <a:gd name="T22" fmla="*/ 0 w 21"/>
                <a:gd name="T23" fmla="*/ 3 h 350"/>
                <a:gd name="T24" fmla="*/ 0 w 21"/>
                <a:gd name="T25" fmla="*/ 3 h 350"/>
                <a:gd name="T26" fmla="*/ 0 w 21"/>
                <a:gd name="T27" fmla="*/ 3 h 350"/>
                <a:gd name="T28" fmla="*/ 0 w 21"/>
                <a:gd name="T29" fmla="*/ 3 h 350"/>
                <a:gd name="T30" fmla="*/ 0 w 21"/>
                <a:gd name="T31" fmla="*/ 3 h 350"/>
                <a:gd name="T32" fmla="*/ 0 w 21"/>
                <a:gd name="T33" fmla="*/ 3 h 350"/>
                <a:gd name="T34" fmla="*/ 0 w 21"/>
                <a:gd name="T35" fmla="*/ 3 h 350"/>
                <a:gd name="T36" fmla="*/ 0 w 21"/>
                <a:gd name="T37" fmla="*/ 3 h 350"/>
                <a:gd name="T38" fmla="*/ 0 w 21"/>
                <a:gd name="T39" fmla="*/ 3 h 350"/>
                <a:gd name="T40" fmla="*/ 0 w 21"/>
                <a:gd name="T41" fmla="*/ 3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350">
                  <a:moveTo>
                    <a:pt x="0" y="3"/>
                  </a:moveTo>
                  <a:lnTo>
                    <a:pt x="13" y="0"/>
                  </a:lnTo>
                  <a:lnTo>
                    <a:pt x="20" y="0"/>
                  </a:lnTo>
                  <a:lnTo>
                    <a:pt x="20" y="349"/>
                  </a:lnTo>
                  <a:lnTo>
                    <a:pt x="13" y="349"/>
                  </a:lnTo>
                  <a:lnTo>
                    <a:pt x="0" y="341"/>
                  </a:lnTo>
                  <a:lnTo>
                    <a:pt x="0" y="325"/>
                  </a:lnTo>
                  <a:lnTo>
                    <a:pt x="14" y="333"/>
                  </a:lnTo>
                  <a:lnTo>
                    <a:pt x="14" y="6"/>
                  </a:lnTo>
                  <a:lnTo>
                    <a:pt x="0" y="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8F8F8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314" name="Rectangle 1059">
            <a:extLst>
              <a:ext uri="{FF2B5EF4-FFF2-40B4-BE49-F238E27FC236}">
                <a16:creationId xmlns:a16="http://schemas.microsoft.com/office/drawing/2014/main" id="{C63F4F85-F0BF-4CF0-A87D-9C6D5B28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91" y="4016642"/>
            <a:ext cx="539750" cy="17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359" tIns="31679" rIns="63359" bIns="31679" anchor="ctr"/>
          <a:lstStyle>
            <a:lvl1pPr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17500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6334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9509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266825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17240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1812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26384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0956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700" dirty="0">
                <a:solidFill>
                  <a:srgbClr val="002368"/>
                </a:solidFill>
                <a:latin typeface="다키 L" pitchFamily="2" charset="-127"/>
                <a:ea typeface="다키 L" pitchFamily="2" charset="-127"/>
              </a:rPr>
              <a:t>인증서버</a:t>
            </a:r>
          </a:p>
        </p:txBody>
      </p:sp>
      <p:pic>
        <p:nvPicPr>
          <p:cNvPr id="315" name="Picture 843">
            <a:extLst>
              <a:ext uri="{FF2B5EF4-FFF2-40B4-BE49-F238E27FC236}">
                <a16:creationId xmlns:a16="http://schemas.microsoft.com/office/drawing/2014/main" id="{1C33014C-E670-4DB7-9912-6D3E160A7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189" y="3890719"/>
            <a:ext cx="403417" cy="25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6" name="연결선: 꺾임 315">
            <a:extLst>
              <a:ext uri="{FF2B5EF4-FFF2-40B4-BE49-F238E27FC236}">
                <a16:creationId xmlns:a16="http://schemas.microsoft.com/office/drawing/2014/main" id="{D8853DD7-61B0-4C45-BA67-9D4DBF3B772A}"/>
              </a:ext>
            </a:extLst>
          </p:cNvPr>
          <p:cNvCxnSpPr>
            <a:cxnSpLocks/>
            <a:stCxn id="315" idx="1"/>
            <a:endCxn id="305" idx="1"/>
          </p:cNvCxnSpPr>
          <p:nvPr/>
        </p:nvCxnSpPr>
        <p:spPr>
          <a:xfrm rot="10800000">
            <a:off x="474945" y="3809757"/>
            <a:ext cx="882245" cy="210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연결선: 꺾임 318">
            <a:extLst>
              <a:ext uri="{FF2B5EF4-FFF2-40B4-BE49-F238E27FC236}">
                <a16:creationId xmlns:a16="http://schemas.microsoft.com/office/drawing/2014/main" id="{B6877D1E-383D-418C-BFB8-1CD0C7827947}"/>
              </a:ext>
            </a:extLst>
          </p:cNvPr>
          <p:cNvCxnSpPr>
            <a:cxnSpLocks/>
            <a:stCxn id="309" idx="3"/>
            <a:endCxn id="315" idx="2"/>
          </p:cNvCxnSpPr>
          <p:nvPr/>
        </p:nvCxnSpPr>
        <p:spPr>
          <a:xfrm>
            <a:off x="428094" y="3993913"/>
            <a:ext cx="1130804" cy="156362"/>
          </a:xfrm>
          <a:prstGeom prst="bentConnector4">
            <a:avLst>
              <a:gd name="adj1" fmla="val -912"/>
              <a:gd name="adj2" fmla="val 246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AutoShape 409">
            <a:extLst>
              <a:ext uri="{FF2B5EF4-FFF2-40B4-BE49-F238E27FC236}">
                <a16:creationId xmlns:a16="http://schemas.microsoft.com/office/drawing/2014/main" id="{E64AF86B-379C-497B-B913-BD90E3319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596" y="4201907"/>
            <a:ext cx="478613" cy="139810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sp>
        <p:nvSpPr>
          <p:cNvPr id="323" name="AutoShape 409">
            <a:extLst>
              <a:ext uri="{FF2B5EF4-FFF2-40B4-BE49-F238E27FC236}">
                <a16:creationId xmlns:a16="http://schemas.microsoft.com/office/drawing/2014/main" id="{106BC804-7CD1-4185-80FF-9A6E721BE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929" y="4428290"/>
            <a:ext cx="611082" cy="130409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latin typeface="다키 L" pitchFamily="2" charset="-127"/>
                <a:ea typeface="다키 L" pitchFamily="2" charset="-127"/>
              </a:rPr>
              <a:t>엔드포인트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24" name="AutoShape 409">
            <a:extLst>
              <a:ext uri="{FF2B5EF4-FFF2-40B4-BE49-F238E27FC236}">
                <a16:creationId xmlns:a16="http://schemas.microsoft.com/office/drawing/2014/main" id="{051CB823-FC1E-4230-933B-7D15E850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335" y="3809757"/>
            <a:ext cx="335957" cy="140051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cxnSp>
        <p:nvCxnSpPr>
          <p:cNvPr id="327" name="연결선: 꺾임 326">
            <a:extLst>
              <a:ext uri="{FF2B5EF4-FFF2-40B4-BE49-F238E27FC236}">
                <a16:creationId xmlns:a16="http://schemas.microsoft.com/office/drawing/2014/main" id="{8E6F5D5B-CBCF-4A0D-904A-77D3F6CC5623}"/>
              </a:ext>
            </a:extLst>
          </p:cNvPr>
          <p:cNvCxnSpPr>
            <a:cxnSpLocks/>
            <a:stCxn id="315" idx="3"/>
            <a:endCxn id="141" idx="1"/>
          </p:cNvCxnSpPr>
          <p:nvPr/>
        </p:nvCxnSpPr>
        <p:spPr>
          <a:xfrm flipV="1">
            <a:off x="1760606" y="2272524"/>
            <a:ext cx="853560" cy="1747973"/>
          </a:xfrm>
          <a:prstGeom prst="bentConnector3">
            <a:avLst>
              <a:gd name="adj1" fmla="val 580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 Box 46">
            <a:extLst>
              <a:ext uri="{FF2B5EF4-FFF2-40B4-BE49-F238E27FC236}">
                <a16:creationId xmlns:a16="http://schemas.microsoft.com/office/drawing/2014/main" id="{20A12A8E-1917-4424-86AE-0F68EC7B9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440" y="4559247"/>
            <a:ext cx="8057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엔드포인트에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 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  <a:p>
            <a:pPr algn="l"/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다음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URI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가 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기재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30" name="Text Box 46">
            <a:extLst>
              <a:ext uri="{FF2B5EF4-FFF2-40B4-BE49-F238E27FC236}">
                <a16:creationId xmlns:a16="http://schemas.microsoft.com/office/drawing/2014/main" id="{6D68803D-93C4-4FDB-B7D0-112490687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15" y="4796448"/>
            <a:ext cx="18195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https://{compute}/v2/{tenant_id}/xxxx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331" name="연결선: 꺾임 330">
            <a:extLst>
              <a:ext uri="{FF2B5EF4-FFF2-40B4-BE49-F238E27FC236}">
                <a16:creationId xmlns:a16="http://schemas.microsoft.com/office/drawing/2014/main" id="{523D0B98-04E5-4C41-9270-AB9763D59B8E}"/>
              </a:ext>
            </a:extLst>
          </p:cNvPr>
          <p:cNvCxnSpPr>
            <a:cxnSpLocks/>
            <a:stCxn id="330" idx="0"/>
            <a:endCxn id="323" idx="2"/>
          </p:cNvCxnSpPr>
          <p:nvPr/>
        </p:nvCxnSpPr>
        <p:spPr>
          <a:xfrm rot="16200000" flipV="1">
            <a:off x="1062656" y="4676514"/>
            <a:ext cx="237749" cy="2119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 Box 46">
            <a:extLst>
              <a:ext uri="{FF2B5EF4-FFF2-40B4-BE49-F238E27FC236}">
                <a16:creationId xmlns:a16="http://schemas.microsoft.com/office/drawing/2014/main" id="{670FB835-6FB6-480A-9676-0BF56398C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195" y="3475101"/>
            <a:ext cx="14059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https://{identity}/v2/tokens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18" name="AutoShape 409">
            <a:extLst>
              <a:ext uri="{FF2B5EF4-FFF2-40B4-BE49-F238E27FC236}">
                <a16:creationId xmlns:a16="http://schemas.microsoft.com/office/drawing/2014/main" id="{02628263-EB87-4A5C-9610-8A47CC052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09" y="3663405"/>
            <a:ext cx="726331" cy="122055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계정패스워드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81287469-5A0B-4B1E-AE3E-933A655EC6E4}"/>
              </a:ext>
            </a:extLst>
          </p:cNvPr>
          <p:cNvSpPr/>
          <p:nvPr/>
        </p:nvSpPr>
        <p:spPr>
          <a:xfrm>
            <a:off x="8376437" y="5919970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비동기 통신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336" name="연결선: 꺾임 335">
            <a:extLst>
              <a:ext uri="{FF2B5EF4-FFF2-40B4-BE49-F238E27FC236}">
                <a16:creationId xmlns:a16="http://schemas.microsoft.com/office/drawing/2014/main" id="{E415466A-F9F2-43D1-8BF4-26A3272584B2}"/>
              </a:ext>
            </a:extLst>
          </p:cNvPr>
          <p:cNvCxnSpPr>
            <a:cxnSpLocks/>
          </p:cNvCxnSpPr>
          <p:nvPr/>
        </p:nvCxnSpPr>
        <p:spPr>
          <a:xfrm rot="10800000">
            <a:off x="8014315" y="6008945"/>
            <a:ext cx="379374" cy="205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A25465BD-8AFC-4FE0-91CF-0AF368116DF9}"/>
              </a:ext>
            </a:extLst>
          </p:cNvPr>
          <p:cNvCxnSpPr>
            <a:stCxn id="221" idx="6"/>
            <a:endCxn id="215" idx="0"/>
          </p:cNvCxnSpPr>
          <p:nvPr/>
        </p:nvCxnSpPr>
        <p:spPr>
          <a:xfrm flipH="1">
            <a:off x="5342912" y="1016555"/>
            <a:ext cx="687915" cy="604322"/>
          </a:xfrm>
          <a:prstGeom prst="bentConnector4">
            <a:avLst>
              <a:gd name="adj1" fmla="val -33231"/>
              <a:gd name="adj2" fmla="val 58205"/>
            </a:avLst>
          </a:prstGeom>
          <a:ln>
            <a:solidFill>
              <a:srgbClr val="20386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B96FD792-1813-4ABD-82E2-296AD8AAC68E}"/>
              </a:ext>
            </a:extLst>
          </p:cNvPr>
          <p:cNvSpPr/>
          <p:nvPr/>
        </p:nvSpPr>
        <p:spPr>
          <a:xfrm>
            <a:off x="241538" y="541258"/>
            <a:ext cx="4806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Client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26" name="사각형: 둥근 모서리 325">
            <a:extLst>
              <a:ext uri="{FF2B5EF4-FFF2-40B4-BE49-F238E27FC236}">
                <a16:creationId xmlns:a16="http://schemas.microsoft.com/office/drawing/2014/main" id="{9B950C71-1703-4CFF-99FF-CEAE186D5AC8}"/>
              </a:ext>
            </a:extLst>
          </p:cNvPr>
          <p:cNvSpPr/>
          <p:nvPr/>
        </p:nvSpPr>
        <p:spPr>
          <a:xfrm>
            <a:off x="1121550" y="3220447"/>
            <a:ext cx="1000735" cy="287425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Spring Cloud</a:t>
            </a:r>
          </a:p>
          <a:p>
            <a:pPr lvl="0" algn="ctr"/>
            <a:r>
              <a:rPr lang="en-US" altLang="ko-KR" sz="8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Security</a:t>
            </a:r>
          </a:p>
        </p:txBody>
      </p:sp>
      <p:pic>
        <p:nvPicPr>
          <p:cNvPr id="328" name="그림 327">
            <a:extLst>
              <a:ext uri="{FF2B5EF4-FFF2-40B4-BE49-F238E27FC236}">
                <a16:creationId xmlns:a16="http://schemas.microsoft.com/office/drawing/2014/main" id="{E6B45C44-27E2-411E-8595-7FC362446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93" y="3290999"/>
            <a:ext cx="164383" cy="116218"/>
          </a:xfrm>
          <a:prstGeom prst="rect">
            <a:avLst/>
          </a:prstGeom>
        </p:spPr>
      </p:pic>
      <p:sp>
        <p:nvSpPr>
          <p:cNvPr id="333" name="AutoShape 93">
            <a:extLst>
              <a:ext uri="{FF2B5EF4-FFF2-40B4-BE49-F238E27FC236}">
                <a16:creationId xmlns:a16="http://schemas.microsoft.com/office/drawing/2014/main" id="{B7336954-8DCB-4612-A896-035000D01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438" y="1590106"/>
            <a:ext cx="140246" cy="13433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rIns="0" anchor="ctr"/>
          <a:lstStyle/>
          <a:p>
            <a:pPr algn="ctr" latinLnBrk="0">
              <a:lnSpc>
                <a:spcPct val="110000"/>
              </a:lnSpc>
              <a:buClr>
                <a:srgbClr val="7685A2"/>
              </a:buClr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rgbClr val="4D4D4D"/>
                </a:solidFill>
                <a:latin typeface="다키 M" pitchFamily="2" charset="-127"/>
                <a:ea typeface="다키 M" pitchFamily="2" charset="-127"/>
              </a:rPr>
              <a:t>Load Balancing </a:t>
            </a:r>
          </a:p>
        </p:txBody>
      </p:sp>
      <p:cxnSp>
        <p:nvCxnSpPr>
          <p:cNvPr id="168" name="연결선: 꺾임 167">
            <a:extLst>
              <a:ext uri="{FF2B5EF4-FFF2-40B4-BE49-F238E27FC236}">
                <a16:creationId xmlns:a16="http://schemas.microsoft.com/office/drawing/2014/main" id="{D1989D14-AAFC-447E-875A-5CF025D1BA6E}"/>
              </a:ext>
            </a:extLst>
          </p:cNvPr>
          <p:cNvCxnSpPr>
            <a:cxnSpLocks/>
            <a:endCxn id="110" idx="1"/>
          </p:cNvCxnSpPr>
          <p:nvPr/>
        </p:nvCxnSpPr>
        <p:spPr>
          <a:xfrm flipV="1">
            <a:off x="2084491" y="2154356"/>
            <a:ext cx="491465" cy="944306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연결선: 꺾임 258">
            <a:extLst>
              <a:ext uri="{FF2B5EF4-FFF2-40B4-BE49-F238E27FC236}">
                <a16:creationId xmlns:a16="http://schemas.microsoft.com/office/drawing/2014/main" id="{932DA06E-E7AE-43E7-9015-D24967089379}"/>
              </a:ext>
            </a:extLst>
          </p:cNvPr>
          <p:cNvCxnSpPr>
            <a:cxnSpLocks/>
            <a:stCxn id="193" idx="3"/>
            <a:endCxn id="333" idx="1"/>
          </p:cNvCxnSpPr>
          <p:nvPr/>
        </p:nvCxnSpPr>
        <p:spPr>
          <a:xfrm flipV="1">
            <a:off x="3858059" y="2261759"/>
            <a:ext cx="376379" cy="12825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4872A905-FD9A-48F0-BA92-2C6CE84035FE}"/>
              </a:ext>
            </a:extLst>
          </p:cNvPr>
          <p:cNvCxnSpPr>
            <a:stCxn id="231" idx="6"/>
            <a:endCxn id="126" idx="3"/>
          </p:cNvCxnSpPr>
          <p:nvPr/>
        </p:nvCxnSpPr>
        <p:spPr>
          <a:xfrm flipH="1" flipV="1">
            <a:off x="3737251" y="2958376"/>
            <a:ext cx="1615025" cy="1140590"/>
          </a:xfrm>
          <a:prstGeom prst="bentConnector3">
            <a:avLst>
              <a:gd name="adj1" fmla="val -141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AutoShape 93">
            <a:extLst>
              <a:ext uri="{FF2B5EF4-FFF2-40B4-BE49-F238E27FC236}">
                <a16:creationId xmlns:a16="http://schemas.microsoft.com/office/drawing/2014/main" id="{4905A378-C6B2-4881-B313-4D5B50BE2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7032" y="3958750"/>
            <a:ext cx="108340" cy="86114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rIns="0" anchor="ctr"/>
          <a:lstStyle/>
          <a:p>
            <a:pPr algn="ctr" latinLnBrk="0">
              <a:lnSpc>
                <a:spcPct val="110000"/>
              </a:lnSpc>
              <a:buClr>
                <a:srgbClr val="7685A2"/>
              </a:buClr>
              <a:buFont typeface="Wingdings" panose="05000000000000000000" pitchFamily="2" charset="2"/>
              <a:buNone/>
            </a:pPr>
            <a:r>
              <a:rPr lang="en-US" altLang="ko-KR" sz="800" dirty="0">
                <a:solidFill>
                  <a:srgbClr val="4D4D4D"/>
                </a:solidFill>
                <a:latin typeface="다키 M" pitchFamily="2" charset="-127"/>
                <a:ea typeface="다키 M" pitchFamily="2" charset="-127"/>
              </a:rPr>
              <a:t>Load Balancing </a:t>
            </a:r>
          </a:p>
        </p:txBody>
      </p:sp>
      <p:sp>
        <p:nvSpPr>
          <p:cNvPr id="337" name="사각형: 둥근 모서리 336">
            <a:extLst>
              <a:ext uri="{FF2B5EF4-FFF2-40B4-BE49-F238E27FC236}">
                <a16:creationId xmlns:a16="http://schemas.microsoft.com/office/drawing/2014/main" id="{1BB745F8-D566-46CD-98A4-446220BFFC20}"/>
              </a:ext>
            </a:extLst>
          </p:cNvPr>
          <p:cNvSpPr/>
          <p:nvPr/>
        </p:nvSpPr>
        <p:spPr>
          <a:xfrm>
            <a:off x="8227691" y="2325458"/>
            <a:ext cx="1239841" cy="1353349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BF93CA4A-076E-4F94-AFE9-717FDAC4DEAC}"/>
              </a:ext>
            </a:extLst>
          </p:cNvPr>
          <p:cNvSpPr/>
          <p:nvPr/>
        </p:nvSpPr>
        <p:spPr>
          <a:xfrm>
            <a:off x="8279002" y="2402888"/>
            <a:ext cx="1102638" cy="149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latin typeface="다키 B" pitchFamily="2" charset="-127"/>
                <a:ea typeface="다키 B" pitchFamily="2" charset="-127"/>
              </a:rPr>
              <a:t>시스템 및 관계기관연계</a:t>
            </a:r>
          </a:p>
        </p:txBody>
      </p:sp>
      <p:sp>
        <p:nvSpPr>
          <p:cNvPr id="339" name="십자형 338">
            <a:extLst>
              <a:ext uri="{FF2B5EF4-FFF2-40B4-BE49-F238E27FC236}">
                <a16:creationId xmlns:a16="http://schemas.microsoft.com/office/drawing/2014/main" id="{61ED34EA-5A7D-4084-9E71-D6B84AAFD2BC}"/>
              </a:ext>
            </a:extLst>
          </p:cNvPr>
          <p:cNvSpPr/>
          <p:nvPr/>
        </p:nvSpPr>
        <p:spPr>
          <a:xfrm>
            <a:off x="8381408" y="2969841"/>
            <a:ext cx="963226" cy="246392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ESB/SOAP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40" name="십자형 339">
            <a:extLst>
              <a:ext uri="{FF2B5EF4-FFF2-40B4-BE49-F238E27FC236}">
                <a16:creationId xmlns:a16="http://schemas.microsoft.com/office/drawing/2014/main" id="{0E1F0D30-866D-418F-AA82-93D73665DF2E}"/>
              </a:ext>
            </a:extLst>
          </p:cNvPr>
          <p:cNvSpPr/>
          <p:nvPr/>
        </p:nvSpPr>
        <p:spPr>
          <a:xfrm>
            <a:off x="8374809" y="2659681"/>
            <a:ext cx="963226" cy="246392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Rest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endParaRPr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(Open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41" name="십자형 340">
            <a:extLst>
              <a:ext uri="{FF2B5EF4-FFF2-40B4-BE49-F238E27FC236}">
                <a16:creationId xmlns:a16="http://schemas.microsoft.com/office/drawing/2014/main" id="{D71B5A59-C904-4B32-A088-6727A3A4EE84}"/>
              </a:ext>
            </a:extLst>
          </p:cNvPr>
          <p:cNvSpPr/>
          <p:nvPr/>
        </p:nvSpPr>
        <p:spPr>
          <a:xfrm>
            <a:off x="8388318" y="3286454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Screen Scraping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6ECC41BF-3198-4051-9A9E-3E69CEF83ED3}"/>
              </a:ext>
            </a:extLst>
          </p:cNvPr>
          <p:cNvCxnSpPr>
            <a:stCxn id="117" idx="2"/>
            <a:endCxn id="337" idx="0"/>
          </p:cNvCxnSpPr>
          <p:nvPr/>
        </p:nvCxnSpPr>
        <p:spPr>
          <a:xfrm rot="16200000" flipH="1">
            <a:off x="8731649" y="2209495"/>
            <a:ext cx="227948" cy="3978"/>
          </a:xfrm>
          <a:prstGeom prst="bentConnector3">
            <a:avLst/>
          </a:prstGeom>
          <a:ln w="28575">
            <a:solidFill>
              <a:srgbClr val="2038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1B51DF4-B99C-4589-9FF4-110D14FD36AB}"/>
              </a:ext>
            </a:extLst>
          </p:cNvPr>
          <p:cNvCxnSpPr>
            <a:stCxn id="337" idx="2"/>
            <a:endCxn id="121" idx="0"/>
          </p:cNvCxnSpPr>
          <p:nvPr/>
        </p:nvCxnSpPr>
        <p:spPr>
          <a:xfrm rot="5400000">
            <a:off x="8733909" y="3791996"/>
            <a:ext cx="226892" cy="515"/>
          </a:xfrm>
          <a:prstGeom prst="bentConnector3">
            <a:avLst/>
          </a:prstGeom>
          <a:ln w="28575">
            <a:solidFill>
              <a:srgbClr val="2038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사각형: 둥근 모서리 341">
            <a:extLst>
              <a:ext uri="{FF2B5EF4-FFF2-40B4-BE49-F238E27FC236}">
                <a16:creationId xmlns:a16="http://schemas.microsoft.com/office/drawing/2014/main" id="{921EDE17-C5E3-494B-B8A6-A02AA57F4EC4}"/>
              </a:ext>
            </a:extLst>
          </p:cNvPr>
          <p:cNvSpPr/>
          <p:nvPr/>
        </p:nvSpPr>
        <p:spPr>
          <a:xfrm>
            <a:off x="4174316" y="3143168"/>
            <a:ext cx="3444168" cy="451839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43" name="그림 342">
            <a:extLst>
              <a:ext uri="{FF2B5EF4-FFF2-40B4-BE49-F238E27FC236}">
                <a16:creationId xmlns:a16="http://schemas.microsoft.com/office/drawing/2014/main" id="{1525DFFA-A32F-4640-884C-B7D70F9132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776" y="3166954"/>
            <a:ext cx="355086" cy="210090"/>
          </a:xfrm>
          <a:prstGeom prst="rect">
            <a:avLst/>
          </a:prstGeom>
        </p:spPr>
      </p:pic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E1BBF817-DFBB-4035-BFA2-B9A01BBE2656}"/>
              </a:ext>
            </a:extLst>
          </p:cNvPr>
          <p:cNvSpPr/>
          <p:nvPr/>
        </p:nvSpPr>
        <p:spPr>
          <a:xfrm>
            <a:off x="4286378" y="3168722"/>
            <a:ext cx="11352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err="1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DataBase</a:t>
            </a:r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 Server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345" name="사각형: 둥근 모서리 344">
            <a:extLst>
              <a:ext uri="{FF2B5EF4-FFF2-40B4-BE49-F238E27FC236}">
                <a16:creationId xmlns:a16="http://schemas.microsoft.com/office/drawing/2014/main" id="{6CFE6B66-CC75-4226-BBDE-C1A36337998E}"/>
              </a:ext>
            </a:extLst>
          </p:cNvPr>
          <p:cNvSpPr/>
          <p:nvPr/>
        </p:nvSpPr>
        <p:spPr>
          <a:xfrm>
            <a:off x="5383124" y="3198243"/>
            <a:ext cx="2164685" cy="338318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46" name="사각형: 둥근 모서리 345">
            <a:extLst>
              <a:ext uri="{FF2B5EF4-FFF2-40B4-BE49-F238E27FC236}">
                <a16:creationId xmlns:a16="http://schemas.microsoft.com/office/drawing/2014/main" id="{AB079559-1EC0-4390-A485-C02A4A2F71FA}"/>
              </a:ext>
            </a:extLst>
          </p:cNvPr>
          <p:cNvSpPr/>
          <p:nvPr/>
        </p:nvSpPr>
        <p:spPr>
          <a:xfrm>
            <a:off x="5507324" y="3302825"/>
            <a:ext cx="945505" cy="125320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Master</a:t>
            </a:r>
          </a:p>
        </p:txBody>
      </p:sp>
      <p:sp>
        <p:nvSpPr>
          <p:cNvPr id="347" name="사각형: 둥근 모서리 346">
            <a:extLst>
              <a:ext uri="{FF2B5EF4-FFF2-40B4-BE49-F238E27FC236}">
                <a16:creationId xmlns:a16="http://schemas.microsoft.com/office/drawing/2014/main" id="{0B5DA5F2-D9D4-4423-B68D-AB4B2DAA0219}"/>
              </a:ext>
            </a:extLst>
          </p:cNvPr>
          <p:cNvSpPr/>
          <p:nvPr/>
        </p:nvSpPr>
        <p:spPr>
          <a:xfrm>
            <a:off x="6535195" y="3292507"/>
            <a:ext cx="903419" cy="134718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Slave</a:t>
            </a:r>
          </a:p>
        </p:txBody>
      </p:sp>
      <p:cxnSp>
        <p:nvCxnSpPr>
          <p:cNvPr id="348" name="연결선: 꺾임 347">
            <a:extLst>
              <a:ext uri="{FF2B5EF4-FFF2-40B4-BE49-F238E27FC236}">
                <a16:creationId xmlns:a16="http://schemas.microsoft.com/office/drawing/2014/main" id="{84570DA2-0CB9-4DE9-9372-E30AFF4DFB5B}"/>
              </a:ext>
            </a:extLst>
          </p:cNvPr>
          <p:cNvCxnSpPr>
            <a:cxnSpLocks/>
            <a:stCxn id="299" idx="3"/>
            <a:endCxn id="345" idx="3"/>
          </p:cNvCxnSpPr>
          <p:nvPr/>
        </p:nvCxnSpPr>
        <p:spPr>
          <a:xfrm>
            <a:off x="7311741" y="2585669"/>
            <a:ext cx="236068" cy="781733"/>
          </a:xfrm>
          <a:prstGeom prst="bentConnector3">
            <a:avLst>
              <a:gd name="adj1" fmla="val 19683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연결선: 꺾임 348">
            <a:extLst>
              <a:ext uri="{FF2B5EF4-FFF2-40B4-BE49-F238E27FC236}">
                <a16:creationId xmlns:a16="http://schemas.microsoft.com/office/drawing/2014/main" id="{71628FC1-E750-4080-8D89-7CD7F77EFA51}"/>
              </a:ext>
            </a:extLst>
          </p:cNvPr>
          <p:cNvCxnSpPr>
            <a:cxnSpLocks/>
            <a:stCxn id="322" idx="3"/>
            <a:endCxn id="345" idx="3"/>
          </p:cNvCxnSpPr>
          <p:nvPr/>
        </p:nvCxnSpPr>
        <p:spPr>
          <a:xfrm flipV="1">
            <a:off x="7301585" y="3367402"/>
            <a:ext cx="246224" cy="1246275"/>
          </a:xfrm>
          <a:prstGeom prst="bentConnector3">
            <a:avLst>
              <a:gd name="adj1" fmla="val 19634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AutoShape 48">
            <a:extLst>
              <a:ext uri="{FF2B5EF4-FFF2-40B4-BE49-F238E27FC236}">
                <a16:creationId xmlns:a16="http://schemas.microsoft.com/office/drawing/2014/main" id="{98B44BDB-4397-4D21-9F74-DD4E44CAA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764" y="6007964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Grafana ???</a:t>
            </a:r>
          </a:p>
        </p:txBody>
      </p:sp>
      <p:sp>
        <p:nvSpPr>
          <p:cNvPr id="351" name="AutoShape 48">
            <a:extLst>
              <a:ext uri="{FF2B5EF4-FFF2-40B4-BE49-F238E27FC236}">
                <a16:creationId xmlns:a16="http://schemas.microsoft.com/office/drawing/2014/main" id="{05EC7FD0-815F-457A-8533-B8C80FB0E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781" y="6007869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 err="1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InfluxDB</a:t>
            </a:r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 ??</a:t>
            </a:r>
          </a:p>
        </p:txBody>
      </p:sp>
      <p:pic>
        <p:nvPicPr>
          <p:cNvPr id="242" name="그림 241">
            <a:extLst>
              <a:ext uri="{FF2B5EF4-FFF2-40B4-BE49-F238E27FC236}">
                <a16:creationId xmlns:a16="http://schemas.microsoft.com/office/drawing/2014/main" id="{234D89D8-CA9D-4051-B246-9E5A1F6A4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091" y="6135500"/>
            <a:ext cx="222600" cy="222600"/>
          </a:xfrm>
          <a:prstGeom prst="rect">
            <a:avLst/>
          </a:prstGeom>
        </p:spPr>
      </p:pic>
      <p:pic>
        <p:nvPicPr>
          <p:cNvPr id="317" name="그림 316">
            <a:extLst>
              <a:ext uri="{FF2B5EF4-FFF2-40B4-BE49-F238E27FC236}">
                <a16:creationId xmlns:a16="http://schemas.microsoft.com/office/drawing/2014/main" id="{2877E354-2D4F-498D-8198-B657D130B6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22" y="6163965"/>
            <a:ext cx="144299" cy="144299"/>
          </a:xfrm>
          <a:prstGeom prst="rect">
            <a:avLst/>
          </a:prstGeom>
        </p:spPr>
      </p:pic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E4A93001-1930-43D1-8260-489C86A09598}"/>
              </a:ext>
            </a:extLst>
          </p:cNvPr>
          <p:cNvSpPr/>
          <p:nvPr/>
        </p:nvSpPr>
        <p:spPr>
          <a:xfrm>
            <a:off x="8180977" y="6131374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Boot</a:t>
            </a:r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55CFC26A-E574-4CFC-8907-3DE0472E2554}"/>
              </a:ext>
            </a:extLst>
          </p:cNvPr>
          <p:cNvSpPr/>
          <p:nvPr/>
        </p:nvSpPr>
        <p:spPr>
          <a:xfrm>
            <a:off x="9041780" y="6131431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err="1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UnderTow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55" name="Text Box 236">
            <a:extLst>
              <a:ext uri="{FF2B5EF4-FFF2-40B4-BE49-F238E27FC236}">
                <a16:creationId xmlns:a16="http://schemas.microsoft.com/office/drawing/2014/main" id="{2A9374B6-1B00-42EE-84A9-EA96156EB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393" y="5326561"/>
            <a:ext cx="561975" cy="1046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ko-KR" altLang="en-US" sz="800" b="1" dirty="0">
                <a:latin typeface="다키 B" pitchFamily="2" charset="-127"/>
                <a:ea typeface="다키 B" pitchFamily="2" charset="-127"/>
              </a:rPr>
              <a:t>범례</a:t>
            </a:r>
          </a:p>
        </p:txBody>
      </p:sp>
      <p:sp>
        <p:nvSpPr>
          <p:cNvPr id="353" name="사각형: 둥근 모서리 352">
            <a:extLst>
              <a:ext uri="{FF2B5EF4-FFF2-40B4-BE49-F238E27FC236}">
                <a16:creationId xmlns:a16="http://schemas.microsoft.com/office/drawing/2014/main" id="{42064E2F-0F14-41C7-ADDE-4AAF52C42561}"/>
              </a:ext>
            </a:extLst>
          </p:cNvPr>
          <p:cNvSpPr/>
          <p:nvPr/>
        </p:nvSpPr>
        <p:spPr>
          <a:xfrm>
            <a:off x="2509464" y="1073308"/>
            <a:ext cx="1295814" cy="352598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54" name="그림 353">
            <a:extLst>
              <a:ext uri="{FF2B5EF4-FFF2-40B4-BE49-F238E27FC236}">
                <a16:creationId xmlns:a16="http://schemas.microsoft.com/office/drawing/2014/main" id="{7ADC2674-4306-4470-AFBB-D7179401C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174" y="1072902"/>
            <a:ext cx="354076" cy="209492"/>
          </a:xfrm>
          <a:prstGeom prst="rect">
            <a:avLst/>
          </a:prstGeom>
        </p:spPr>
      </p:pic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DB41FCAC-5B91-4311-9FD9-403C4BB89AEF}"/>
              </a:ext>
            </a:extLst>
          </p:cNvPr>
          <p:cNvSpPr/>
          <p:nvPr/>
        </p:nvSpPr>
        <p:spPr>
          <a:xfrm>
            <a:off x="2662880" y="1053052"/>
            <a:ext cx="9252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Nginx Server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357" name="AutoShape 48">
            <a:extLst>
              <a:ext uri="{FF2B5EF4-FFF2-40B4-BE49-F238E27FC236}">
                <a16:creationId xmlns:a16="http://schemas.microsoft.com/office/drawing/2014/main" id="{AE0A8A04-BDCF-4210-AD03-BA8B14319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592" y="847584"/>
            <a:ext cx="794156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Cache ??</a:t>
            </a:r>
          </a:p>
        </p:txBody>
      </p:sp>
      <p:sp>
        <p:nvSpPr>
          <p:cNvPr id="358" name="사각형: 둥근 대각선 방향 모서리 357">
            <a:extLst>
              <a:ext uri="{FF2B5EF4-FFF2-40B4-BE49-F238E27FC236}">
                <a16:creationId xmlns:a16="http://schemas.microsoft.com/office/drawing/2014/main" id="{F5BFFA3C-1406-47FF-921D-73C7CD4484FA}"/>
              </a:ext>
            </a:extLst>
          </p:cNvPr>
          <p:cNvSpPr/>
          <p:nvPr/>
        </p:nvSpPr>
        <p:spPr>
          <a:xfrm>
            <a:off x="2445709" y="5029311"/>
            <a:ext cx="3398670" cy="142815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Docker Swarm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005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1BFAC-B9D8-4CFE-B565-4ABF1065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아키텍처 패턴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09A80C-87D1-4408-A971-37F83E2F8B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51157-3FC7-47B7-A138-266CB3D40BC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301EBE-B830-44E9-ACE7-5B79C89F56B9}"/>
              </a:ext>
            </a:extLst>
          </p:cNvPr>
          <p:cNvSpPr/>
          <p:nvPr/>
        </p:nvSpPr>
        <p:spPr>
          <a:xfrm>
            <a:off x="660438" y="889535"/>
            <a:ext cx="1979246" cy="22534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>
                <a:solidFill>
                  <a:prstClr val="white"/>
                </a:solidFill>
                <a:latin typeface="다키 M" pitchFamily="2" charset="-127"/>
                <a:ea typeface="다키 M" pitchFamily="2" charset="-127"/>
              </a:rPr>
              <a:t>개발패턴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B2B5DD-D05A-45FE-9D67-A5A4DF1D9317}"/>
              </a:ext>
            </a:extLst>
          </p:cNvPr>
          <p:cNvSpPr/>
          <p:nvPr/>
        </p:nvSpPr>
        <p:spPr>
          <a:xfrm>
            <a:off x="2814165" y="889535"/>
            <a:ext cx="1979247" cy="22534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>
                <a:solidFill>
                  <a:prstClr val="white"/>
                </a:solidFill>
                <a:latin typeface="다키 M" pitchFamily="2" charset="-127"/>
                <a:ea typeface="다키 M" pitchFamily="2" charset="-127"/>
              </a:rPr>
              <a:t>라우팅 패턴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A88215-CA94-4BE4-BC0C-14D9198B2CE6}"/>
              </a:ext>
            </a:extLst>
          </p:cNvPr>
          <p:cNvSpPr/>
          <p:nvPr/>
        </p:nvSpPr>
        <p:spPr>
          <a:xfrm>
            <a:off x="5012977" y="889535"/>
            <a:ext cx="1979247" cy="22534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</a:rPr>
              <a:t>클라인트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</a:rPr>
              <a:t>회복성패턴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F33919-47D9-445D-BF42-0302D4F8EE1C}"/>
              </a:ext>
            </a:extLst>
          </p:cNvPr>
          <p:cNvSpPr/>
          <p:nvPr/>
        </p:nvSpPr>
        <p:spPr>
          <a:xfrm>
            <a:off x="7226320" y="889535"/>
            <a:ext cx="1979246" cy="22534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 err="1">
                <a:solidFill>
                  <a:prstClr val="white"/>
                </a:solidFill>
                <a:latin typeface="다키 M" pitchFamily="2" charset="-127"/>
                <a:ea typeface="다키 M" pitchFamily="2" charset="-127"/>
              </a:rPr>
              <a:t>빌드배포</a:t>
            </a:r>
            <a:r>
              <a:rPr lang="ko-KR" altLang="en-US" sz="1200" b="1" kern="0" dirty="0">
                <a:solidFill>
                  <a:prstClr val="white"/>
                </a:solidFill>
                <a:latin typeface="다키 M" pitchFamily="2" charset="-127"/>
                <a:ea typeface="다키 M" pitchFamily="2" charset="-127"/>
              </a:rPr>
              <a:t> 패턴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97415-33B2-4C8D-A6D3-562A56259B4D}"/>
              </a:ext>
            </a:extLst>
          </p:cNvPr>
          <p:cNvSpPr/>
          <p:nvPr/>
        </p:nvSpPr>
        <p:spPr>
          <a:xfrm>
            <a:off x="660438" y="3753717"/>
            <a:ext cx="1979246" cy="22534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>
                <a:solidFill>
                  <a:prstClr val="white"/>
                </a:solidFill>
                <a:latin typeface="다키 M" pitchFamily="2" charset="-127"/>
                <a:ea typeface="다키 M" pitchFamily="2" charset="-127"/>
              </a:rPr>
              <a:t>로깅 패턴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19127B-BD62-4A4B-A3CA-3B133CD65298}"/>
              </a:ext>
            </a:extLst>
          </p:cNvPr>
          <p:cNvSpPr/>
          <p:nvPr/>
        </p:nvSpPr>
        <p:spPr>
          <a:xfrm>
            <a:off x="2833372" y="3753717"/>
            <a:ext cx="1979246" cy="22534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>
                <a:solidFill>
                  <a:prstClr val="white"/>
                </a:solidFill>
                <a:latin typeface="다키 M" pitchFamily="2" charset="-127"/>
                <a:ea typeface="다키 M" pitchFamily="2" charset="-127"/>
              </a:rPr>
              <a:t>보안 패턴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10" name="Rectangle 143">
            <a:extLst>
              <a:ext uri="{FF2B5EF4-FFF2-40B4-BE49-F238E27FC236}">
                <a16:creationId xmlns:a16="http://schemas.microsoft.com/office/drawing/2014/main" id="{9E369512-B9DA-4F6E-9ABF-7844DB57C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38" y="1209822"/>
            <a:ext cx="1979246" cy="2219178"/>
          </a:xfrm>
          <a:prstGeom prst="rect">
            <a:avLst/>
          </a:prstGeom>
          <a:gradFill rotWithShape="0">
            <a:gsLst>
              <a:gs pos="0">
                <a:srgbClr val="CCD6E2"/>
              </a:gs>
              <a:gs pos="100000">
                <a:srgbClr val="CCD6E2">
                  <a:gamma/>
                  <a:tint val="27451"/>
                  <a:invGamma/>
                </a:srgbClr>
              </a:gs>
            </a:gsLst>
            <a:lin ang="5400000" scaled="1"/>
          </a:gradFill>
          <a:ln>
            <a:noFill/>
          </a:ln>
          <a:effectLst>
            <a:prstShdw prst="shdw17" dist="17961" dir="2700000">
              <a:srgbClr val="CCD6E2"/>
            </a:prst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7D95C5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8000"/>
          <a:lstStyle/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핵심 마이크로 서비스패턴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 부트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구성관리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 클라우드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컨피그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비동기 메시징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 클라우드 스트림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ko-KR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1" name="Rectangle 143">
            <a:extLst>
              <a:ext uri="{FF2B5EF4-FFF2-40B4-BE49-F238E27FC236}">
                <a16:creationId xmlns:a16="http://schemas.microsoft.com/office/drawing/2014/main" id="{D449D74E-7747-42B9-882E-32EEC5D3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165" y="1202348"/>
            <a:ext cx="1979246" cy="2219178"/>
          </a:xfrm>
          <a:prstGeom prst="rect">
            <a:avLst/>
          </a:prstGeom>
          <a:gradFill rotWithShape="0">
            <a:gsLst>
              <a:gs pos="0">
                <a:srgbClr val="CCD6E2"/>
              </a:gs>
              <a:gs pos="100000">
                <a:srgbClr val="CCD6E2">
                  <a:gamma/>
                  <a:tint val="27451"/>
                  <a:invGamma/>
                </a:srgbClr>
              </a:gs>
            </a:gsLst>
            <a:lin ang="5400000" scaled="1"/>
          </a:gradFill>
          <a:ln>
            <a:noFill/>
          </a:ln>
          <a:effectLst>
            <a:prstShdw prst="shdw17" dist="17961" dir="2700000">
              <a:srgbClr val="CCD6E2"/>
            </a:prst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7D95C5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8000"/>
          <a:lstStyle/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서비스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디스커버리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 패턴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스프링클라우드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넷플릭스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유레카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주키퍼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서비스 라우팅 패턴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스프링클라우드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넷플릭스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주울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스프링클라우드게이트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2" name="Rectangle 143">
            <a:extLst>
              <a:ext uri="{FF2B5EF4-FFF2-40B4-BE49-F238E27FC236}">
                <a16:creationId xmlns:a16="http://schemas.microsoft.com/office/drawing/2014/main" id="{3A1A8CBE-C41A-44A8-AF1D-4C004B154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2978" y="1209822"/>
            <a:ext cx="1979246" cy="2219178"/>
          </a:xfrm>
          <a:prstGeom prst="rect">
            <a:avLst/>
          </a:prstGeom>
          <a:gradFill rotWithShape="0">
            <a:gsLst>
              <a:gs pos="0">
                <a:srgbClr val="CCD6E2"/>
              </a:gs>
              <a:gs pos="100000">
                <a:srgbClr val="CCD6E2">
                  <a:gamma/>
                  <a:tint val="27451"/>
                  <a:invGamma/>
                </a:srgbClr>
              </a:gs>
            </a:gsLst>
            <a:lin ang="5400000" scaled="1"/>
          </a:gradFill>
          <a:ln>
            <a:noFill/>
          </a:ln>
          <a:effectLst>
            <a:prstShdw prst="shdw17" dist="17961" dir="2700000">
              <a:srgbClr val="CCD6E2"/>
            </a:prst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7D95C5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8000"/>
          <a:lstStyle/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클라이언트 측 부하분산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스프링클라우드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넷플릭스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리본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회로 차단기 패턴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스프링클라우드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넷플릭스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히스트릭스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폴백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 패턴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벌크헤드패턴</a:t>
            </a:r>
            <a:endParaRPr lang="ko-KR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3" name="Rectangle 143">
            <a:extLst>
              <a:ext uri="{FF2B5EF4-FFF2-40B4-BE49-F238E27FC236}">
                <a16:creationId xmlns:a16="http://schemas.microsoft.com/office/drawing/2014/main" id="{F5A5CA3A-F51A-4AA5-A9D6-F1313CD0E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20" y="1209822"/>
            <a:ext cx="1979246" cy="2219178"/>
          </a:xfrm>
          <a:prstGeom prst="rect">
            <a:avLst/>
          </a:prstGeom>
          <a:gradFill rotWithShape="0">
            <a:gsLst>
              <a:gs pos="0">
                <a:srgbClr val="CCD6E2"/>
              </a:gs>
              <a:gs pos="100000">
                <a:srgbClr val="CCD6E2">
                  <a:gamma/>
                  <a:tint val="27451"/>
                  <a:invGamma/>
                </a:srgbClr>
              </a:gs>
            </a:gsLst>
            <a:lin ang="5400000" scaled="1"/>
          </a:gradFill>
          <a:ln>
            <a:noFill/>
          </a:ln>
          <a:effectLst>
            <a:prstShdw prst="shdw17" dist="17961" dir="2700000">
              <a:srgbClr val="CCD6E2"/>
            </a:prst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7D95C5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8000"/>
          <a:lstStyle/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지속적통합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(Travis CI -Jenkins)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코드형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인프라스트럭처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(lac)</a:t>
            </a: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도커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불변서버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도커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피닉스 서버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(Travis CI- Jenkins /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도커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4" name="Rectangle 143">
            <a:extLst>
              <a:ext uri="{FF2B5EF4-FFF2-40B4-BE49-F238E27FC236}">
                <a16:creationId xmlns:a16="http://schemas.microsoft.com/office/drawing/2014/main" id="{CC7F47F8-D480-4F28-84A6-E7B62832D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38" y="4053608"/>
            <a:ext cx="1979246" cy="2219178"/>
          </a:xfrm>
          <a:prstGeom prst="rect">
            <a:avLst/>
          </a:prstGeom>
          <a:gradFill rotWithShape="0">
            <a:gsLst>
              <a:gs pos="0">
                <a:srgbClr val="CCD6E2"/>
              </a:gs>
              <a:gs pos="100000">
                <a:srgbClr val="CCD6E2">
                  <a:gamma/>
                  <a:tint val="27451"/>
                  <a:invGamma/>
                </a:srgbClr>
              </a:gs>
            </a:gsLst>
            <a:lin ang="5400000" scaled="1"/>
          </a:gradFill>
          <a:ln>
            <a:noFill/>
          </a:ln>
          <a:effectLst>
            <a:prstShdw prst="shdw17" dist="17961" dir="2700000">
              <a:srgbClr val="CCD6E2"/>
            </a:prst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7D95C5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8000"/>
          <a:lstStyle/>
          <a:p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로깅상관관계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스프링클라우드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슬루스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로그수집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스프링클라우드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슬루스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-</a:t>
            </a:r>
          </a:p>
          <a:p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페이퍼트레일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 포함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마이크로 서비스 추적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스프핑클라우드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슬루스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집킨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5" name="Rectangle 143">
            <a:extLst>
              <a:ext uri="{FF2B5EF4-FFF2-40B4-BE49-F238E27FC236}">
                <a16:creationId xmlns:a16="http://schemas.microsoft.com/office/drawing/2014/main" id="{47B9458A-3D4B-4633-9A21-F8D347BA1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372" y="4053608"/>
            <a:ext cx="1979246" cy="2219178"/>
          </a:xfrm>
          <a:prstGeom prst="rect">
            <a:avLst/>
          </a:prstGeom>
          <a:gradFill rotWithShape="0">
            <a:gsLst>
              <a:gs pos="0">
                <a:srgbClr val="CCD6E2"/>
              </a:gs>
              <a:gs pos="100000">
                <a:srgbClr val="CCD6E2">
                  <a:gamma/>
                  <a:tint val="27451"/>
                  <a:invGamma/>
                </a:srgbClr>
              </a:gs>
            </a:gsLst>
            <a:lin ang="5400000" scaled="1"/>
          </a:gradFill>
          <a:ln>
            <a:noFill/>
          </a:ln>
          <a:effectLst>
            <a:prstShdw prst="shdw17" dist="17961" dir="2700000">
              <a:srgbClr val="CCD6E2"/>
            </a:prst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7D95C5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8000"/>
          <a:lstStyle/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인가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 클라우드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시큐리티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/OAuth2)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인증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 클라우드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시큐리티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OAuth2)</a:t>
            </a:r>
          </a:p>
          <a:p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자격증명 관리와 전파</a:t>
            </a:r>
            <a:endParaRPr lang="en-US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스프링 클라우드 </a:t>
            </a:r>
            <a:r>
              <a:rPr lang="ko-KR" altLang="en-US" sz="1100" dirty="0" err="1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시큐리티</a:t>
            </a:r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/</a:t>
            </a:r>
          </a:p>
          <a:p>
            <a:r>
              <a:rPr lang="en-US" altLang="ko-KR" sz="1100" dirty="0">
                <a:solidFill>
                  <a:srgbClr val="006699"/>
                </a:solidFill>
                <a:latin typeface="다키 L" pitchFamily="2" charset="-127"/>
                <a:ea typeface="다키 L" pitchFamily="2" charset="-127"/>
              </a:rPr>
              <a:t>OAuth2/JWT)</a:t>
            </a:r>
            <a:endParaRPr lang="ko-KR" altLang="ko-KR" sz="1100" dirty="0">
              <a:solidFill>
                <a:srgbClr val="006699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B426DD-A6F6-4D45-8C0E-FD951B921BE5}"/>
              </a:ext>
            </a:extLst>
          </p:cNvPr>
          <p:cNvSpPr/>
          <p:nvPr/>
        </p:nvSpPr>
        <p:spPr>
          <a:xfrm>
            <a:off x="4967891" y="3866387"/>
            <a:ext cx="42776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 dirty="0" err="1">
                <a:solidFill>
                  <a:srgbClr val="5F6368"/>
                </a:solidFill>
                <a:latin typeface="다키 M" pitchFamily="2" charset="-127"/>
                <a:ea typeface="다키 M" pitchFamily="2" charset="-127"/>
              </a:rPr>
              <a:t>페이퍼트레일</a:t>
            </a:r>
            <a:r>
              <a:rPr lang="ko-KR" altLang="en-US" sz="1000" dirty="0" err="1">
                <a:solidFill>
                  <a:srgbClr val="4D5156"/>
                </a:solidFill>
                <a:latin typeface="다키 M" pitchFamily="2" charset="-127"/>
                <a:ea typeface="다키 M" pitchFamily="2" charset="-127"/>
              </a:rPr>
              <a:t>은</a:t>
            </a:r>
            <a:r>
              <a:rPr lang="ko-KR" altLang="en-US" sz="1000" dirty="0">
                <a:solidFill>
                  <a:srgbClr val="4D5156"/>
                </a:solidFill>
                <a:latin typeface="다키 M" pitchFamily="2" charset="-127"/>
                <a:ea typeface="다키 M" pitchFamily="2" charset="-127"/>
              </a:rPr>
              <a:t> 여러 </a:t>
            </a:r>
            <a:r>
              <a:rPr lang="ko-KR" altLang="en-US" sz="1000" dirty="0" err="1">
                <a:solidFill>
                  <a:srgbClr val="4D5156"/>
                </a:solidFill>
                <a:latin typeface="다키 M" pitchFamily="2" charset="-127"/>
                <a:ea typeface="다키 M" pitchFamily="2" charset="-127"/>
              </a:rPr>
              <a:t>마이크로서비스의</a:t>
            </a:r>
            <a:r>
              <a:rPr lang="ko-KR" altLang="en-US" sz="1000" dirty="0">
                <a:solidFill>
                  <a:srgbClr val="4D5156"/>
                </a:solidFill>
                <a:latin typeface="다키 M" pitchFamily="2" charset="-127"/>
                <a:ea typeface="다키 M" pitchFamily="2" charset="-127"/>
              </a:rPr>
              <a:t> 로그를 실시간으로 질의 가능한 데이터베이스로 수집하는 클라우드 기반 로깅 플랫폼</a:t>
            </a:r>
            <a:endParaRPr lang="ko-KR" altLang="en-US" sz="1000" dirty="0">
              <a:latin typeface="다키 M" pitchFamily="2" charset="-127"/>
              <a:ea typeface="다키 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1265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F06D4C9-F079-4113-829F-ACFC9A7A2AA1}"/>
              </a:ext>
            </a:extLst>
          </p:cNvPr>
          <p:cNvSpPr/>
          <p:nvPr/>
        </p:nvSpPr>
        <p:spPr>
          <a:xfrm>
            <a:off x="670457" y="725009"/>
            <a:ext cx="7440562" cy="4465037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B234C142-6D3F-4201-9FEC-F61F2B6CA4E2}"/>
              </a:ext>
            </a:extLst>
          </p:cNvPr>
          <p:cNvSpPr/>
          <p:nvPr/>
        </p:nvSpPr>
        <p:spPr>
          <a:xfrm>
            <a:off x="2904506" y="2680845"/>
            <a:ext cx="1100287" cy="10049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36" name="그림 235">
            <a:extLst>
              <a:ext uri="{FF2B5EF4-FFF2-40B4-BE49-F238E27FC236}">
                <a16:creationId xmlns:a16="http://schemas.microsoft.com/office/drawing/2014/main" id="{A4AC65BC-C931-4597-BC70-12064DAE2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791" y="2678527"/>
            <a:ext cx="355086" cy="198081"/>
          </a:xfrm>
          <a:prstGeom prst="rect">
            <a:avLst/>
          </a:prstGeom>
        </p:spPr>
      </p:pic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3B20B06F-EE16-438A-B580-C57D8EA2ED74}"/>
              </a:ext>
            </a:extLst>
          </p:cNvPr>
          <p:cNvSpPr/>
          <p:nvPr/>
        </p:nvSpPr>
        <p:spPr>
          <a:xfrm>
            <a:off x="3128543" y="2664842"/>
            <a:ext cx="8442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[Ingress]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16FED6-BD1D-4EA0-8EC5-9C42937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3" y="11326"/>
            <a:ext cx="7839641" cy="499721"/>
          </a:xfrm>
        </p:spPr>
        <p:txBody>
          <a:bodyPr/>
          <a:lstStyle/>
          <a:p>
            <a:r>
              <a:rPr lang="ko-KR" altLang="en-US" dirty="0"/>
              <a:t>소프트웨어 아키텍처 구성도 </a:t>
            </a:r>
            <a:r>
              <a:rPr lang="en-US" altLang="ko-KR" dirty="0"/>
              <a:t>- </a:t>
            </a:r>
            <a:r>
              <a:rPr lang="ko-KR" altLang="en-US" dirty="0" err="1"/>
              <a:t>쿠버네티스</a:t>
            </a:r>
            <a:endParaRPr lang="ko-KR" altLang="en-US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CC00ECF-F038-4AE5-8286-8A5AF18E1F3D}"/>
              </a:ext>
            </a:extLst>
          </p:cNvPr>
          <p:cNvSpPr/>
          <p:nvPr/>
        </p:nvSpPr>
        <p:spPr>
          <a:xfrm>
            <a:off x="147052" y="5302423"/>
            <a:ext cx="3358227" cy="1086671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9F4FB0-8E08-4ABB-8557-B516E056CBD5}"/>
              </a:ext>
            </a:extLst>
          </p:cNvPr>
          <p:cNvSpPr/>
          <p:nvPr/>
        </p:nvSpPr>
        <p:spPr>
          <a:xfrm>
            <a:off x="2909223" y="1017288"/>
            <a:ext cx="1093311" cy="14909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06D9C29-405C-424A-BE29-952881664C68}"/>
              </a:ext>
            </a:extLst>
          </p:cNvPr>
          <p:cNvSpPr/>
          <p:nvPr/>
        </p:nvSpPr>
        <p:spPr>
          <a:xfrm>
            <a:off x="8653946" y="1880878"/>
            <a:ext cx="940074" cy="179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다키 B" pitchFamily="2" charset="-127"/>
                <a:ea typeface="다키 B" pitchFamily="2" charset="-127"/>
              </a:rPr>
              <a:t> </a:t>
            </a:r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I/F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F5D8699-8627-4903-B742-7AF3E2C369DA}"/>
              </a:ext>
            </a:extLst>
          </p:cNvPr>
          <p:cNvSpPr/>
          <p:nvPr/>
        </p:nvSpPr>
        <p:spPr>
          <a:xfrm>
            <a:off x="8637690" y="4079467"/>
            <a:ext cx="976562" cy="183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다키 B" pitchFamily="2" charset="-127"/>
                <a:ea typeface="다키 B" pitchFamily="2" charset="-127"/>
              </a:rPr>
              <a:t>관계기관 </a:t>
            </a:r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I/F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36532A36-7940-4DDF-8DCD-3D47654A8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35" y="5773075"/>
            <a:ext cx="901055" cy="368613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3B253DA9-FF6A-447B-AD6C-C7A945AA8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062" y="5747689"/>
            <a:ext cx="416988" cy="416988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130FFCB1-F301-474D-98ED-6D87FBF640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85" y="5407406"/>
            <a:ext cx="451246" cy="428159"/>
          </a:xfrm>
          <a:prstGeom prst="rect">
            <a:avLst/>
          </a:prstGeom>
        </p:spPr>
      </p:pic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C36DB136-D3BD-4759-9307-BA71010B6BE4}"/>
              </a:ext>
            </a:extLst>
          </p:cNvPr>
          <p:cNvCxnSpPr>
            <a:stCxn id="61" idx="3"/>
            <a:endCxn id="62" idx="1"/>
          </p:cNvCxnSpPr>
          <p:nvPr/>
        </p:nvCxnSpPr>
        <p:spPr>
          <a:xfrm flipV="1">
            <a:off x="1219890" y="5956183"/>
            <a:ext cx="1583172" cy="11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F8B0533E-A01C-4766-9C3F-F8B1E3FA508F}"/>
              </a:ext>
            </a:extLst>
          </p:cNvPr>
          <p:cNvCxnSpPr>
            <a:cxnSpLocks/>
            <a:stCxn id="61" idx="0"/>
            <a:endCxn id="63" idx="1"/>
          </p:cNvCxnSpPr>
          <p:nvPr/>
        </p:nvCxnSpPr>
        <p:spPr>
          <a:xfrm rot="5400000" flipH="1" flipV="1">
            <a:off x="1145880" y="5244970"/>
            <a:ext cx="151589" cy="904622"/>
          </a:xfrm>
          <a:prstGeom prst="bentConnector2">
            <a:avLst/>
          </a:prstGeom>
          <a:ln>
            <a:prstDash val="lg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9F7836B8-1E33-4852-B425-5922F6FE9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80" y="999628"/>
            <a:ext cx="383946" cy="227165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7028AFA1-E17C-440A-ADF3-09E317E44827}"/>
              </a:ext>
            </a:extLst>
          </p:cNvPr>
          <p:cNvSpPr/>
          <p:nvPr/>
        </p:nvSpPr>
        <p:spPr>
          <a:xfrm>
            <a:off x="2294533" y="6155226"/>
            <a:ext cx="11144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ED992C3-EDCA-4F8A-9546-4734943704C1}"/>
              </a:ext>
            </a:extLst>
          </p:cNvPr>
          <p:cNvSpPr/>
          <p:nvPr/>
        </p:nvSpPr>
        <p:spPr>
          <a:xfrm>
            <a:off x="305058" y="6065071"/>
            <a:ext cx="94288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6D2845F-9B05-4A1B-B0E1-F0AC645DA235}"/>
              </a:ext>
            </a:extLst>
          </p:cNvPr>
          <p:cNvSpPr/>
          <p:nvPr/>
        </p:nvSpPr>
        <p:spPr>
          <a:xfrm>
            <a:off x="8405747" y="5540422"/>
            <a:ext cx="110158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Cloud Bus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7CF00916-FC5D-401B-9646-07722DA0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213" y="5429981"/>
            <a:ext cx="165100" cy="97683"/>
          </a:xfrm>
          <a:prstGeom prst="rect">
            <a:avLst/>
          </a:prstGeom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CD52F6FE-C542-4805-9A4F-DC772C3E539C}"/>
              </a:ext>
            </a:extLst>
          </p:cNvPr>
          <p:cNvSpPr/>
          <p:nvPr/>
        </p:nvSpPr>
        <p:spPr>
          <a:xfrm>
            <a:off x="8405747" y="5374413"/>
            <a:ext cx="534256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Server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AFA36A3-F738-4097-B329-8219562B8675}"/>
              </a:ext>
            </a:extLst>
          </p:cNvPr>
          <p:cNvSpPr/>
          <p:nvPr/>
        </p:nvSpPr>
        <p:spPr>
          <a:xfrm>
            <a:off x="3095831" y="1003284"/>
            <a:ext cx="5757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Master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1D31753A-5FFC-4830-A33E-9FB3F0103E8B}"/>
              </a:ext>
            </a:extLst>
          </p:cNvPr>
          <p:cNvSpPr/>
          <p:nvPr/>
        </p:nvSpPr>
        <p:spPr>
          <a:xfrm>
            <a:off x="8405747" y="5710138"/>
            <a:ext cx="74411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Rabbit MQ</a:t>
            </a: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F11A9DF5-7D2B-4803-887E-A0566C9DC7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568" y="5749325"/>
            <a:ext cx="126790" cy="134859"/>
          </a:xfrm>
          <a:prstGeom prst="rect">
            <a:avLst/>
          </a:prstGeom>
        </p:spPr>
      </p:pic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F8529E6C-4012-4614-B1CB-E0272B79DB42}"/>
              </a:ext>
            </a:extLst>
          </p:cNvPr>
          <p:cNvSpPr/>
          <p:nvPr/>
        </p:nvSpPr>
        <p:spPr>
          <a:xfrm>
            <a:off x="8495640" y="3929337"/>
            <a:ext cx="1242412" cy="12519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7697ABCA-403C-41B9-AF17-33B14CDE8940}"/>
              </a:ext>
            </a:extLst>
          </p:cNvPr>
          <p:cNvGrpSpPr/>
          <p:nvPr/>
        </p:nvGrpSpPr>
        <p:grpSpPr>
          <a:xfrm>
            <a:off x="8104213" y="5577647"/>
            <a:ext cx="128666" cy="130100"/>
            <a:chOff x="5213886" y="1690790"/>
            <a:chExt cx="205187" cy="198343"/>
          </a:xfrm>
        </p:grpSpPr>
        <p:sp>
          <p:nvSpPr>
            <p:cNvPr id="122" name="Oval 159">
              <a:extLst>
                <a:ext uri="{FF2B5EF4-FFF2-40B4-BE49-F238E27FC236}">
                  <a16:creationId xmlns:a16="http://schemas.microsoft.com/office/drawing/2014/main" id="{0FB439C0-954C-4C50-8EE5-51E7D4A7387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73E4476E-3BCC-493A-97E0-B62C66EB8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08737B24-42D2-4CB3-836B-5E08C77E66F1}"/>
              </a:ext>
            </a:extLst>
          </p:cNvPr>
          <p:cNvSpPr/>
          <p:nvPr/>
        </p:nvSpPr>
        <p:spPr>
          <a:xfrm>
            <a:off x="7948067" y="5323709"/>
            <a:ext cx="1789985" cy="1067565"/>
          </a:xfrm>
          <a:prstGeom prst="roundRect">
            <a:avLst/>
          </a:prstGeom>
          <a:noFill/>
          <a:ln w="28575">
            <a:solidFill>
              <a:schemeClr val="accent6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AutoShape 48">
            <a:extLst>
              <a:ext uri="{FF2B5EF4-FFF2-40B4-BE49-F238E27FC236}">
                <a16:creationId xmlns:a16="http://schemas.microsoft.com/office/drawing/2014/main" id="{63187997-1ED5-4F3C-9B87-1AD1F801D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461" y="5587573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                 Sleuth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DC4C9F8B-E424-403C-80B2-E9323CA0C93B}"/>
              </a:ext>
            </a:extLst>
          </p:cNvPr>
          <p:cNvSpPr/>
          <p:nvPr/>
        </p:nvSpPr>
        <p:spPr>
          <a:xfrm>
            <a:off x="3662360" y="5335256"/>
            <a:ext cx="114618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Monitoring</a:t>
            </a:r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C90C53B6-1917-45F1-BD2F-57E99D6DB8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27" y="5581721"/>
            <a:ext cx="702535" cy="204906"/>
          </a:xfrm>
          <a:prstGeom prst="rect">
            <a:avLst/>
          </a:prstGeom>
        </p:spPr>
      </p:pic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44F121EC-020F-44B4-900F-F59954F224C5}"/>
              </a:ext>
            </a:extLst>
          </p:cNvPr>
          <p:cNvCxnSpPr>
            <a:cxnSpLocks/>
          </p:cNvCxnSpPr>
          <p:nvPr/>
        </p:nvCxnSpPr>
        <p:spPr>
          <a:xfrm flipV="1">
            <a:off x="8078720" y="5969654"/>
            <a:ext cx="340847" cy="33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1AAA8B64-E4D9-46D1-BC04-A80BF4CB2958}"/>
              </a:ext>
            </a:extLst>
          </p:cNvPr>
          <p:cNvSpPr/>
          <p:nvPr/>
        </p:nvSpPr>
        <p:spPr>
          <a:xfrm>
            <a:off x="8408104" y="5869250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서비스 연계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42" name="그림 141">
            <a:extLst>
              <a:ext uri="{FF2B5EF4-FFF2-40B4-BE49-F238E27FC236}">
                <a16:creationId xmlns:a16="http://schemas.microsoft.com/office/drawing/2014/main" id="{174386FA-76C8-456F-AADA-822CF6B2321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41455" y="1695721"/>
            <a:ext cx="432824" cy="372475"/>
          </a:xfrm>
          <a:prstGeom prst="rect">
            <a:avLst/>
          </a:prstGeom>
        </p:spPr>
      </p:pic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13609C6A-A75A-4856-99FD-40F5AF81C72C}"/>
              </a:ext>
            </a:extLst>
          </p:cNvPr>
          <p:cNvSpPr/>
          <p:nvPr/>
        </p:nvSpPr>
        <p:spPr>
          <a:xfrm>
            <a:off x="3642107" y="5323709"/>
            <a:ext cx="4167001" cy="1065386"/>
          </a:xfrm>
          <a:prstGeom prst="round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4" name="그림 183">
            <a:extLst>
              <a:ext uri="{FF2B5EF4-FFF2-40B4-BE49-F238E27FC236}">
                <a16:creationId xmlns:a16="http://schemas.microsoft.com/office/drawing/2014/main" id="{65D8BB48-562E-4FF7-AB84-57FEB3A59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778" y="6075267"/>
            <a:ext cx="1087478" cy="231289"/>
          </a:xfrm>
          <a:prstGeom prst="rect">
            <a:avLst/>
          </a:prstGeom>
        </p:spPr>
      </p:pic>
      <p:sp>
        <p:nvSpPr>
          <p:cNvPr id="219" name="사각형: 둥근 대각선 방향 모서리 218">
            <a:extLst>
              <a:ext uri="{FF2B5EF4-FFF2-40B4-BE49-F238E27FC236}">
                <a16:creationId xmlns:a16="http://schemas.microsoft.com/office/drawing/2014/main" id="{FC6D2421-8E43-4E24-A623-56ADC99696DA}"/>
              </a:ext>
            </a:extLst>
          </p:cNvPr>
          <p:cNvSpPr/>
          <p:nvPr/>
        </p:nvSpPr>
        <p:spPr>
          <a:xfrm>
            <a:off x="8666079" y="4481144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금융기관</a:t>
            </a:r>
          </a:p>
        </p:txBody>
      </p:sp>
      <p:sp>
        <p:nvSpPr>
          <p:cNvPr id="220" name="사각형: 둥근 대각선 방향 모서리 219">
            <a:extLst>
              <a:ext uri="{FF2B5EF4-FFF2-40B4-BE49-F238E27FC236}">
                <a16:creationId xmlns:a16="http://schemas.microsoft.com/office/drawing/2014/main" id="{E127D2EE-14F1-4A6D-B35C-4C4DE9288933}"/>
              </a:ext>
            </a:extLst>
          </p:cNvPr>
          <p:cNvSpPr/>
          <p:nvPr/>
        </p:nvSpPr>
        <p:spPr>
          <a:xfrm>
            <a:off x="8666079" y="4314329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국세청</a:t>
            </a:r>
          </a:p>
        </p:txBody>
      </p:sp>
      <p:sp>
        <p:nvSpPr>
          <p:cNvPr id="221" name="사각형: 둥근 대각선 방향 모서리 220">
            <a:extLst>
              <a:ext uri="{FF2B5EF4-FFF2-40B4-BE49-F238E27FC236}">
                <a16:creationId xmlns:a16="http://schemas.microsoft.com/office/drawing/2014/main" id="{F11688C1-45F2-4330-881E-70E1C574C351}"/>
              </a:ext>
            </a:extLst>
          </p:cNvPr>
          <p:cNvSpPr/>
          <p:nvPr/>
        </p:nvSpPr>
        <p:spPr>
          <a:xfrm>
            <a:off x="8666079" y="4647959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카드사</a:t>
            </a:r>
          </a:p>
        </p:txBody>
      </p:sp>
      <p:sp>
        <p:nvSpPr>
          <p:cNvPr id="223" name="사각형: 둥근 대각선 방향 모서리 222">
            <a:extLst>
              <a:ext uri="{FF2B5EF4-FFF2-40B4-BE49-F238E27FC236}">
                <a16:creationId xmlns:a16="http://schemas.microsoft.com/office/drawing/2014/main" id="{6B23765D-6E41-4F6F-8837-2C4BC16E34E0}"/>
              </a:ext>
            </a:extLst>
          </p:cNvPr>
          <p:cNvSpPr/>
          <p:nvPr/>
        </p:nvSpPr>
        <p:spPr>
          <a:xfrm>
            <a:off x="8663031" y="4814774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4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대보험포탈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AE07516C-86FE-433C-8CF7-F88552E8438D}"/>
              </a:ext>
            </a:extLst>
          </p:cNvPr>
          <p:cNvSpPr/>
          <p:nvPr/>
        </p:nvSpPr>
        <p:spPr>
          <a:xfrm>
            <a:off x="8495640" y="726725"/>
            <a:ext cx="1249242" cy="1428535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사각형: 둥근 대각선 방향 모서리 225">
            <a:extLst>
              <a:ext uri="{FF2B5EF4-FFF2-40B4-BE49-F238E27FC236}">
                <a16:creationId xmlns:a16="http://schemas.microsoft.com/office/drawing/2014/main" id="{DB5691C5-8C07-4F37-9748-8E2C0712044D}"/>
              </a:ext>
            </a:extLst>
          </p:cNvPr>
          <p:cNvSpPr/>
          <p:nvPr/>
        </p:nvSpPr>
        <p:spPr>
          <a:xfrm>
            <a:off x="8652411" y="1152858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전자결재</a:t>
            </a:r>
          </a:p>
        </p:txBody>
      </p:sp>
      <p:sp>
        <p:nvSpPr>
          <p:cNvPr id="227" name="사각형: 둥근 대각선 방향 모서리 226">
            <a:extLst>
              <a:ext uri="{FF2B5EF4-FFF2-40B4-BE49-F238E27FC236}">
                <a16:creationId xmlns:a16="http://schemas.microsoft.com/office/drawing/2014/main" id="{9369248F-802F-4A38-A8DB-EB4AC1D4FAE6}"/>
              </a:ext>
            </a:extLst>
          </p:cNvPr>
          <p:cNvSpPr/>
          <p:nvPr/>
        </p:nvSpPr>
        <p:spPr>
          <a:xfrm>
            <a:off x="8652411" y="986043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통합정보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사용자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28" name="사각형: 둥근 대각선 방향 모서리 227">
            <a:extLst>
              <a:ext uri="{FF2B5EF4-FFF2-40B4-BE49-F238E27FC236}">
                <a16:creationId xmlns:a16="http://schemas.microsoft.com/office/drawing/2014/main" id="{54A726DC-91D4-449F-BD45-FE63232D72F5}"/>
              </a:ext>
            </a:extLst>
          </p:cNvPr>
          <p:cNvSpPr/>
          <p:nvPr/>
        </p:nvSpPr>
        <p:spPr>
          <a:xfrm>
            <a:off x="8652411" y="1319673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Mail(SMTP)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29" name="사각형: 둥근 대각선 방향 모서리 228">
            <a:extLst>
              <a:ext uri="{FF2B5EF4-FFF2-40B4-BE49-F238E27FC236}">
                <a16:creationId xmlns:a16="http://schemas.microsoft.com/office/drawing/2014/main" id="{3B6CBBFC-4C95-480C-A81C-3F7F5AF9B285}"/>
              </a:ext>
            </a:extLst>
          </p:cNvPr>
          <p:cNvSpPr/>
          <p:nvPr/>
        </p:nvSpPr>
        <p:spPr>
          <a:xfrm>
            <a:off x="8652411" y="1670548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Works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30" name="사각형: 둥근 대각선 방향 모서리 229">
            <a:extLst>
              <a:ext uri="{FF2B5EF4-FFF2-40B4-BE49-F238E27FC236}">
                <a16:creationId xmlns:a16="http://schemas.microsoft.com/office/drawing/2014/main" id="{8E128A1B-123B-4D9A-BB68-D4F1DC6D637C}"/>
              </a:ext>
            </a:extLst>
          </p:cNvPr>
          <p:cNvSpPr/>
          <p:nvPr/>
        </p:nvSpPr>
        <p:spPr>
          <a:xfrm>
            <a:off x="8657989" y="1486488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Messenger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F250EF20-124E-44B6-91F5-665A56F455F9}"/>
              </a:ext>
            </a:extLst>
          </p:cNvPr>
          <p:cNvSpPr/>
          <p:nvPr/>
        </p:nvSpPr>
        <p:spPr>
          <a:xfrm>
            <a:off x="8402315" y="6023482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비동기 통신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269" name="연결선: 꺾임 268">
            <a:extLst>
              <a:ext uri="{FF2B5EF4-FFF2-40B4-BE49-F238E27FC236}">
                <a16:creationId xmlns:a16="http://schemas.microsoft.com/office/drawing/2014/main" id="{DDB04DCC-F7BE-415B-98E0-4245BD2EBE20}"/>
              </a:ext>
            </a:extLst>
          </p:cNvPr>
          <p:cNvCxnSpPr>
            <a:cxnSpLocks/>
          </p:cNvCxnSpPr>
          <p:nvPr/>
        </p:nvCxnSpPr>
        <p:spPr>
          <a:xfrm rot="10800000">
            <a:off x="8040193" y="6112457"/>
            <a:ext cx="379374" cy="205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0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5FFD2DFD-6F92-451D-8D31-62774FDE3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2940855" y="1218041"/>
            <a:ext cx="548567" cy="13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AAB96621-1FC8-49F8-8052-C27808F4BB02}"/>
              </a:ext>
            </a:extLst>
          </p:cNvPr>
          <p:cNvSpPr/>
          <p:nvPr/>
        </p:nvSpPr>
        <p:spPr>
          <a:xfrm>
            <a:off x="3010363" y="1368562"/>
            <a:ext cx="886385" cy="20933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-API Server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1937E17A-9B5C-40F2-A0EC-18DD185C645A}"/>
              </a:ext>
            </a:extLst>
          </p:cNvPr>
          <p:cNvSpPr/>
          <p:nvPr/>
        </p:nvSpPr>
        <p:spPr>
          <a:xfrm>
            <a:off x="3012580" y="1608240"/>
            <a:ext cx="886385" cy="22578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-scheduler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1E0FCE3-5A05-42DF-AFFA-7FCB7CD47DF2}"/>
              </a:ext>
            </a:extLst>
          </p:cNvPr>
          <p:cNvSpPr/>
          <p:nvPr/>
        </p:nvSpPr>
        <p:spPr>
          <a:xfrm>
            <a:off x="771462" y="3268646"/>
            <a:ext cx="1983255" cy="1836337"/>
          </a:xfrm>
          <a:prstGeom prst="roundRect">
            <a:avLst>
              <a:gd name="adj" fmla="val 125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D8FBD375-3A51-4CB3-B476-E2A8B2F9CDF8}"/>
              </a:ext>
            </a:extLst>
          </p:cNvPr>
          <p:cNvSpPr/>
          <p:nvPr/>
        </p:nvSpPr>
        <p:spPr>
          <a:xfrm>
            <a:off x="3007072" y="1874054"/>
            <a:ext cx="886385" cy="32182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-controller-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+mn-cs"/>
              </a:rPr>
              <a:t>manager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05D71717-51CF-4612-A63A-74C707B10319}"/>
              </a:ext>
            </a:extLst>
          </p:cNvPr>
          <p:cNvSpPr/>
          <p:nvPr/>
        </p:nvSpPr>
        <p:spPr>
          <a:xfrm>
            <a:off x="3007072" y="2235826"/>
            <a:ext cx="886385" cy="18580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etcd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BE56CD82-7F53-44E8-9DDC-0463E3D984C5}"/>
              </a:ext>
            </a:extLst>
          </p:cNvPr>
          <p:cNvSpPr/>
          <p:nvPr/>
        </p:nvSpPr>
        <p:spPr>
          <a:xfrm>
            <a:off x="789731" y="3338293"/>
            <a:ext cx="65594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인증</a:t>
            </a:r>
            <a:r>
              <a:rPr lang="en-US" altLang="ko-KR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인가</a:t>
            </a:r>
            <a:endParaRPr lang="ko-KR" altLang="en-US" dirty="0"/>
          </a:p>
        </p:txBody>
      </p:sp>
      <p:grpSp>
        <p:nvGrpSpPr>
          <p:cNvPr id="282" name="Group 1014">
            <a:extLst>
              <a:ext uri="{FF2B5EF4-FFF2-40B4-BE49-F238E27FC236}">
                <a16:creationId xmlns:a16="http://schemas.microsoft.com/office/drawing/2014/main" id="{D7802317-D137-41E2-B507-3C050BAA6934}"/>
              </a:ext>
            </a:extLst>
          </p:cNvPr>
          <p:cNvGrpSpPr>
            <a:grpSpLocks/>
          </p:cNvGrpSpPr>
          <p:nvPr/>
        </p:nvGrpSpPr>
        <p:grpSpPr bwMode="auto">
          <a:xfrm>
            <a:off x="907779" y="3897794"/>
            <a:ext cx="163169" cy="200742"/>
            <a:chOff x="5666" y="988"/>
            <a:chExt cx="202" cy="351"/>
          </a:xfrm>
        </p:grpSpPr>
        <p:sp>
          <p:nvSpPr>
            <p:cNvPr id="283" name="Freeform 1015">
              <a:extLst>
                <a:ext uri="{FF2B5EF4-FFF2-40B4-BE49-F238E27FC236}">
                  <a16:creationId xmlns:a16="http://schemas.microsoft.com/office/drawing/2014/main" id="{BBAF743C-AFA5-4309-B96D-56DEA1FF1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4"/>
              <a:ext cx="144" cy="328"/>
            </a:xfrm>
            <a:custGeom>
              <a:avLst/>
              <a:gdLst>
                <a:gd name="T0" fmla="*/ 0 w 144"/>
                <a:gd name="T1" fmla="*/ 1 h 328"/>
                <a:gd name="T2" fmla="*/ 0 w 144"/>
                <a:gd name="T3" fmla="*/ 327 h 328"/>
                <a:gd name="T4" fmla="*/ 143 w 144"/>
                <a:gd name="T5" fmla="*/ 312 h 328"/>
                <a:gd name="T6" fmla="*/ 143 w 144"/>
                <a:gd name="T7" fmla="*/ 6 h 328"/>
                <a:gd name="T8" fmla="*/ 143 w 144"/>
                <a:gd name="T9" fmla="*/ 6 h 328"/>
                <a:gd name="T10" fmla="*/ 0 w 144"/>
                <a:gd name="T11" fmla="*/ 0 h 328"/>
                <a:gd name="T12" fmla="*/ 143 w 144"/>
                <a:gd name="T13" fmla="*/ 6 h 328"/>
                <a:gd name="T14" fmla="*/ 0 w 144"/>
                <a:gd name="T15" fmla="*/ 0 h 328"/>
                <a:gd name="T16" fmla="*/ 143 w 144"/>
                <a:gd name="T17" fmla="*/ 6 h 328"/>
                <a:gd name="T18" fmla="*/ 0 w 144"/>
                <a:gd name="T19" fmla="*/ 0 h 328"/>
                <a:gd name="T20" fmla="*/ 143 w 144"/>
                <a:gd name="T21" fmla="*/ 6 h 328"/>
                <a:gd name="T22" fmla="*/ 0 w 144"/>
                <a:gd name="T23" fmla="*/ 0 h 328"/>
                <a:gd name="T24" fmla="*/ 143 w 144"/>
                <a:gd name="T25" fmla="*/ 6 h 328"/>
                <a:gd name="T26" fmla="*/ 0 w 144"/>
                <a:gd name="T27" fmla="*/ 0 h 328"/>
                <a:gd name="T28" fmla="*/ 143 w 144"/>
                <a:gd name="T29" fmla="*/ 6 h 328"/>
                <a:gd name="T30" fmla="*/ 0 w 144"/>
                <a:gd name="T31" fmla="*/ 0 h 328"/>
                <a:gd name="T32" fmla="*/ 143 w 144"/>
                <a:gd name="T33" fmla="*/ 6 h 328"/>
                <a:gd name="T34" fmla="*/ 0 w 144"/>
                <a:gd name="T35" fmla="*/ 0 h 328"/>
                <a:gd name="T36" fmla="*/ 143 w 144"/>
                <a:gd name="T37" fmla="*/ 6 h 328"/>
                <a:gd name="T38" fmla="*/ 0 w 144"/>
                <a:gd name="T39" fmla="*/ 0 h 328"/>
                <a:gd name="T40" fmla="*/ 143 w 144"/>
                <a:gd name="T41" fmla="*/ 6 h 328"/>
                <a:gd name="T42" fmla="*/ 0 w 144"/>
                <a:gd name="T43" fmla="*/ 0 h 328"/>
                <a:gd name="T44" fmla="*/ 143 w 144"/>
                <a:gd name="T45" fmla="*/ 6 h 328"/>
                <a:gd name="T46" fmla="*/ 0 w 144"/>
                <a:gd name="T47" fmla="*/ 0 h 328"/>
                <a:gd name="T48" fmla="*/ 143 w 144"/>
                <a:gd name="T49" fmla="*/ 6 h 328"/>
                <a:gd name="T50" fmla="*/ 0 w 144"/>
                <a:gd name="T51" fmla="*/ 0 h 328"/>
                <a:gd name="T52" fmla="*/ 143 w 144"/>
                <a:gd name="T53" fmla="*/ 6 h 328"/>
                <a:gd name="T54" fmla="*/ 0 w 144"/>
                <a:gd name="T55" fmla="*/ 0 h 328"/>
                <a:gd name="T56" fmla="*/ 143 w 144"/>
                <a:gd name="T57" fmla="*/ 6 h 328"/>
                <a:gd name="T58" fmla="*/ 0 w 144"/>
                <a:gd name="T59" fmla="*/ 0 h 328"/>
                <a:gd name="T60" fmla="*/ 143 w 144"/>
                <a:gd name="T61" fmla="*/ 6 h 328"/>
                <a:gd name="T62" fmla="*/ 0 w 144"/>
                <a:gd name="T63" fmla="*/ 0 h 328"/>
                <a:gd name="T64" fmla="*/ 143 w 144"/>
                <a:gd name="T65" fmla="*/ 6 h 328"/>
                <a:gd name="T66" fmla="*/ 0 w 144"/>
                <a:gd name="T67" fmla="*/ 0 h 328"/>
                <a:gd name="T68" fmla="*/ 143 w 144"/>
                <a:gd name="T69" fmla="*/ 6 h 328"/>
                <a:gd name="T70" fmla="*/ 0 w 144"/>
                <a:gd name="T71" fmla="*/ 0 h 328"/>
                <a:gd name="T72" fmla="*/ 143 w 144"/>
                <a:gd name="T73" fmla="*/ 6 h 328"/>
                <a:gd name="T74" fmla="*/ 0 w 144"/>
                <a:gd name="T75" fmla="*/ 0 h 328"/>
                <a:gd name="T76" fmla="*/ 143 w 144"/>
                <a:gd name="T77" fmla="*/ 6 h 328"/>
                <a:gd name="T78" fmla="*/ 0 w 144"/>
                <a:gd name="T79" fmla="*/ 0 h 328"/>
                <a:gd name="T80" fmla="*/ 143 w 144"/>
                <a:gd name="T81" fmla="*/ 6 h 328"/>
                <a:gd name="T82" fmla="*/ 0 w 144"/>
                <a:gd name="T83" fmla="*/ 0 h 328"/>
                <a:gd name="T84" fmla="*/ 0 w 144"/>
                <a:gd name="T85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4" h="328">
                  <a:moveTo>
                    <a:pt x="0" y="1"/>
                  </a:moveTo>
                  <a:lnTo>
                    <a:pt x="0" y="327"/>
                  </a:lnTo>
                  <a:lnTo>
                    <a:pt x="143" y="312"/>
                  </a:lnTo>
                  <a:lnTo>
                    <a:pt x="143" y="6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5400000" scaled="1"/>
            </a:gradFill>
            <a:ln w="9088" cap="flat" cmpd="sng">
              <a:solidFill>
                <a:srgbClr val="72727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84" name="Freeform 1016">
              <a:extLst>
                <a:ext uri="{FF2B5EF4-FFF2-40B4-BE49-F238E27FC236}">
                  <a16:creationId xmlns:a16="http://schemas.microsoft.com/office/drawing/2014/main" id="{C43F719D-5E0D-41FB-8FD6-EA90741A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0 h 328"/>
                <a:gd name="T2" fmla="*/ 58 w 59"/>
                <a:gd name="T3" fmla="*/ 327 h 328"/>
                <a:gd name="T4" fmla="*/ 0 w 59"/>
                <a:gd name="T5" fmla="*/ 271 h 328"/>
                <a:gd name="T6" fmla="*/ 0 w 59"/>
                <a:gd name="T7" fmla="*/ 26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327 h 328"/>
                <a:gd name="T14" fmla="*/ 58 w 59"/>
                <a:gd name="T15" fmla="*/ 0 h 328"/>
                <a:gd name="T16" fmla="*/ 58 w 59"/>
                <a:gd name="T17" fmla="*/ 327 h 328"/>
                <a:gd name="T18" fmla="*/ 58 w 59"/>
                <a:gd name="T19" fmla="*/ 0 h 328"/>
                <a:gd name="T20" fmla="*/ 58 w 59"/>
                <a:gd name="T21" fmla="*/ 327 h 328"/>
                <a:gd name="T22" fmla="*/ 58 w 59"/>
                <a:gd name="T23" fmla="*/ 0 h 328"/>
                <a:gd name="T24" fmla="*/ 58 w 59"/>
                <a:gd name="T25" fmla="*/ 327 h 328"/>
                <a:gd name="T26" fmla="*/ 58 w 59"/>
                <a:gd name="T27" fmla="*/ 0 h 328"/>
                <a:gd name="T28" fmla="*/ 58 w 59"/>
                <a:gd name="T29" fmla="*/ 327 h 328"/>
                <a:gd name="T30" fmla="*/ 58 w 59"/>
                <a:gd name="T31" fmla="*/ 0 h 328"/>
                <a:gd name="T32" fmla="*/ 58 w 59"/>
                <a:gd name="T33" fmla="*/ 327 h 328"/>
                <a:gd name="T34" fmla="*/ 58 w 59"/>
                <a:gd name="T35" fmla="*/ 0 h 328"/>
                <a:gd name="T36" fmla="*/ 58 w 59"/>
                <a:gd name="T37" fmla="*/ 327 h 328"/>
                <a:gd name="T38" fmla="*/ 58 w 59"/>
                <a:gd name="T39" fmla="*/ 0 h 328"/>
                <a:gd name="T40" fmla="*/ 58 w 59"/>
                <a:gd name="T41" fmla="*/ 327 h 328"/>
                <a:gd name="T42" fmla="*/ 58 w 59"/>
                <a:gd name="T43" fmla="*/ 0 h 328"/>
                <a:gd name="T44" fmla="*/ 58 w 59"/>
                <a:gd name="T45" fmla="*/ 327 h 328"/>
                <a:gd name="T46" fmla="*/ 58 w 59"/>
                <a:gd name="T47" fmla="*/ 0 h 328"/>
                <a:gd name="T48" fmla="*/ 58 w 59"/>
                <a:gd name="T49" fmla="*/ 327 h 328"/>
                <a:gd name="T50" fmla="*/ 58 w 59"/>
                <a:gd name="T51" fmla="*/ 0 h 328"/>
                <a:gd name="T52" fmla="*/ 58 w 59"/>
                <a:gd name="T53" fmla="*/ 327 h 328"/>
                <a:gd name="T54" fmla="*/ 58 w 59"/>
                <a:gd name="T5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85" name="Line 1017">
              <a:extLst>
                <a:ext uri="{FF2B5EF4-FFF2-40B4-BE49-F238E27FC236}">
                  <a16:creationId xmlns:a16="http://schemas.microsoft.com/office/drawing/2014/main" id="{C0A82BF2-C911-4440-A268-0A1789E467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91" y="1008"/>
              <a:ext cx="0" cy="279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86" name="Line 1018">
              <a:extLst>
                <a:ext uri="{FF2B5EF4-FFF2-40B4-BE49-F238E27FC236}">
                  <a16:creationId xmlns:a16="http://schemas.microsoft.com/office/drawing/2014/main" id="{5B458E3E-8D41-44F4-A732-56B287B3A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0" y="1000"/>
              <a:ext cx="0" cy="306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87" name="Line 1019">
              <a:extLst>
                <a:ext uri="{FF2B5EF4-FFF2-40B4-BE49-F238E27FC236}">
                  <a16:creationId xmlns:a16="http://schemas.microsoft.com/office/drawing/2014/main" id="{2FF1ABC6-25D2-4D4B-A64E-9B5C8A248C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7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88" name="Line 1020">
              <a:extLst>
                <a:ext uri="{FF2B5EF4-FFF2-40B4-BE49-F238E27FC236}">
                  <a16:creationId xmlns:a16="http://schemas.microsoft.com/office/drawing/2014/main" id="{208337C0-5DC0-448A-B3D7-21F56C6C7E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3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89" name="AutoShape 1021">
              <a:extLst>
                <a:ext uri="{FF2B5EF4-FFF2-40B4-BE49-F238E27FC236}">
                  <a16:creationId xmlns:a16="http://schemas.microsoft.com/office/drawing/2014/main" id="{7632EC17-5686-446D-9854-4C8F6697D0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09" y="998"/>
              <a:ext cx="27" cy="89"/>
            </a:xfrm>
            <a:prstGeom prst="roundRect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0" name="Freeform 1022">
              <a:extLst>
                <a:ext uri="{FF2B5EF4-FFF2-40B4-BE49-F238E27FC236}">
                  <a16:creationId xmlns:a16="http://schemas.microsoft.com/office/drawing/2014/main" id="{349E1D69-4B8D-455D-95AE-FA82C2FE6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327 h 328"/>
                <a:gd name="T2" fmla="*/ 0 w 59"/>
                <a:gd name="T3" fmla="*/ 26 h 328"/>
                <a:gd name="T4" fmla="*/ 58 w 59"/>
                <a:gd name="T5" fmla="*/ 0 h 328"/>
                <a:gd name="T6" fmla="*/ 58 w 59"/>
                <a:gd name="T7" fmla="*/ 0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0 h 328"/>
                <a:gd name="T14" fmla="*/ 58 w 59"/>
                <a:gd name="T15" fmla="*/ 0 h 328"/>
                <a:gd name="T16" fmla="*/ 58 w 59"/>
                <a:gd name="T17" fmla="*/ 0 h 328"/>
                <a:gd name="T18" fmla="*/ 58 w 59"/>
                <a:gd name="T19" fmla="*/ 0 h 328"/>
                <a:gd name="T20" fmla="*/ 58 w 59"/>
                <a:gd name="T21" fmla="*/ 0 h 328"/>
                <a:gd name="T22" fmla="*/ 58 w 59"/>
                <a:gd name="T23" fmla="*/ 0 h 328"/>
                <a:gd name="T24" fmla="*/ 58 w 59"/>
                <a:gd name="T25" fmla="*/ 0 h 328"/>
                <a:gd name="T26" fmla="*/ 58 w 59"/>
                <a:gd name="T27" fmla="*/ 0 h 328"/>
                <a:gd name="T28" fmla="*/ 58 w 59"/>
                <a:gd name="T29" fmla="*/ 0 h 328"/>
                <a:gd name="T30" fmla="*/ 58 w 59"/>
                <a:gd name="T31" fmla="*/ 0 h 328"/>
                <a:gd name="T32" fmla="*/ 58 w 59"/>
                <a:gd name="T33" fmla="*/ 0 h 328"/>
                <a:gd name="T34" fmla="*/ 58 w 59"/>
                <a:gd name="T35" fmla="*/ 0 h 328"/>
                <a:gd name="T36" fmla="*/ 58 w 59"/>
                <a:gd name="T37" fmla="*/ 0 h 328"/>
                <a:gd name="T38" fmla="*/ 58 w 59"/>
                <a:gd name="T39" fmla="*/ 0 h 328"/>
                <a:gd name="T40" fmla="*/ 58 w 59"/>
                <a:gd name="T41" fmla="*/ 0 h 328"/>
                <a:gd name="T42" fmla="*/ 58 w 59"/>
                <a:gd name="T43" fmla="*/ 0 h 328"/>
                <a:gd name="T44" fmla="*/ 58 w 59"/>
                <a:gd name="T45" fmla="*/ 0 h 328"/>
                <a:gd name="T46" fmla="*/ 58 w 59"/>
                <a:gd name="T47" fmla="*/ 0 h 328"/>
                <a:gd name="T48" fmla="*/ 58 w 59"/>
                <a:gd name="T49" fmla="*/ 0 h 328"/>
                <a:gd name="T50" fmla="*/ 58 w 59"/>
                <a:gd name="T51" fmla="*/ 0 h 328"/>
                <a:gd name="T52" fmla="*/ 58 w 59"/>
                <a:gd name="T53" fmla="*/ 0 h 328"/>
                <a:gd name="T54" fmla="*/ 58 w 59"/>
                <a:gd name="T55" fmla="*/ 0 h 328"/>
                <a:gd name="T56" fmla="*/ 58 w 59"/>
                <a:gd name="T57" fmla="*/ 0 h 328"/>
                <a:gd name="T58" fmla="*/ 58 w 59"/>
                <a:gd name="T59" fmla="*/ 0 h 328"/>
                <a:gd name="T60" fmla="*/ 58 w 59"/>
                <a:gd name="T61" fmla="*/ 0 h 328"/>
                <a:gd name="T62" fmla="*/ 58 w 59"/>
                <a:gd name="T63" fmla="*/ 0 h 328"/>
                <a:gd name="T64" fmla="*/ 58 w 59"/>
                <a:gd name="T65" fmla="*/ 0 h 328"/>
                <a:gd name="T66" fmla="*/ 58 w 59"/>
                <a:gd name="T67" fmla="*/ 0 h 328"/>
                <a:gd name="T68" fmla="*/ 58 w 59"/>
                <a:gd name="T69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1" name="AutoShape 1023">
              <a:extLst>
                <a:ext uri="{FF2B5EF4-FFF2-40B4-BE49-F238E27FC236}">
                  <a16:creationId xmlns:a16="http://schemas.microsoft.com/office/drawing/2014/main" id="{37774060-CE46-49E8-A01F-BFEE6EFBC1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0" y="1068"/>
              <a:ext cx="17" cy="15"/>
            </a:xfrm>
            <a:prstGeom prst="roundRect">
              <a:avLst>
                <a:gd name="adj" fmla="val 0"/>
              </a:avLst>
            </a:prstGeom>
            <a:solidFill>
              <a:srgbClr val="72727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2" name="Oval 1024">
              <a:extLst>
                <a:ext uri="{FF2B5EF4-FFF2-40B4-BE49-F238E27FC236}">
                  <a16:creationId xmlns:a16="http://schemas.microsoft.com/office/drawing/2014/main" id="{C90E3B17-994E-4774-9E44-3D034559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2" y="1076"/>
              <a:ext cx="3" cy="3"/>
            </a:xfrm>
            <a:prstGeom prst="ellips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3" name="Line 1025">
              <a:extLst>
                <a:ext uri="{FF2B5EF4-FFF2-40B4-BE49-F238E27FC236}">
                  <a16:creationId xmlns:a16="http://schemas.microsoft.com/office/drawing/2014/main" id="{E4CFEE30-8403-43E8-8AE3-F9B3ED237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3" y="1073"/>
              <a:ext cx="0" cy="0"/>
            </a:xfrm>
            <a:prstGeom prst="lin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4" name="AutoShape 1026">
              <a:extLst>
                <a:ext uri="{FF2B5EF4-FFF2-40B4-BE49-F238E27FC236}">
                  <a16:creationId xmlns:a16="http://schemas.microsoft.com/office/drawing/2014/main" id="{69EC2782-C8A4-421B-9A3F-1E1949C4D4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3" y="1070"/>
              <a:ext cx="6" cy="11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5400000" scaled="1"/>
            </a:gradFill>
            <a:ln w="9088">
              <a:solidFill>
                <a:srgbClr val="FF404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5" name="AutoShape 1027">
              <a:extLst>
                <a:ext uri="{FF2B5EF4-FFF2-40B4-BE49-F238E27FC236}">
                  <a16:creationId xmlns:a16="http://schemas.microsoft.com/office/drawing/2014/main" id="{EF8D72A0-470C-4580-A1DA-48D9E8E0F4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4" y="1073"/>
              <a:ext cx="5" cy="0"/>
            </a:xfrm>
            <a:prstGeom prst="roundRect">
              <a:avLst>
                <a:gd name="adj" fmla="val 0"/>
              </a:avLst>
            </a:prstGeom>
            <a:solidFill>
              <a:srgbClr val="FF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6" name="Line 1028">
              <a:extLst>
                <a:ext uri="{FF2B5EF4-FFF2-40B4-BE49-F238E27FC236}">
                  <a16:creationId xmlns:a16="http://schemas.microsoft.com/office/drawing/2014/main" id="{ED3B029A-F654-4ED4-9E13-A1ADA132D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09" y="997"/>
              <a:ext cx="0" cy="314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7" name="Line 1029">
              <a:extLst>
                <a:ext uri="{FF2B5EF4-FFF2-40B4-BE49-F238E27FC236}">
                  <a16:creationId xmlns:a16="http://schemas.microsoft.com/office/drawing/2014/main" id="{A0AE333F-5764-45E0-87DF-A0144C8F4C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" y="998"/>
              <a:ext cx="0" cy="31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8" name="Freeform 1030">
              <a:extLst>
                <a:ext uri="{FF2B5EF4-FFF2-40B4-BE49-F238E27FC236}">
                  <a16:creationId xmlns:a16="http://schemas.microsoft.com/office/drawing/2014/main" id="{611C7D9C-A469-4C93-BA3D-4C36A114B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1314"/>
              <a:ext cx="15" cy="10"/>
            </a:xfrm>
            <a:custGeom>
              <a:avLst/>
              <a:gdLst>
                <a:gd name="T0" fmla="*/ 0 w 15"/>
                <a:gd name="T1" fmla="*/ 0 h 10"/>
                <a:gd name="T2" fmla="*/ 14 w 15"/>
                <a:gd name="T3" fmla="*/ 0 h 10"/>
                <a:gd name="T4" fmla="*/ 14 w 15"/>
                <a:gd name="T5" fmla="*/ 9 h 10"/>
                <a:gd name="T6" fmla="*/ 0 w 15"/>
                <a:gd name="T7" fmla="*/ 0 h 10"/>
                <a:gd name="T8" fmla="*/ 0 w 15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0" y="0"/>
                  </a:moveTo>
                  <a:lnTo>
                    <a:pt x="14" y="0"/>
                  </a:lnTo>
                  <a:lnTo>
                    <a:pt x="14" y="9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299" name="Freeform 1031">
              <a:extLst>
                <a:ext uri="{FF2B5EF4-FFF2-40B4-BE49-F238E27FC236}">
                  <a16:creationId xmlns:a16="http://schemas.microsoft.com/office/drawing/2014/main" id="{C89FACC9-F5A3-46C5-9497-D892AEC64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3"/>
              <a:ext cx="144" cy="329"/>
            </a:xfrm>
            <a:custGeom>
              <a:avLst/>
              <a:gdLst>
                <a:gd name="T0" fmla="*/ 143 w 144"/>
                <a:gd name="T1" fmla="*/ 313 h 329"/>
                <a:gd name="T2" fmla="*/ 143 w 144"/>
                <a:gd name="T3" fmla="*/ 7 h 329"/>
                <a:gd name="T4" fmla="*/ 0 w 144"/>
                <a:gd name="T5" fmla="*/ 1 h 329"/>
                <a:gd name="T6" fmla="*/ 0 w 144"/>
                <a:gd name="T7" fmla="*/ 1 h 329"/>
                <a:gd name="T8" fmla="*/ 0 w 144"/>
                <a:gd name="T9" fmla="*/ 1 h 329"/>
                <a:gd name="T10" fmla="*/ 0 w 144"/>
                <a:gd name="T11" fmla="*/ 1 h 329"/>
                <a:gd name="T12" fmla="*/ 0 w 144"/>
                <a:gd name="T13" fmla="*/ 1 h 329"/>
                <a:gd name="T14" fmla="*/ 0 w 144"/>
                <a:gd name="T15" fmla="*/ 1 h 329"/>
                <a:gd name="T16" fmla="*/ 0 w 144"/>
                <a:gd name="T17" fmla="*/ 1 h 329"/>
                <a:gd name="T18" fmla="*/ 0 w 144"/>
                <a:gd name="T19" fmla="*/ 1 h 329"/>
                <a:gd name="T20" fmla="*/ 0 w 144"/>
                <a:gd name="T21" fmla="*/ 1 h 329"/>
                <a:gd name="T22" fmla="*/ 0 w 144"/>
                <a:gd name="T23" fmla="*/ 1 h 329"/>
                <a:gd name="T24" fmla="*/ 0 w 144"/>
                <a:gd name="T25" fmla="*/ 1 h 329"/>
                <a:gd name="T26" fmla="*/ 0 w 144"/>
                <a:gd name="T27" fmla="*/ 1 h 329"/>
                <a:gd name="T28" fmla="*/ 0 w 144"/>
                <a:gd name="T29" fmla="*/ 1 h 329"/>
                <a:gd name="T30" fmla="*/ 0 w 144"/>
                <a:gd name="T31" fmla="*/ 1 h 329"/>
                <a:gd name="T32" fmla="*/ 0 w 144"/>
                <a:gd name="T33" fmla="*/ 1 h 329"/>
                <a:gd name="T34" fmla="*/ 0 w 144"/>
                <a:gd name="T35" fmla="*/ 1 h 329"/>
                <a:gd name="T36" fmla="*/ 0 w 144"/>
                <a:gd name="T37" fmla="*/ 1 h 329"/>
                <a:gd name="T38" fmla="*/ 0 w 144"/>
                <a:gd name="T39" fmla="*/ 1 h 329"/>
                <a:gd name="T40" fmla="*/ 0 w 144"/>
                <a:gd name="T41" fmla="*/ 0 h 329"/>
                <a:gd name="T42" fmla="*/ 143 w 144"/>
                <a:gd name="T43" fmla="*/ 313 h 329"/>
                <a:gd name="T44" fmla="*/ 143 w 144"/>
                <a:gd name="T45" fmla="*/ 313 h 329"/>
                <a:gd name="T46" fmla="*/ 143 w 144"/>
                <a:gd name="T47" fmla="*/ 313 h 329"/>
                <a:gd name="T48" fmla="*/ 143 w 144"/>
                <a:gd name="T49" fmla="*/ 313 h 329"/>
                <a:gd name="T50" fmla="*/ 143 w 144"/>
                <a:gd name="T51" fmla="*/ 313 h 329"/>
                <a:gd name="T52" fmla="*/ 143 w 144"/>
                <a:gd name="T53" fmla="*/ 313 h 329"/>
                <a:gd name="T54" fmla="*/ 143 w 144"/>
                <a:gd name="T55" fmla="*/ 313 h 329"/>
                <a:gd name="T56" fmla="*/ 143 w 144"/>
                <a:gd name="T57" fmla="*/ 313 h 329"/>
                <a:gd name="T58" fmla="*/ 143 w 144"/>
                <a:gd name="T59" fmla="*/ 313 h 329"/>
                <a:gd name="T60" fmla="*/ 143 w 144"/>
                <a:gd name="T61" fmla="*/ 313 h 329"/>
                <a:gd name="T62" fmla="*/ 143 w 144"/>
                <a:gd name="T63" fmla="*/ 313 h 329"/>
                <a:gd name="T64" fmla="*/ 143 w 144"/>
                <a:gd name="T65" fmla="*/ 313 h 329"/>
                <a:gd name="T66" fmla="*/ 143 w 144"/>
                <a:gd name="T67" fmla="*/ 313 h 329"/>
                <a:gd name="T68" fmla="*/ 143 w 144"/>
                <a:gd name="T69" fmla="*/ 313 h 329"/>
                <a:gd name="T70" fmla="*/ 143 w 144"/>
                <a:gd name="T71" fmla="*/ 313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4" h="329">
                  <a:moveTo>
                    <a:pt x="0" y="328"/>
                  </a:moveTo>
                  <a:lnTo>
                    <a:pt x="143" y="313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0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0" name="AutoShape 1032">
              <a:extLst>
                <a:ext uri="{FF2B5EF4-FFF2-40B4-BE49-F238E27FC236}">
                  <a16:creationId xmlns:a16="http://schemas.microsoft.com/office/drawing/2014/main" id="{8743A3E4-227E-423E-8BCB-C282E244E2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731" y="994"/>
              <a:ext cx="26" cy="328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1" name="Freeform 1033">
              <a:extLst>
                <a:ext uri="{FF2B5EF4-FFF2-40B4-BE49-F238E27FC236}">
                  <a16:creationId xmlns:a16="http://schemas.microsoft.com/office/drawing/2014/main" id="{486943AE-1444-41D1-AA9A-F767DBA29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2" y="988"/>
              <a:ext cx="78" cy="351"/>
            </a:xfrm>
            <a:custGeom>
              <a:avLst/>
              <a:gdLst>
                <a:gd name="T0" fmla="*/ 0 w 78"/>
                <a:gd name="T1" fmla="*/ 4 h 351"/>
                <a:gd name="T2" fmla="*/ 12 w 78"/>
                <a:gd name="T3" fmla="*/ 0 h 351"/>
                <a:gd name="T4" fmla="*/ 77 w 78"/>
                <a:gd name="T5" fmla="*/ 4 h 351"/>
                <a:gd name="T6" fmla="*/ 77 w 78"/>
                <a:gd name="T7" fmla="*/ 334 h 351"/>
                <a:gd name="T8" fmla="*/ 13 w 78"/>
                <a:gd name="T9" fmla="*/ 350 h 351"/>
                <a:gd name="T10" fmla="*/ 0 w 78"/>
                <a:gd name="T11" fmla="*/ 342 h 351"/>
                <a:gd name="T12" fmla="*/ 0 w 78"/>
                <a:gd name="T13" fmla="*/ 326 h 351"/>
                <a:gd name="T14" fmla="*/ 13 w 78"/>
                <a:gd name="T15" fmla="*/ 334 h 351"/>
                <a:gd name="T16" fmla="*/ 13 w 78"/>
                <a:gd name="T17" fmla="*/ 9 h 351"/>
                <a:gd name="T18" fmla="*/ 0 w 78"/>
                <a:gd name="T19" fmla="*/ 10 h 351"/>
                <a:gd name="T20" fmla="*/ 0 w 78"/>
                <a:gd name="T21" fmla="*/ 4 h 351"/>
                <a:gd name="T22" fmla="*/ 0 w 78"/>
                <a:gd name="T23" fmla="*/ 4 h 351"/>
                <a:gd name="T24" fmla="*/ 0 w 78"/>
                <a:gd name="T25" fmla="*/ 4 h 351"/>
                <a:gd name="T26" fmla="*/ 0 w 78"/>
                <a:gd name="T27" fmla="*/ 4 h 351"/>
                <a:gd name="T28" fmla="*/ 0 w 78"/>
                <a:gd name="T29" fmla="*/ 4 h 351"/>
                <a:gd name="T30" fmla="*/ 0 w 78"/>
                <a:gd name="T31" fmla="*/ 4 h 351"/>
                <a:gd name="T32" fmla="*/ 0 w 78"/>
                <a:gd name="T33" fmla="*/ 4 h 351"/>
                <a:gd name="T34" fmla="*/ 0 w 78"/>
                <a:gd name="T35" fmla="*/ 4 h 351"/>
                <a:gd name="T36" fmla="*/ 0 w 78"/>
                <a:gd name="T37" fmla="*/ 4 h 351"/>
                <a:gd name="T38" fmla="*/ 0 w 78"/>
                <a:gd name="T39" fmla="*/ 4 h 351"/>
                <a:gd name="T40" fmla="*/ 0 w 78"/>
                <a:gd name="T41" fmla="*/ 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8" h="351">
                  <a:moveTo>
                    <a:pt x="0" y="4"/>
                  </a:moveTo>
                  <a:lnTo>
                    <a:pt x="12" y="0"/>
                  </a:lnTo>
                  <a:lnTo>
                    <a:pt x="77" y="4"/>
                  </a:lnTo>
                  <a:lnTo>
                    <a:pt x="77" y="334"/>
                  </a:lnTo>
                  <a:lnTo>
                    <a:pt x="13" y="350"/>
                  </a:lnTo>
                  <a:lnTo>
                    <a:pt x="0" y="342"/>
                  </a:lnTo>
                  <a:lnTo>
                    <a:pt x="0" y="326"/>
                  </a:lnTo>
                  <a:lnTo>
                    <a:pt x="13" y="334"/>
                  </a:lnTo>
                  <a:lnTo>
                    <a:pt x="13" y="9"/>
                  </a:lnTo>
                  <a:lnTo>
                    <a:pt x="0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</a:path>
              </a:pathLst>
            </a:custGeom>
            <a:gradFill rotWithShape="0">
              <a:gsLst>
                <a:gs pos="0">
                  <a:srgbClr val="727272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F8F8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2" name="Line 1034">
              <a:extLst>
                <a:ext uri="{FF2B5EF4-FFF2-40B4-BE49-F238E27FC236}">
                  <a16:creationId xmlns:a16="http://schemas.microsoft.com/office/drawing/2014/main" id="{EE26C3C4-890E-4A5F-BB81-6ABF54AD15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1" y="994"/>
              <a:ext cx="0" cy="32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303" name="Freeform 1035">
              <a:extLst>
                <a:ext uri="{FF2B5EF4-FFF2-40B4-BE49-F238E27FC236}">
                  <a16:creationId xmlns:a16="http://schemas.microsoft.com/office/drawing/2014/main" id="{453412EA-04F1-4C1A-B2AB-0A39A3697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989"/>
              <a:ext cx="21" cy="350"/>
            </a:xfrm>
            <a:custGeom>
              <a:avLst/>
              <a:gdLst>
                <a:gd name="T0" fmla="*/ 0 w 21"/>
                <a:gd name="T1" fmla="*/ 3 h 350"/>
                <a:gd name="T2" fmla="*/ 13 w 21"/>
                <a:gd name="T3" fmla="*/ 0 h 350"/>
                <a:gd name="T4" fmla="*/ 20 w 21"/>
                <a:gd name="T5" fmla="*/ 0 h 350"/>
                <a:gd name="T6" fmla="*/ 20 w 21"/>
                <a:gd name="T7" fmla="*/ 349 h 350"/>
                <a:gd name="T8" fmla="*/ 13 w 21"/>
                <a:gd name="T9" fmla="*/ 349 h 350"/>
                <a:gd name="T10" fmla="*/ 0 w 21"/>
                <a:gd name="T11" fmla="*/ 341 h 350"/>
                <a:gd name="T12" fmla="*/ 0 w 21"/>
                <a:gd name="T13" fmla="*/ 325 h 350"/>
                <a:gd name="T14" fmla="*/ 14 w 21"/>
                <a:gd name="T15" fmla="*/ 333 h 350"/>
                <a:gd name="T16" fmla="*/ 14 w 21"/>
                <a:gd name="T17" fmla="*/ 6 h 350"/>
                <a:gd name="T18" fmla="*/ 0 w 21"/>
                <a:gd name="T19" fmla="*/ 9 h 350"/>
                <a:gd name="T20" fmla="*/ 0 w 21"/>
                <a:gd name="T21" fmla="*/ 3 h 350"/>
                <a:gd name="T22" fmla="*/ 0 w 21"/>
                <a:gd name="T23" fmla="*/ 3 h 350"/>
                <a:gd name="T24" fmla="*/ 0 w 21"/>
                <a:gd name="T25" fmla="*/ 3 h 350"/>
                <a:gd name="T26" fmla="*/ 0 w 21"/>
                <a:gd name="T27" fmla="*/ 3 h 350"/>
                <a:gd name="T28" fmla="*/ 0 w 21"/>
                <a:gd name="T29" fmla="*/ 3 h 350"/>
                <a:gd name="T30" fmla="*/ 0 w 21"/>
                <a:gd name="T31" fmla="*/ 3 h 350"/>
                <a:gd name="T32" fmla="*/ 0 w 21"/>
                <a:gd name="T33" fmla="*/ 3 h 350"/>
                <a:gd name="T34" fmla="*/ 0 w 21"/>
                <a:gd name="T35" fmla="*/ 3 h 350"/>
                <a:gd name="T36" fmla="*/ 0 w 21"/>
                <a:gd name="T37" fmla="*/ 3 h 350"/>
                <a:gd name="T38" fmla="*/ 0 w 21"/>
                <a:gd name="T39" fmla="*/ 3 h 350"/>
                <a:gd name="T40" fmla="*/ 0 w 21"/>
                <a:gd name="T41" fmla="*/ 3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350">
                  <a:moveTo>
                    <a:pt x="0" y="3"/>
                  </a:moveTo>
                  <a:lnTo>
                    <a:pt x="13" y="0"/>
                  </a:lnTo>
                  <a:lnTo>
                    <a:pt x="20" y="0"/>
                  </a:lnTo>
                  <a:lnTo>
                    <a:pt x="20" y="349"/>
                  </a:lnTo>
                  <a:lnTo>
                    <a:pt x="13" y="349"/>
                  </a:lnTo>
                  <a:lnTo>
                    <a:pt x="0" y="341"/>
                  </a:lnTo>
                  <a:lnTo>
                    <a:pt x="0" y="325"/>
                  </a:lnTo>
                  <a:lnTo>
                    <a:pt x="14" y="333"/>
                  </a:lnTo>
                  <a:lnTo>
                    <a:pt x="14" y="6"/>
                  </a:lnTo>
                  <a:lnTo>
                    <a:pt x="0" y="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8F8F8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304" name="Rectangle 1059">
            <a:extLst>
              <a:ext uri="{FF2B5EF4-FFF2-40B4-BE49-F238E27FC236}">
                <a16:creationId xmlns:a16="http://schemas.microsoft.com/office/drawing/2014/main" id="{448BE3F7-001E-4729-800D-74F961DCA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787" y="4111542"/>
            <a:ext cx="539750" cy="17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359" tIns="31679" rIns="63359" bIns="31679" anchor="ctr"/>
          <a:lstStyle>
            <a:lvl1pPr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17500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6334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9509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266825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17240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1812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26384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0956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700" dirty="0">
                <a:solidFill>
                  <a:srgbClr val="002368"/>
                </a:solidFill>
                <a:latin typeface="다키 L" pitchFamily="2" charset="-127"/>
                <a:ea typeface="다키 L" pitchFamily="2" charset="-127"/>
              </a:rPr>
              <a:t>인증서버</a:t>
            </a:r>
          </a:p>
        </p:txBody>
      </p:sp>
      <p:pic>
        <p:nvPicPr>
          <p:cNvPr id="305" name="Picture 843">
            <a:extLst>
              <a:ext uri="{FF2B5EF4-FFF2-40B4-BE49-F238E27FC236}">
                <a16:creationId xmlns:a16="http://schemas.microsoft.com/office/drawing/2014/main" id="{52F754B3-C3C0-4691-91BF-5DA8EB2C1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385" y="3985619"/>
            <a:ext cx="403417" cy="25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6" name="연결선: 꺾임 305">
            <a:extLst>
              <a:ext uri="{FF2B5EF4-FFF2-40B4-BE49-F238E27FC236}">
                <a16:creationId xmlns:a16="http://schemas.microsoft.com/office/drawing/2014/main" id="{3F48A839-DF1F-4EE8-B86A-18211BE187A1}"/>
              </a:ext>
            </a:extLst>
          </p:cNvPr>
          <p:cNvCxnSpPr>
            <a:cxnSpLocks/>
            <a:stCxn id="305" idx="1"/>
            <a:endCxn id="299" idx="1"/>
          </p:cNvCxnSpPr>
          <p:nvPr/>
        </p:nvCxnSpPr>
        <p:spPr>
          <a:xfrm rot="10800000">
            <a:off x="1070141" y="3904657"/>
            <a:ext cx="882245" cy="210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연결선: 꺾임 306">
            <a:extLst>
              <a:ext uri="{FF2B5EF4-FFF2-40B4-BE49-F238E27FC236}">
                <a16:creationId xmlns:a16="http://schemas.microsoft.com/office/drawing/2014/main" id="{E4FCAECE-C12B-49E1-B138-A3C4BBB06D45}"/>
              </a:ext>
            </a:extLst>
          </p:cNvPr>
          <p:cNvCxnSpPr>
            <a:cxnSpLocks/>
            <a:stCxn id="301" idx="3"/>
            <a:endCxn id="305" idx="2"/>
          </p:cNvCxnSpPr>
          <p:nvPr/>
        </p:nvCxnSpPr>
        <p:spPr>
          <a:xfrm>
            <a:off x="1023290" y="4088813"/>
            <a:ext cx="1130804" cy="156362"/>
          </a:xfrm>
          <a:prstGeom prst="bentConnector4">
            <a:avLst>
              <a:gd name="adj1" fmla="val -912"/>
              <a:gd name="adj2" fmla="val 246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AutoShape 409">
            <a:extLst>
              <a:ext uri="{FF2B5EF4-FFF2-40B4-BE49-F238E27FC236}">
                <a16:creationId xmlns:a16="http://schemas.microsoft.com/office/drawing/2014/main" id="{A5FD3B9A-B7AD-44F0-8697-E3BDC0171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792" y="4296807"/>
            <a:ext cx="478613" cy="139810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sp>
        <p:nvSpPr>
          <p:cNvPr id="309" name="AutoShape 409">
            <a:extLst>
              <a:ext uri="{FF2B5EF4-FFF2-40B4-BE49-F238E27FC236}">
                <a16:creationId xmlns:a16="http://schemas.microsoft.com/office/drawing/2014/main" id="{374F0D23-8768-4339-9C0C-607F3F290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125" y="4523190"/>
            <a:ext cx="611082" cy="130409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latin typeface="다키 L" pitchFamily="2" charset="-127"/>
                <a:ea typeface="다키 L" pitchFamily="2" charset="-127"/>
              </a:rPr>
              <a:t>엔드포인트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10" name="AutoShape 409">
            <a:extLst>
              <a:ext uri="{FF2B5EF4-FFF2-40B4-BE49-F238E27FC236}">
                <a16:creationId xmlns:a16="http://schemas.microsoft.com/office/drawing/2014/main" id="{7E6A27D2-1DB7-404F-BD48-AEF39B1E3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828" y="3765217"/>
            <a:ext cx="335957" cy="140051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sp>
        <p:nvSpPr>
          <p:cNvPr id="311" name="Text Box 46">
            <a:extLst>
              <a:ext uri="{FF2B5EF4-FFF2-40B4-BE49-F238E27FC236}">
                <a16:creationId xmlns:a16="http://schemas.microsoft.com/office/drawing/2014/main" id="{30C6AC8A-CF5A-48A4-A0D6-C61D41C1C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636" y="4654147"/>
            <a:ext cx="8057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엔드포인트에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 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  <a:p>
            <a:pPr algn="l"/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다음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URI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가 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기재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12" name="Text Box 46">
            <a:extLst>
              <a:ext uri="{FF2B5EF4-FFF2-40B4-BE49-F238E27FC236}">
                <a16:creationId xmlns:a16="http://schemas.microsoft.com/office/drawing/2014/main" id="{E9DD221E-6FA9-413A-8BA6-8C1C4C78E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011" y="4891348"/>
            <a:ext cx="18195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https://{compute}/v2/{tenant_id}/xxxx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313" name="연결선: 꺾임 312">
            <a:extLst>
              <a:ext uri="{FF2B5EF4-FFF2-40B4-BE49-F238E27FC236}">
                <a16:creationId xmlns:a16="http://schemas.microsoft.com/office/drawing/2014/main" id="{96DB2436-6DE8-4A9C-915A-B9A4534A169D}"/>
              </a:ext>
            </a:extLst>
          </p:cNvPr>
          <p:cNvCxnSpPr>
            <a:cxnSpLocks/>
            <a:stCxn id="312" idx="0"/>
            <a:endCxn id="309" idx="2"/>
          </p:cNvCxnSpPr>
          <p:nvPr/>
        </p:nvCxnSpPr>
        <p:spPr>
          <a:xfrm rot="16200000" flipV="1">
            <a:off x="1657852" y="4771414"/>
            <a:ext cx="237749" cy="2119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Text Box 46">
            <a:extLst>
              <a:ext uri="{FF2B5EF4-FFF2-40B4-BE49-F238E27FC236}">
                <a16:creationId xmlns:a16="http://schemas.microsoft.com/office/drawing/2014/main" id="{FD2C2A4C-A497-4785-BA92-38485EFCB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91" y="3595879"/>
            <a:ext cx="14059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https://{identity}/v2/tokens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15" name="AutoShape 409">
            <a:extLst>
              <a:ext uri="{FF2B5EF4-FFF2-40B4-BE49-F238E27FC236}">
                <a16:creationId xmlns:a16="http://schemas.microsoft.com/office/drawing/2014/main" id="{73E6D7EA-7A4C-4D5E-98D7-01C966C74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205" y="3758305"/>
            <a:ext cx="726331" cy="122055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계정패스워드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4D047767-D46A-4D6B-A2F0-1F9DF097AE07}"/>
              </a:ext>
            </a:extLst>
          </p:cNvPr>
          <p:cNvSpPr/>
          <p:nvPr/>
        </p:nvSpPr>
        <p:spPr>
          <a:xfrm>
            <a:off x="4395869" y="833742"/>
            <a:ext cx="3601633" cy="1722701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78" name="그림 277">
            <a:extLst>
              <a:ext uri="{FF2B5EF4-FFF2-40B4-BE49-F238E27FC236}">
                <a16:creationId xmlns:a16="http://schemas.microsoft.com/office/drawing/2014/main" id="{449F4863-814D-463D-9F35-1C5CB9399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23" y="860815"/>
            <a:ext cx="355086" cy="210090"/>
          </a:xfrm>
          <a:prstGeom prst="rect">
            <a:avLst/>
          </a:prstGeom>
        </p:spPr>
      </p:pic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A6CF0CA1-3CF7-4D06-9D8D-0FDC10A6AE37}"/>
              </a:ext>
            </a:extLst>
          </p:cNvPr>
          <p:cNvSpPr/>
          <p:nvPr/>
        </p:nvSpPr>
        <p:spPr>
          <a:xfrm>
            <a:off x="4503006" y="854480"/>
            <a:ext cx="12987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 Node [Biz]</a:t>
            </a:r>
          </a:p>
        </p:txBody>
      </p:sp>
      <p:pic>
        <p:nvPicPr>
          <p:cNvPr id="167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DB7DBD75-B05E-4B48-B137-4B92138201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081733" y="853557"/>
            <a:ext cx="834084" cy="1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1C352A78-0F60-4266-9EAE-FD51934D7C95}"/>
              </a:ext>
            </a:extLst>
          </p:cNvPr>
          <p:cNvSpPr/>
          <p:nvPr/>
        </p:nvSpPr>
        <p:spPr>
          <a:xfrm>
            <a:off x="6386288" y="1112460"/>
            <a:ext cx="1529529" cy="1340838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218F1AC4-344D-4E1B-89D0-39D4177E1162}"/>
              </a:ext>
            </a:extLst>
          </p:cNvPr>
          <p:cNvSpPr/>
          <p:nvPr/>
        </p:nvSpPr>
        <p:spPr>
          <a:xfrm>
            <a:off x="6404088" y="1151470"/>
            <a:ext cx="980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서비스 프로세스</a:t>
            </a:r>
            <a:endParaRPr lang="ko-KR" altLang="en-US" dirty="0"/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24E8DDE6-4260-475E-ADE7-0BDBE1CC5281}"/>
              </a:ext>
            </a:extLst>
          </p:cNvPr>
          <p:cNvSpPr/>
          <p:nvPr/>
        </p:nvSpPr>
        <p:spPr>
          <a:xfrm>
            <a:off x="6512766" y="1426578"/>
            <a:ext cx="1265573" cy="24665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Internal Access Layer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348AAE48-4A3D-4BA3-B7C5-F8F4C8B88BF2}"/>
              </a:ext>
            </a:extLst>
          </p:cNvPr>
          <p:cNvSpPr/>
          <p:nvPr/>
        </p:nvSpPr>
        <p:spPr>
          <a:xfrm>
            <a:off x="6514296" y="1728471"/>
            <a:ext cx="1265573" cy="24665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Business Layer</a:t>
            </a: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EB7E4808-B159-4D62-9634-95C178575EF5}"/>
              </a:ext>
            </a:extLst>
          </p:cNvPr>
          <p:cNvSpPr/>
          <p:nvPr/>
        </p:nvSpPr>
        <p:spPr>
          <a:xfrm>
            <a:off x="6522922" y="2030364"/>
            <a:ext cx="1265573" cy="24665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Data Layer</a:t>
            </a: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DD5A52D0-B4AC-4E9F-B1B3-B2338D462479}"/>
              </a:ext>
            </a:extLst>
          </p:cNvPr>
          <p:cNvCxnSpPr>
            <a:cxnSpLocks/>
            <a:stCxn id="273" idx="3"/>
            <a:endCxn id="316" idx="1"/>
          </p:cNvCxnSpPr>
          <p:nvPr/>
        </p:nvCxnSpPr>
        <p:spPr>
          <a:xfrm flipV="1">
            <a:off x="3896748" y="1193814"/>
            <a:ext cx="597542" cy="27941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CD82A95E-680F-4437-932D-78C277C067EC}"/>
              </a:ext>
            </a:extLst>
          </p:cNvPr>
          <p:cNvCxnSpPr>
            <a:cxnSpLocks/>
            <a:stCxn id="273" idx="3"/>
            <a:endCxn id="317" idx="1"/>
          </p:cNvCxnSpPr>
          <p:nvPr/>
        </p:nvCxnSpPr>
        <p:spPr>
          <a:xfrm flipV="1">
            <a:off x="3896748" y="1193814"/>
            <a:ext cx="1403875" cy="27941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사각형: 둥근 모서리 323">
            <a:extLst>
              <a:ext uri="{FF2B5EF4-FFF2-40B4-BE49-F238E27FC236}">
                <a16:creationId xmlns:a16="http://schemas.microsoft.com/office/drawing/2014/main" id="{9EBAA57B-3770-4A83-8FA7-0B35411C1C22}"/>
              </a:ext>
            </a:extLst>
          </p:cNvPr>
          <p:cNvSpPr/>
          <p:nvPr/>
        </p:nvSpPr>
        <p:spPr>
          <a:xfrm>
            <a:off x="5486804" y="1559781"/>
            <a:ext cx="853306" cy="88489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4ADF5E0D-572D-4ADF-95E7-6068CDF65583}"/>
              </a:ext>
            </a:extLst>
          </p:cNvPr>
          <p:cNvSpPr/>
          <p:nvPr/>
        </p:nvSpPr>
        <p:spPr>
          <a:xfrm>
            <a:off x="5537276" y="1589856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AAD6A6E7-B9A2-4413-9697-6CF69DC35772}"/>
              </a:ext>
            </a:extLst>
          </p:cNvPr>
          <p:cNvSpPr/>
          <p:nvPr/>
        </p:nvSpPr>
        <p:spPr>
          <a:xfrm>
            <a:off x="4494289" y="1315192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Docker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16" name="직사각형 315">
            <a:extLst>
              <a:ext uri="{FF2B5EF4-FFF2-40B4-BE49-F238E27FC236}">
                <a16:creationId xmlns:a16="http://schemas.microsoft.com/office/drawing/2014/main" id="{874552D3-4D7D-4A70-9BC2-C434BD33750B}"/>
              </a:ext>
            </a:extLst>
          </p:cNvPr>
          <p:cNvSpPr/>
          <p:nvPr/>
        </p:nvSpPr>
        <p:spPr>
          <a:xfrm>
            <a:off x="4494290" y="1102948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C69FCC33-BF7F-4C33-BCEB-762319E35779}"/>
              </a:ext>
            </a:extLst>
          </p:cNvPr>
          <p:cNvSpPr/>
          <p:nvPr/>
        </p:nvSpPr>
        <p:spPr>
          <a:xfrm>
            <a:off x="5300623" y="1102948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92" name="Text Box 331">
            <a:extLst>
              <a:ext uri="{FF2B5EF4-FFF2-40B4-BE49-F238E27FC236}">
                <a16:creationId xmlns:a16="http://schemas.microsoft.com/office/drawing/2014/main" id="{C8B1919F-96B6-473C-9061-98D0500A7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332" y="3205353"/>
            <a:ext cx="1008758" cy="411234"/>
          </a:xfrm>
          <a:prstGeom prst="rect">
            <a:avLst/>
          </a:prstGeom>
          <a:solidFill>
            <a:schemeClr val="bg1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indent="0" eaLnBrk="0" latinLnBrk="0" hangingPunct="0">
              <a:lnSpc>
                <a:spcPct val="120000"/>
              </a:lnSpc>
            </a:pPr>
            <a:endParaRPr lang="ko-KR" altLang="en-US" sz="700" dirty="0">
              <a:latin typeface="휴먼새내기체" pitchFamily="18" charset="-127"/>
              <a:ea typeface="휴먼새내기체" pitchFamily="18" charset="-127"/>
            </a:endParaRPr>
          </a:p>
        </p:txBody>
      </p:sp>
      <p:sp>
        <p:nvSpPr>
          <p:cNvPr id="193" name="Text Box 332">
            <a:extLst>
              <a:ext uri="{FF2B5EF4-FFF2-40B4-BE49-F238E27FC236}">
                <a16:creationId xmlns:a16="http://schemas.microsoft.com/office/drawing/2014/main" id="{7691C9D3-FB68-4CCF-9F0E-D2FDB699A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409" y="3033110"/>
            <a:ext cx="1008758" cy="168275"/>
          </a:xfrm>
          <a:prstGeom prst="rect">
            <a:avLst/>
          </a:prstGeom>
          <a:solidFill>
            <a:srgbClr val="CCECFF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>
              <a:buFont typeface="Wingdings" panose="05000000000000000000" pitchFamily="2" charset="2"/>
              <a:buNone/>
            </a:pPr>
            <a:r>
              <a:rPr lang="en-US" altLang="ko-KR" sz="700" b="1" dirty="0">
                <a:latin typeface="휴먼새내기체" pitchFamily="18" charset="-127"/>
                <a:ea typeface="휴먼새내기체" pitchFamily="18" charset="-127"/>
              </a:rPr>
              <a:t>INGRESS</a:t>
            </a:r>
          </a:p>
        </p:txBody>
      </p:sp>
      <p:pic>
        <p:nvPicPr>
          <p:cNvPr id="202" name="그림 201">
            <a:extLst>
              <a:ext uri="{FF2B5EF4-FFF2-40B4-BE49-F238E27FC236}">
                <a16:creationId xmlns:a16="http://schemas.microsoft.com/office/drawing/2014/main" id="{389662A9-A6EC-4CE5-A6B1-4B1C9F99FB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26" y="3028778"/>
            <a:ext cx="177759" cy="177759"/>
          </a:xfrm>
          <a:prstGeom prst="rect">
            <a:avLst/>
          </a:prstGeom>
        </p:spPr>
      </p:pic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21FB71D-08E8-40A1-AF2A-F6F05B3EC7D1}"/>
              </a:ext>
            </a:extLst>
          </p:cNvPr>
          <p:cNvSpPr/>
          <p:nvPr/>
        </p:nvSpPr>
        <p:spPr>
          <a:xfrm>
            <a:off x="2892583" y="4515066"/>
            <a:ext cx="1192828" cy="57199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AutoShape 48">
            <a:extLst>
              <a:ext uri="{FF2B5EF4-FFF2-40B4-BE49-F238E27FC236}">
                <a16:creationId xmlns:a16="http://schemas.microsoft.com/office/drawing/2014/main" id="{F34C23FF-6B13-49A1-8FDE-FD8D9988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110" y="4712464"/>
            <a:ext cx="914729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Task Queues </a:t>
            </a: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C50E0514-1FD9-4827-953C-DA56CF2F66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979" y="4748867"/>
            <a:ext cx="206788" cy="219947"/>
          </a:xfrm>
          <a:prstGeom prst="rect">
            <a:avLst/>
          </a:prstGeom>
        </p:spPr>
      </p:pic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79D4F72B-F4E5-42E4-8050-0AF0BEB7A21C}"/>
              </a:ext>
            </a:extLst>
          </p:cNvPr>
          <p:cNvSpPr/>
          <p:nvPr/>
        </p:nvSpPr>
        <p:spPr>
          <a:xfrm>
            <a:off x="2880017" y="4508767"/>
            <a:ext cx="112414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Message Queue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677E56AD-7860-41D4-B56C-8481EF83A82C}"/>
              </a:ext>
            </a:extLst>
          </p:cNvPr>
          <p:cNvSpPr/>
          <p:nvPr/>
        </p:nvSpPr>
        <p:spPr>
          <a:xfrm>
            <a:off x="3000163" y="3252088"/>
            <a:ext cx="884960" cy="296316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    Spring Cloud Gateway </a:t>
            </a:r>
          </a:p>
        </p:txBody>
      </p:sp>
      <p:pic>
        <p:nvPicPr>
          <p:cNvPr id="208" name="그림 207">
            <a:extLst>
              <a:ext uri="{FF2B5EF4-FFF2-40B4-BE49-F238E27FC236}">
                <a16:creationId xmlns:a16="http://schemas.microsoft.com/office/drawing/2014/main" id="{7ECA2947-A57D-46A8-B22A-11542676C76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65" y="3253535"/>
            <a:ext cx="197788" cy="131056"/>
          </a:xfrm>
          <a:prstGeom prst="rect">
            <a:avLst/>
          </a:prstGeom>
        </p:spPr>
      </p:pic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D37308A-2F27-4E5F-ABA8-78A366D03BFD}"/>
              </a:ext>
            </a:extLst>
          </p:cNvPr>
          <p:cNvCxnSpPr>
            <a:cxnSpLocks/>
            <a:stCxn id="305" idx="0"/>
            <a:endCxn id="207" idx="1"/>
          </p:cNvCxnSpPr>
          <p:nvPr/>
        </p:nvCxnSpPr>
        <p:spPr>
          <a:xfrm rot="5400000" flipH="1" flipV="1">
            <a:off x="2284442" y="3269899"/>
            <a:ext cx="585373" cy="8460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DCD5D72E-2610-4C29-8D00-8305922DB04A}"/>
              </a:ext>
            </a:extLst>
          </p:cNvPr>
          <p:cNvCxnSpPr>
            <a:cxnSpLocks/>
            <a:stCxn id="207" idx="3"/>
            <a:endCxn id="318" idx="1"/>
          </p:cNvCxnSpPr>
          <p:nvPr/>
        </p:nvCxnSpPr>
        <p:spPr>
          <a:xfrm flipV="1">
            <a:off x="3885123" y="1999536"/>
            <a:ext cx="626561" cy="14007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D0FF5888-2374-4EB6-A3E3-CECCCCF435DA}"/>
              </a:ext>
            </a:extLst>
          </p:cNvPr>
          <p:cNvCxnSpPr>
            <a:cxnSpLocks/>
            <a:stCxn id="207" idx="3"/>
            <a:endCxn id="324" idx="1"/>
          </p:cNvCxnSpPr>
          <p:nvPr/>
        </p:nvCxnSpPr>
        <p:spPr>
          <a:xfrm flipV="1">
            <a:off x="3885123" y="2002227"/>
            <a:ext cx="1601681" cy="13980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사각형: 둥근 모서리 317">
            <a:extLst>
              <a:ext uri="{FF2B5EF4-FFF2-40B4-BE49-F238E27FC236}">
                <a16:creationId xmlns:a16="http://schemas.microsoft.com/office/drawing/2014/main" id="{F0FA4CE5-50CB-4CC6-920C-8FBF633C0BB2}"/>
              </a:ext>
            </a:extLst>
          </p:cNvPr>
          <p:cNvSpPr/>
          <p:nvPr/>
        </p:nvSpPr>
        <p:spPr>
          <a:xfrm>
            <a:off x="4511684" y="1563025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F4763779-0387-430C-8D4C-4E00F16F2BE5}"/>
              </a:ext>
            </a:extLst>
          </p:cNvPr>
          <p:cNvSpPr/>
          <p:nvPr/>
        </p:nvSpPr>
        <p:spPr>
          <a:xfrm>
            <a:off x="4559451" y="1590688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FF03D3F6-1313-4B2E-A391-6F17E65937AC}"/>
              </a:ext>
            </a:extLst>
          </p:cNvPr>
          <p:cNvCxnSpPr>
            <a:cxnSpLocks/>
            <a:stCxn id="161" idx="2"/>
            <a:endCxn id="125" idx="3"/>
          </p:cNvCxnSpPr>
          <p:nvPr/>
        </p:nvCxnSpPr>
        <p:spPr>
          <a:xfrm rot="5400000">
            <a:off x="5246133" y="4778811"/>
            <a:ext cx="614145" cy="1277111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B44C323C-2851-4628-A90D-418E8DF29930}"/>
              </a:ext>
            </a:extLst>
          </p:cNvPr>
          <p:cNvCxnSpPr>
            <a:cxnSpLocks/>
            <a:stCxn id="277" idx="2"/>
            <a:endCxn id="125" idx="3"/>
          </p:cNvCxnSpPr>
          <p:nvPr/>
        </p:nvCxnSpPr>
        <p:spPr>
          <a:xfrm rot="5400000">
            <a:off x="3971670" y="3499423"/>
            <a:ext cx="3167996" cy="1282037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0A2BB26E-4705-41FB-B3D5-587B7120D411}"/>
              </a:ext>
            </a:extLst>
          </p:cNvPr>
          <p:cNvSpPr/>
          <p:nvPr/>
        </p:nvSpPr>
        <p:spPr>
          <a:xfrm>
            <a:off x="4390943" y="3456278"/>
            <a:ext cx="3601633" cy="16540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62" name="그림 161">
            <a:extLst>
              <a:ext uri="{FF2B5EF4-FFF2-40B4-BE49-F238E27FC236}">
                <a16:creationId xmlns:a16="http://schemas.microsoft.com/office/drawing/2014/main" id="{15483528-E993-4A4F-953E-B947DBFDD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404" y="3480064"/>
            <a:ext cx="355086" cy="210090"/>
          </a:xfrm>
          <a:prstGeom prst="rect">
            <a:avLst/>
          </a:prstGeom>
        </p:spPr>
      </p:pic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67B3B64F-F842-40D7-9803-B2D1471A9639}"/>
              </a:ext>
            </a:extLst>
          </p:cNvPr>
          <p:cNvSpPr/>
          <p:nvPr/>
        </p:nvSpPr>
        <p:spPr>
          <a:xfrm>
            <a:off x="5478178" y="4171411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68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64224858-0649-4D98-A5B5-41929E649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124590" y="3480065"/>
            <a:ext cx="783418" cy="17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9C786FD5-D282-47AE-9EC7-40F7B4A36191}"/>
              </a:ext>
            </a:extLst>
          </p:cNvPr>
          <p:cNvSpPr/>
          <p:nvPr/>
        </p:nvSpPr>
        <p:spPr>
          <a:xfrm>
            <a:off x="5291996" y="3722920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AF254E2B-B72E-4D29-9E9B-18C8FC40435E}"/>
              </a:ext>
            </a:extLst>
          </p:cNvPr>
          <p:cNvSpPr/>
          <p:nvPr/>
        </p:nvSpPr>
        <p:spPr>
          <a:xfrm>
            <a:off x="4494288" y="3935164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Docker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D2B114CF-FC46-4344-8A3E-4EA0D1F861C7}"/>
              </a:ext>
            </a:extLst>
          </p:cNvPr>
          <p:cNvSpPr/>
          <p:nvPr/>
        </p:nvSpPr>
        <p:spPr>
          <a:xfrm>
            <a:off x="5525619" y="4202307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0B11D7DE-DA0F-4994-8E9D-3D83A54880D3}"/>
              </a:ext>
            </a:extLst>
          </p:cNvPr>
          <p:cNvSpPr/>
          <p:nvPr/>
        </p:nvSpPr>
        <p:spPr>
          <a:xfrm>
            <a:off x="6392704" y="3732680"/>
            <a:ext cx="1523113" cy="1311753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2693913B-F548-4971-89FB-881DC1F735A2}"/>
              </a:ext>
            </a:extLst>
          </p:cNvPr>
          <p:cNvSpPr/>
          <p:nvPr/>
        </p:nvSpPr>
        <p:spPr>
          <a:xfrm>
            <a:off x="6533533" y="4336635"/>
            <a:ext cx="1272511" cy="263994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Data Layer</a:t>
            </a: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8F725228-059F-4CB7-B76D-1AAA860B0858}"/>
              </a:ext>
            </a:extLst>
          </p:cNvPr>
          <p:cNvSpPr/>
          <p:nvPr/>
        </p:nvSpPr>
        <p:spPr>
          <a:xfrm>
            <a:off x="6533533" y="4020955"/>
            <a:ext cx="1272511" cy="263994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Business Layer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079100D9-5798-4FE7-9AAA-153EF1B04304}"/>
              </a:ext>
            </a:extLst>
          </p:cNvPr>
          <p:cNvSpPr/>
          <p:nvPr/>
        </p:nvSpPr>
        <p:spPr>
          <a:xfrm>
            <a:off x="6363278" y="3765217"/>
            <a:ext cx="14062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인터페이스 프로세스</a:t>
            </a:r>
            <a:endParaRPr lang="ko-KR" altLang="en-US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6C5EC05C-7AD1-47AD-A0F6-93F8B8A495C6}"/>
              </a:ext>
            </a:extLst>
          </p:cNvPr>
          <p:cNvSpPr/>
          <p:nvPr/>
        </p:nvSpPr>
        <p:spPr>
          <a:xfrm>
            <a:off x="4503006" y="3481832"/>
            <a:ext cx="1604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[Interface]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5319F1C-9B44-4F8B-9A13-53C6C539ED61}"/>
              </a:ext>
            </a:extLst>
          </p:cNvPr>
          <p:cNvCxnSpPr>
            <a:cxnSpLocks/>
            <a:stCxn id="62" idx="3"/>
            <a:endCxn id="276" idx="2"/>
          </p:cNvCxnSpPr>
          <p:nvPr/>
        </p:nvCxnSpPr>
        <p:spPr>
          <a:xfrm flipV="1">
            <a:off x="3220050" y="2421633"/>
            <a:ext cx="230215" cy="3534550"/>
          </a:xfrm>
          <a:prstGeom prst="bentConnector2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CFE55801-CE50-490B-B90B-F71A6302F702}"/>
              </a:ext>
            </a:extLst>
          </p:cNvPr>
          <p:cNvCxnSpPr>
            <a:cxnSpLocks/>
            <a:stCxn id="207" idx="3"/>
            <a:endCxn id="164" idx="1"/>
          </p:cNvCxnSpPr>
          <p:nvPr/>
        </p:nvCxnSpPr>
        <p:spPr>
          <a:xfrm>
            <a:off x="3885123" y="3400246"/>
            <a:ext cx="609309" cy="1210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5F807275-4198-46EA-BEBF-7CDD087ED1E1}"/>
              </a:ext>
            </a:extLst>
          </p:cNvPr>
          <p:cNvCxnSpPr>
            <a:cxnSpLocks/>
            <a:stCxn id="207" idx="3"/>
            <a:endCxn id="165" idx="1"/>
          </p:cNvCxnSpPr>
          <p:nvPr/>
        </p:nvCxnSpPr>
        <p:spPr>
          <a:xfrm>
            <a:off x="3885123" y="3400246"/>
            <a:ext cx="1593055" cy="12076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98A6278-6592-43DE-885B-3EC3E71237A6}"/>
              </a:ext>
            </a:extLst>
          </p:cNvPr>
          <p:cNvSpPr/>
          <p:nvPr/>
        </p:nvSpPr>
        <p:spPr>
          <a:xfrm>
            <a:off x="4494432" y="4174655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CFA66745-7145-4BB0-BBA8-9EDB0F08863A}"/>
              </a:ext>
            </a:extLst>
          </p:cNvPr>
          <p:cNvSpPr/>
          <p:nvPr/>
        </p:nvSpPr>
        <p:spPr>
          <a:xfrm>
            <a:off x="4547046" y="4209480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264" name="연결선: 꺾임 263">
            <a:extLst>
              <a:ext uri="{FF2B5EF4-FFF2-40B4-BE49-F238E27FC236}">
                <a16:creationId xmlns:a16="http://schemas.microsoft.com/office/drawing/2014/main" id="{D978C3B8-2F1C-46A6-91DB-8A81CEBED377}"/>
              </a:ext>
            </a:extLst>
          </p:cNvPr>
          <p:cNvCxnSpPr>
            <a:cxnSpLocks/>
            <a:stCxn id="414" idx="1"/>
            <a:endCxn id="205" idx="2"/>
          </p:cNvCxnSpPr>
          <p:nvPr/>
        </p:nvCxnSpPr>
        <p:spPr>
          <a:xfrm rot="10800000" flipV="1">
            <a:off x="3902373" y="3054154"/>
            <a:ext cx="4602668" cy="1914660"/>
          </a:xfrm>
          <a:prstGeom prst="bentConnector4">
            <a:avLst>
              <a:gd name="adj1" fmla="val 4646"/>
              <a:gd name="adj2" fmla="val 111939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연결선: 꺾임 318">
            <a:extLst>
              <a:ext uri="{FF2B5EF4-FFF2-40B4-BE49-F238E27FC236}">
                <a16:creationId xmlns:a16="http://schemas.microsoft.com/office/drawing/2014/main" id="{F517E04D-BFF8-4399-B9EE-2D38D87D00F6}"/>
              </a:ext>
            </a:extLst>
          </p:cNvPr>
          <p:cNvCxnSpPr>
            <a:cxnSpLocks/>
            <a:stCxn id="414" idx="1"/>
            <a:endCxn id="205" idx="2"/>
          </p:cNvCxnSpPr>
          <p:nvPr/>
        </p:nvCxnSpPr>
        <p:spPr>
          <a:xfrm rot="10800000" flipV="1">
            <a:off x="3902373" y="3054154"/>
            <a:ext cx="4602668" cy="1914660"/>
          </a:xfrm>
          <a:prstGeom prst="bentConnector4">
            <a:avLst>
              <a:gd name="adj1" fmla="val 4458"/>
              <a:gd name="adj2" fmla="val 111939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연결선: 꺾임 319">
            <a:extLst>
              <a:ext uri="{FF2B5EF4-FFF2-40B4-BE49-F238E27FC236}">
                <a16:creationId xmlns:a16="http://schemas.microsoft.com/office/drawing/2014/main" id="{350362D0-EDC1-4ADC-AF17-C4D18988AF96}"/>
              </a:ext>
            </a:extLst>
          </p:cNvPr>
          <p:cNvCxnSpPr>
            <a:cxnSpLocks/>
            <a:stCxn id="193" idx="3"/>
            <a:endCxn id="205" idx="3"/>
          </p:cNvCxnSpPr>
          <p:nvPr/>
        </p:nvCxnSpPr>
        <p:spPr>
          <a:xfrm>
            <a:off x="3961167" y="3117248"/>
            <a:ext cx="44600" cy="1741593"/>
          </a:xfrm>
          <a:prstGeom prst="bentConnector3">
            <a:avLst>
              <a:gd name="adj1" fmla="val 612556"/>
            </a:avLst>
          </a:prstGeom>
          <a:ln w="28575">
            <a:solidFill>
              <a:schemeClr val="accent2"/>
            </a:solidFill>
            <a:prstDash val="lgDashDot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326033AC-1472-4765-92D5-71F94E799EEC}"/>
              </a:ext>
            </a:extLst>
          </p:cNvPr>
          <p:cNvSpPr/>
          <p:nvPr/>
        </p:nvSpPr>
        <p:spPr>
          <a:xfrm>
            <a:off x="4538084" y="1944461"/>
            <a:ext cx="762538" cy="171120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매입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49" name="사각형: 둥근 모서리 348">
            <a:extLst>
              <a:ext uri="{FF2B5EF4-FFF2-40B4-BE49-F238E27FC236}">
                <a16:creationId xmlns:a16="http://schemas.microsoft.com/office/drawing/2014/main" id="{F8DD72C6-C348-4946-A9EA-54011ED7B56E}"/>
              </a:ext>
            </a:extLst>
          </p:cNvPr>
          <p:cNvSpPr/>
          <p:nvPr/>
        </p:nvSpPr>
        <p:spPr>
          <a:xfrm>
            <a:off x="4543070" y="2170237"/>
            <a:ext cx="710557" cy="16933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매출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350" name="그룹 349">
            <a:extLst>
              <a:ext uri="{FF2B5EF4-FFF2-40B4-BE49-F238E27FC236}">
                <a16:creationId xmlns:a16="http://schemas.microsoft.com/office/drawing/2014/main" id="{12A463E4-603B-4D66-88D4-01162B85B70B}"/>
              </a:ext>
            </a:extLst>
          </p:cNvPr>
          <p:cNvGrpSpPr/>
          <p:nvPr/>
        </p:nvGrpSpPr>
        <p:grpSpPr>
          <a:xfrm>
            <a:off x="5120923" y="1929840"/>
            <a:ext cx="205187" cy="198343"/>
            <a:chOff x="5213886" y="1690790"/>
            <a:chExt cx="205187" cy="198343"/>
          </a:xfrm>
        </p:grpSpPr>
        <p:sp>
          <p:nvSpPr>
            <p:cNvPr id="351" name="Oval 159">
              <a:extLst>
                <a:ext uri="{FF2B5EF4-FFF2-40B4-BE49-F238E27FC236}">
                  <a16:creationId xmlns:a16="http://schemas.microsoft.com/office/drawing/2014/main" id="{25CB4591-668D-4647-9E15-4EFF2485DB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52" name="그림 351">
              <a:extLst>
                <a:ext uri="{FF2B5EF4-FFF2-40B4-BE49-F238E27FC236}">
                  <a16:creationId xmlns:a16="http://schemas.microsoft.com/office/drawing/2014/main" id="{2CE9DCDB-91B1-4DEC-A0A8-AF4789F6C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F03866B6-13A1-4F11-9626-0B5E84359BB3}"/>
              </a:ext>
            </a:extLst>
          </p:cNvPr>
          <p:cNvGrpSpPr/>
          <p:nvPr/>
        </p:nvGrpSpPr>
        <p:grpSpPr>
          <a:xfrm>
            <a:off x="5125909" y="2162744"/>
            <a:ext cx="205187" cy="198343"/>
            <a:chOff x="5213886" y="1690790"/>
            <a:chExt cx="205187" cy="198343"/>
          </a:xfrm>
        </p:grpSpPr>
        <p:sp>
          <p:nvSpPr>
            <p:cNvPr id="354" name="Oval 159">
              <a:extLst>
                <a:ext uri="{FF2B5EF4-FFF2-40B4-BE49-F238E27FC236}">
                  <a16:creationId xmlns:a16="http://schemas.microsoft.com/office/drawing/2014/main" id="{A2A5EA08-B48C-4501-867D-8A98DB065A9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55" name="그림 354">
              <a:extLst>
                <a:ext uri="{FF2B5EF4-FFF2-40B4-BE49-F238E27FC236}">
                  <a16:creationId xmlns:a16="http://schemas.microsoft.com/office/drawing/2014/main" id="{F82A7F15-B1FA-4D89-98BC-F034193A7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356" name="사각형: 둥근 모서리 355">
            <a:extLst>
              <a:ext uri="{FF2B5EF4-FFF2-40B4-BE49-F238E27FC236}">
                <a16:creationId xmlns:a16="http://schemas.microsoft.com/office/drawing/2014/main" id="{0444ADA5-696F-4DFE-A131-32F0E0E468F0}"/>
              </a:ext>
            </a:extLst>
          </p:cNvPr>
          <p:cNvSpPr/>
          <p:nvPr/>
        </p:nvSpPr>
        <p:spPr>
          <a:xfrm>
            <a:off x="5537425" y="1926884"/>
            <a:ext cx="758274" cy="180312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 보안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357" name="그룹 356">
            <a:extLst>
              <a:ext uri="{FF2B5EF4-FFF2-40B4-BE49-F238E27FC236}">
                <a16:creationId xmlns:a16="http://schemas.microsoft.com/office/drawing/2014/main" id="{C94BD38B-B0E0-4336-95D6-3734BF016E9B}"/>
              </a:ext>
            </a:extLst>
          </p:cNvPr>
          <p:cNvGrpSpPr/>
          <p:nvPr/>
        </p:nvGrpSpPr>
        <p:grpSpPr>
          <a:xfrm>
            <a:off x="6103016" y="1910765"/>
            <a:ext cx="205187" cy="198343"/>
            <a:chOff x="5213886" y="1690790"/>
            <a:chExt cx="205187" cy="198343"/>
          </a:xfrm>
        </p:grpSpPr>
        <p:sp>
          <p:nvSpPr>
            <p:cNvPr id="358" name="Oval 159">
              <a:extLst>
                <a:ext uri="{FF2B5EF4-FFF2-40B4-BE49-F238E27FC236}">
                  <a16:creationId xmlns:a16="http://schemas.microsoft.com/office/drawing/2014/main" id="{FEA9BA3A-8E7B-4C6F-8F7B-2EAF4F42462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59" name="그림 358">
              <a:extLst>
                <a:ext uri="{FF2B5EF4-FFF2-40B4-BE49-F238E27FC236}">
                  <a16:creationId xmlns:a16="http://schemas.microsoft.com/office/drawing/2014/main" id="{0C46257F-C041-478E-A035-C1587F9A3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360" name="사각형: 둥근 모서리 359">
            <a:extLst>
              <a:ext uri="{FF2B5EF4-FFF2-40B4-BE49-F238E27FC236}">
                <a16:creationId xmlns:a16="http://schemas.microsoft.com/office/drawing/2014/main" id="{F83CA05C-10E7-4FE9-AEDE-222C834FCC1D}"/>
              </a:ext>
            </a:extLst>
          </p:cNvPr>
          <p:cNvSpPr/>
          <p:nvPr/>
        </p:nvSpPr>
        <p:spPr>
          <a:xfrm>
            <a:off x="5530967" y="2168549"/>
            <a:ext cx="764732" cy="162924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다우연계서비스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927A245A-5998-43B1-B356-6235802A4A89}"/>
              </a:ext>
            </a:extLst>
          </p:cNvPr>
          <p:cNvGrpSpPr/>
          <p:nvPr/>
        </p:nvGrpSpPr>
        <p:grpSpPr>
          <a:xfrm>
            <a:off x="6087932" y="2143804"/>
            <a:ext cx="205187" cy="198343"/>
            <a:chOff x="5213886" y="1690790"/>
            <a:chExt cx="205187" cy="198343"/>
          </a:xfrm>
        </p:grpSpPr>
        <p:sp>
          <p:nvSpPr>
            <p:cNvPr id="362" name="Oval 159">
              <a:extLst>
                <a:ext uri="{FF2B5EF4-FFF2-40B4-BE49-F238E27FC236}">
                  <a16:creationId xmlns:a16="http://schemas.microsoft.com/office/drawing/2014/main" id="{7DDA98AF-E5B4-47F9-BD48-2577AD2BF6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63" name="그림 362">
              <a:extLst>
                <a:ext uri="{FF2B5EF4-FFF2-40B4-BE49-F238E27FC236}">
                  <a16:creationId xmlns:a16="http://schemas.microsoft.com/office/drawing/2014/main" id="{39B77C38-5F40-407A-BB09-9FEB96C7E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369" name="사각형: 둥근 모서리 368">
            <a:extLst>
              <a:ext uri="{FF2B5EF4-FFF2-40B4-BE49-F238E27FC236}">
                <a16:creationId xmlns:a16="http://schemas.microsoft.com/office/drawing/2014/main" id="{2834E7D1-56B0-4494-B037-59D5AC209C6B}"/>
              </a:ext>
            </a:extLst>
          </p:cNvPr>
          <p:cNvSpPr/>
          <p:nvPr/>
        </p:nvSpPr>
        <p:spPr>
          <a:xfrm>
            <a:off x="5509057" y="4614681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카드연계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B08189A3-F5B9-4597-B003-34605EA677AD}"/>
              </a:ext>
            </a:extLst>
          </p:cNvPr>
          <p:cNvGrpSpPr/>
          <p:nvPr/>
        </p:nvGrpSpPr>
        <p:grpSpPr>
          <a:xfrm>
            <a:off x="6096480" y="4602749"/>
            <a:ext cx="205187" cy="198343"/>
            <a:chOff x="5213886" y="1690790"/>
            <a:chExt cx="205187" cy="198343"/>
          </a:xfrm>
        </p:grpSpPr>
        <p:sp>
          <p:nvSpPr>
            <p:cNvPr id="371" name="Oval 159">
              <a:extLst>
                <a:ext uri="{FF2B5EF4-FFF2-40B4-BE49-F238E27FC236}">
                  <a16:creationId xmlns:a16="http://schemas.microsoft.com/office/drawing/2014/main" id="{A0DD7B9A-8D31-4980-AD83-09F918FC98C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72" name="그림 371">
              <a:extLst>
                <a:ext uri="{FF2B5EF4-FFF2-40B4-BE49-F238E27FC236}">
                  <a16:creationId xmlns:a16="http://schemas.microsoft.com/office/drawing/2014/main" id="{3BAE0739-B7AC-4DD1-B46C-548E112D5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376" name="사각형: 둥근 모서리 375">
            <a:extLst>
              <a:ext uri="{FF2B5EF4-FFF2-40B4-BE49-F238E27FC236}">
                <a16:creationId xmlns:a16="http://schemas.microsoft.com/office/drawing/2014/main" id="{5F799E7C-F01E-49CE-927A-46E6D14F8FA1}"/>
              </a:ext>
            </a:extLst>
          </p:cNvPr>
          <p:cNvSpPr/>
          <p:nvPr/>
        </p:nvSpPr>
        <p:spPr>
          <a:xfrm>
            <a:off x="4515980" y="4540726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국세청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1A0CD727-B4C2-4F9E-8E41-919EBB095105}"/>
              </a:ext>
            </a:extLst>
          </p:cNvPr>
          <p:cNvSpPr/>
          <p:nvPr/>
        </p:nvSpPr>
        <p:spPr>
          <a:xfrm>
            <a:off x="4513128" y="4788974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4</a:t>
            </a:r>
            <a:r>
              <a:rPr lang="ko-KR" altLang="en-US" sz="700" b="1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대보험</a:t>
            </a: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378" name="그룹 377">
            <a:extLst>
              <a:ext uri="{FF2B5EF4-FFF2-40B4-BE49-F238E27FC236}">
                <a16:creationId xmlns:a16="http://schemas.microsoft.com/office/drawing/2014/main" id="{028542EE-5DDF-4E8C-B16A-CCA507F031CD}"/>
              </a:ext>
            </a:extLst>
          </p:cNvPr>
          <p:cNvGrpSpPr/>
          <p:nvPr/>
        </p:nvGrpSpPr>
        <p:grpSpPr>
          <a:xfrm>
            <a:off x="5109177" y="4777042"/>
            <a:ext cx="205187" cy="198343"/>
            <a:chOff x="5213886" y="1690790"/>
            <a:chExt cx="205187" cy="198343"/>
          </a:xfrm>
        </p:grpSpPr>
        <p:sp>
          <p:nvSpPr>
            <p:cNvPr id="379" name="Oval 159">
              <a:extLst>
                <a:ext uri="{FF2B5EF4-FFF2-40B4-BE49-F238E27FC236}">
                  <a16:creationId xmlns:a16="http://schemas.microsoft.com/office/drawing/2014/main" id="{EB71EBD3-65FF-423B-9717-F4F3533E3A7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80" name="그림 379">
              <a:extLst>
                <a:ext uri="{FF2B5EF4-FFF2-40B4-BE49-F238E27FC236}">
                  <a16:creationId xmlns:a16="http://schemas.microsoft.com/office/drawing/2014/main" id="{6A032153-610A-47A5-ADC6-8ECBF9B4E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B1DFBD90-3DE7-48D0-A789-A4CC84EF2185}"/>
              </a:ext>
            </a:extLst>
          </p:cNvPr>
          <p:cNvGrpSpPr/>
          <p:nvPr/>
        </p:nvGrpSpPr>
        <p:grpSpPr>
          <a:xfrm>
            <a:off x="5120354" y="4534853"/>
            <a:ext cx="205187" cy="198343"/>
            <a:chOff x="5213886" y="1690790"/>
            <a:chExt cx="205187" cy="198343"/>
          </a:xfrm>
        </p:grpSpPr>
        <p:sp>
          <p:nvSpPr>
            <p:cNvPr id="382" name="Oval 159">
              <a:extLst>
                <a:ext uri="{FF2B5EF4-FFF2-40B4-BE49-F238E27FC236}">
                  <a16:creationId xmlns:a16="http://schemas.microsoft.com/office/drawing/2014/main" id="{1A22AE18-0B26-4DEF-8E64-C9EEEADC75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83" name="그림 382">
              <a:extLst>
                <a:ext uri="{FF2B5EF4-FFF2-40B4-BE49-F238E27FC236}">
                  <a16:creationId xmlns:a16="http://schemas.microsoft.com/office/drawing/2014/main" id="{B5472357-AF49-46CE-B873-BA64B80C4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384" name="사각형: 둥근 모서리 383">
            <a:extLst>
              <a:ext uri="{FF2B5EF4-FFF2-40B4-BE49-F238E27FC236}">
                <a16:creationId xmlns:a16="http://schemas.microsoft.com/office/drawing/2014/main" id="{2A18DEF8-57E1-472C-8B7F-B42F53177465}"/>
              </a:ext>
            </a:extLst>
          </p:cNvPr>
          <p:cNvSpPr/>
          <p:nvPr/>
        </p:nvSpPr>
        <p:spPr>
          <a:xfrm>
            <a:off x="4927551" y="4346248"/>
            <a:ext cx="1007391" cy="14766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85" name="사각형: 둥근 모서리 384">
            <a:extLst>
              <a:ext uri="{FF2B5EF4-FFF2-40B4-BE49-F238E27FC236}">
                <a16:creationId xmlns:a16="http://schemas.microsoft.com/office/drawing/2014/main" id="{B1787088-4F35-429D-A9F6-39693DF8FC25}"/>
              </a:ext>
            </a:extLst>
          </p:cNvPr>
          <p:cNvSpPr/>
          <p:nvPr/>
        </p:nvSpPr>
        <p:spPr>
          <a:xfrm>
            <a:off x="4933056" y="1738585"/>
            <a:ext cx="1007391" cy="14766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237" name="연결선: 꺾임 236">
            <a:extLst>
              <a:ext uri="{FF2B5EF4-FFF2-40B4-BE49-F238E27FC236}">
                <a16:creationId xmlns:a16="http://schemas.microsoft.com/office/drawing/2014/main" id="{492D4BF5-0B9B-4B1D-89CC-5F99DE1172E8}"/>
              </a:ext>
            </a:extLst>
          </p:cNvPr>
          <p:cNvCxnSpPr>
            <a:stCxn id="174" idx="2"/>
            <a:endCxn id="384" idx="0"/>
          </p:cNvCxnSpPr>
          <p:nvPr/>
        </p:nvCxnSpPr>
        <p:spPr>
          <a:xfrm rot="16200000" flipH="1">
            <a:off x="5214355" y="4129355"/>
            <a:ext cx="268277" cy="165507"/>
          </a:xfrm>
          <a:prstGeom prst="bentConnector3">
            <a:avLst>
              <a:gd name="adj1" fmla="val 178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연결선: 꺾임 239">
            <a:extLst>
              <a:ext uri="{FF2B5EF4-FFF2-40B4-BE49-F238E27FC236}">
                <a16:creationId xmlns:a16="http://schemas.microsoft.com/office/drawing/2014/main" id="{360E9B13-54AB-4D8E-9B46-7DD7D5E0CA14}"/>
              </a:ext>
            </a:extLst>
          </p:cNvPr>
          <p:cNvCxnSpPr>
            <a:stCxn id="169" idx="2"/>
            <a:endCxn id="385" idx="0"/>
          </p:cNvCxnSpPr>
          <p:nvPr/>
        </p:nvCxnSpPr>
        <p:spPr>
          <a:xfrm rot="16200000" flipH="1">
            <a:off x="5210953" y="1512786"/>
            <a:ext cx="280586" cy="171011"/>
          </a:xfrm>
          <a:prstGeom prst="bentConnector3">
            <a:avLst>
              <a:gd name="adj1" fmla="val 192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6" name="그림 385">
            <a:extLst>
              <a:ext uri="{FF2B5EF4-FFF2-40B4-BE49-F238E27FC236}">
                <a16:creationId xmlns:a16="http://schemas.microsoft.com/office/drawing/2014/main" id="{DD8BF7DF-A8E8-47FE-8FB8-215966891E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475" y="4283658"/>
            <a:ext cx="284152" cy="284152"/>
          </a:xfrm>
          <a:prstGeom prst="rect">
            <a:avLst/>
          </a:prstGeom>
        </p:spPr>
      </p:pic>
      <p:pic>
        <p:nvPicPr>
          <p:cNvPr id="387" name="그림 386">
            <a:extLst>
              <a:ext uri="{FF2B5EF4-FFF2-40B4-BE49-F238E27FC236}">
                <a16:creationId xmlns:a16="http://schemas.microsoft.com/office/drawing/2014/main" id="{D571DEEC-F1A6-4FC4-90B6-79BAAA1375D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181" y="4311690"/>
            <a:ext cx="236276" cy="236276"/>
          </a:xfrm>
          <a:prstGeom prst="rect">
            <a:avLst/>
          </a:prstGeom>
        </p:spPr>
      </p:pic>
      <p:pic>
        <p:nvPicPr>
          <p:cNvPr id="388" name="그림 387">
            <a:extLst>
              <a:ext uri="{FF2B5EF4-FFF2-40B4-BE49-F238E27FC236}">
                <a16:creationId xmlns:a16="http://schemas.microsoft.com/office/drawing/2014/main" id="{99E4D4BF-83EF-4F7B-8D6F-9F6F214862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81" y="4280962"/>
            <a:ext cx="284152" cy="284152"/>
          </a:xfrm>
          <a:prstGeom prst="rect">
            <a:avLst/>
          </a:prstGeom>
        </p:spPr>
      </p:pic>
      <p:pic>
        <p:nvPicPr>
          <p:cNvPr id="389" name="그림 388">
            <a:extLst>
              <a:ext uri="{FF2B5EF4-FFF2-40B4-BE49-F238E27FC236}">
                <a16:creationId xmlns:a16="http://schemas.microsoft.com/office/drawing/2014/main" id="{2AEADCE4-8660-4F75-899C-EC5B6F62000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487" y="4308994"/>
            <a:ext cx="236276" cy="236276"/>
          </a:xfrm>
          <a:prstGeom prst="rect">
            <a:avLst/>
          </a:prstGeom>
        </p:spPr>
      </p:pic>
      <p:pic>
        <p:nvPicPr>
          <p:cNvPr id="390" name="그림 389">
            <a:extLst>
              <a:ext uri="{FF2B5EF4-FFF2-40B4-BE49-F238E27FC236}">
                <a16:creationId xmlns:a16="http://schemas.microsoft.com/office/drawing/2014/main" id="{BE91D628-C991-4BE6-B277-3C270A7A062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352" y="1674592"/>
            <a:ext cx="284152" cy="284152"/>
          </a:xfrm>
          <a:prstGeom prst="rect">
            <a:avLst/>
          </a:prstGeom>
        </p:spPr>
      </p:pic>
      <p:pic>
        <p:nvPicPr>
          <p:cNvPr id="391" name="그림 390">
            <a:extLst>
              <a:ext uri="{FF2B5EF4-FFF2-40B4-BE49-F238E27FC236}">
                <a16:creationId xmlns:a16="http://schemas.microsoft.com/office/drawing/2014/main" id="{BADFCA8F-3BED-4CAC-B828-B7982C3BF4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058" y="1702624"/>
            <a:ext cx="236276" cy="236276"/>
          </a:xfrm>
          <a:prstGeom prst="rect">
            <a:avLst/>
          </a:prstGeom>
        </p:spPr>
      </p:pic>
      <p:pic>
        <p:nvPicPr>
          <p:cNvPr id="392" name="그림 391">
            <a:extLst>
              <a:ext uri="{FF2B5EF4-FFF2-40B4-BE49-F238E27FC236}">
                <a16:creationId xmlns:a16="http://schemas.microsoft.com/office/drawing/2014/main" id="{DB9BA9DF-E3CF-4AC0-A3AA-350BD959BE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425" y="1671790"/>
            <a:ext cx="284152" cy="284152"/>
          </a:xfrm>
          <a:prstGeom prst="rect">
            <a:avLst/>
          </a:prstGeom>
        </p:spPr>
      </p:pic>
      <p:pic>
        <p:nvPicPr>
          <p:cNvPr id="393" name="그림 392">
            <a:extLst>
              <a:ext uri="{FF2B5EF4-FFF2-40B4-BE49-F238E27FC236}">
                <a16:creationId xmlns:a16="http://schemas.microsoft.com/office/drawing/2014/main" id="{CC1B8B2D-2AD7-4C4C-8BC3-F0E11297BE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31" y="1699822"/>
            <a:ext cx="236276" cy="236276"/>
          </a:xfrm>
          <a:prstGeom prst="rect">
            <a:avLst/>
          </a:prstGeom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C41BE3F2-83AE-464F-B4C6-2891242B7A65}"/>
              </a:ext>
            </a:extLst>
          </p:cNvPr>
          <p:cNvSpPr/>
          <p:nvPr/>
        </p:nvSpPr>
        <p:spPr>
          <a:xfrm>
            <a:off x="2505848" y="5437349"/>
            <a:ext cx="9610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Docker Private Registry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53A0B0D3-F8FE-43EE-BE83-D6664C07090A}"/>
              </a:ext>
            </a:extLst>
          </p:cNvPr>
          <p:cNvSpPr/>
          <p:nvPr/>
        </p:nvSpPr>
        <p:spPr>
          <a:xfrm>
            <a:off x="123094" y="1526386"/>
            <a:ext cx="4806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Client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034D5F57-BFD6-4B3D-B66A-A40BEC297D55}"/>
              </a:ext>
            </a:extLst>
          </p:cNvPr>
          <p:cNvSpPr/>
          <p:nvPr/>
        </p:nvSpPr>
        <p:spPr>
          <a:xfrm>
            <a:off x="1716746" y="3298095"/>
            <a:ext cx="1000735" cy="287425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Spring Cloud</a:t>
            </a:r>
          </a:p>
          <a:p>
            <a:pPr lvl="0" algn="ctr"/>
            <a:r>
              <a:rPr lang="en-US" altLang="ko-KR" sz="8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Security</a:t>
            </a:r>
          </a:p>
        </p:txBody>
      </p:sp>
      <p:pic>
        <p:nvPicPr>
          <p:cNvPr id="233" name="그림 232">
            <a:extLst>
              <a:ext uri="{FF2B5EF4-FFF2-40B4-BE49-F238E27FC236}">
                <a16:creationId xmlns:a16="http://schemas.microsoft.com/office/drawing/2014/main" id="{CE5094EF-8358-4B55-A88D-0F6681AA92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589" y="3368647"/>
            <a:ext cx="164383" cy="11621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6B83A70-F563-489C-B037-35FC75CF0F09}"/>
              </a:ext>
            </a:extLst>
          </p:cNvPr>
          <p:cNvCxnSpPr>
            <a:cxnSpLocks/>
            <a:stCxn id="125" idx="2"/>
            <a:endCxn id="184" idx="0"/>
          </p:cNvCxnSpPr>
          <p:nvPr/>
        </p:nvCxnSpPr>
        <p:spPr>
          <a:xfrm>
            <a:off x="4341555" y="5861305"/>
            <a:ext cx="2962" cy="21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림 255">
            <a:extLst>
              <a:ext uri="{FF2B5EF4-FFF2-40B4-BE49-F238E27FC236}">
                <a16:creationId xmlns:a16="http://schemas.microsoft.com/office/drawing/2014/main" id="{53F13BE9-CD1B-4305-BF10-A539949E5B2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36870" y="3668596"/>
            <a:ext cx="432824" cy="372475"/>
          </a:xfrm>
          <a:prstGeom prst="rect">
            <a:avLst/>
          </a:prstGeom>
        </p:spPr>
      </p:pic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6B4D3E5D-04A4-4202-B7B4-41C394D7271E}"/>
              </a:ext>
            </a:extLst>
          </p:cNvPr>
          <p:cNvSpPr/>
          <p:nvPr/>
        </p:nvSpPr>
        <p:spPr>
          <a:xfrm>
            <a:off x="111549" y="3476775"/>
            <a:ext cx="4806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Client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45" name="사각형: 둥근 모서리 344">
            <a:extLst>
              <a:ext uri="{FF2B5EF4-FFF2-40B4-BE49-F238E27FC236}">
                <a16:creationId xmlns:a16="http://schemas.microsoft.com/office/drawing/2014/main" id="{6134ED87-28F8-4608-8BCE-74BBB1DB0435}"/>
              </a:ext>
            </a:extLst>
          </p:cNvPr>
          <p:cNvSpPr/>
          <p:nvPr/>
        </p:nvSpPr>
        <p:spPr>
          <a:xfrm>
            <a:off x="4402581" y="2651072"/>
            <a:ext cx="3589995" cy="71250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46" name="그림 345">
            <a:extLst>
              <a:ext uri="{FF2B5EF4-FFF2-40B4-BE49-F238E27FC236}">
                <a16:creationId xmlns:a16="http://schemas.microsoft.com/office/drawing/2014/main" id="{EF814F80-98CC-4508-8C4D-5CA6E03AF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35" y="2678144"/>
            <a:ext cx="355086" cy="210090"/>
          </a:xfrm>
          <a:prstGeom prst="rect">
            <a:avLst/>
          </a:prstGeom>
        </p:spPr>
      </p:pic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03E6EA7B-609E-4174-A423-DEC196200356}"/>
              </a:ext>
            </a:extLst>
          </p:cNvPr>
          <p:cNvSpPr/>
          <p:nvPr/>
        </p:nvSpPr>
        <p:spPr>
          <a:xfrm>
            <a:off x="4509718" y="2671809"/>
            <a:ext cx="16129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 Node [MariaDB]</a:t>
            </a:r>
          </a:p>
        </p:txBody>
      </p:sp>
      <p:pic>
        <p:nvPicPr>
          <p:cNvPr id="364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42138B56-BFA1-4883-9381-04FC4CC52D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105678" y="2691051"/>
            <a:ext cx="834084" cy="1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8087C17B-7617-4E92-BA58-135F82CCD26A}"/>
              </a:ext>
            </a:extLst>
          </p:cNvPr>
          <p:cNvSpPr/>
          <p:nvPr/>
        </p:nvSpPr>
        <p:spPr>
          <a:xfrm>
            <a:off x="4482354" y="3157787"/>
            <a:ext cx="1343697" cy="13057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Docker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2E836931-E5BB-4A42-8DBB-D54A9B3D5AE8}"/>
              </a:ext>
            </a:extLst>
          </p:cNvPr>
          <p:cNvSpPr/>
          <p:nvPr/>
        </p:nvSpPr>
        <p:spPr>
          <a:xfrm>
            <a:off x="4475728" y="2945543"/>
            <a:ext cx="646928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545F8FF5-9B8D-4708-92F4-D1B193A591F0}"/>
              </a:ext>
            </a:extLst>
          </p:cNvPr>
          <p:cNvSpPr/>
          <p:nvPr/>
        </p:nvSpPr>
        <p:spPr>
          <a:xfrm>
            <a:off x="5184534" y="2945543"/>
            <a:ext cx="646929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375" name="사각형: 둥근 모서리 374">
            <a:extLst>
              <a:ext uri="{FF2B5EF4-FFF2-40B4-BE49-F238E27FC236}">
                <a16:creationId xmlns:a16="http://schemas.microsoft.com/office/drawing/2014/main" id="{4055DB48-32A6-4F42-B4D7-94895C13387F}"/>
              </a:ext>
            </a:extLst>
          </p:cNvPr>
          <p:cNvSpPr/>
          <p:nvPr/>
        </p:nvSpPr>
        <p:spPr>
          <a:xfrm>
            <a:off x="5916607" y="2904900"/>
            <a:ext cx="1999210" cy="400334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96" name="사각형: 둥근 모서리 395">
            <a:extLst>
              <a:ext uri="{FF2B5EF4-FFF2-40B4-BE49-F238E27FC236}">
                <a16:creationId xmlns:a16="http://schemas.microsoft.com/office/drawing/2014/main" id="{E0B246D4-5243-4090-9F70-66C876EF6054}"/>
              </a:ext>
            </a:extLst>
          </p:cNvPr>
          <p:cNvSpPr/>
          <p:nvPr/>
        </p:nvSpPr>
        <p:spPr>
          <a:xfrm>
            <a:off x="5948665" y="2923249"/>
            <a:ext cx="660699" cy="129321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00" name="사각형: 둥근 모서리 399">
            <a:extLst>
              <a:ext uri="{FF2B5EF4-FFF2-40B4-BE49-F238E27FC236}">
                <a16:creationId xmlns:a16="http://schemas.microsoft.com/office/drawing/2014/main" id="{3BAAFE2D-6EC8-4BF8-92FE-ECE6C783C5E5}"/>
              </a:ext>
            </a:extLst>
          </p:cNvPr>
          <p:cNvSpPr/>
          <p:nvPr/>
        </p:nvSpPr>
        <p:spPr>
          <a:xfrm>
            <a:off x="5948310" y="3113874"/>
            <a:ext cx="945505" cy="125320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DO ACC  Master</a:t>
            </a:r>
          </a:p>
        </p:txBody>
      </p:sp>
      <p:sp>
        <p:nvSpPr>
          <p:cNvPr id="401" name="사각형: 둥근 모서리 400">
            <a:extLst>
              <a:ext uri="{FF2B5EF4-FFF2-40B4-BE49-F238E27FC236}">
                <a16:creationId xmlns:a16="http://schemas.microsoft.com/office/drawing/2014/main" id="{7D8679E7-CAE2-4F8A-9A6B-10B2387EAE4D}"/>
              </a:ext>
            </a:extLst>
          </p:cNvPr>
          <p:cNvSpPr/>
          <p:nvPr/>
        </p:nvSpPr>
        <p:spPr>
          <a:xfrm>
            <a:off x="6976181" y="3103556"/>
            <a:ext cx="903419" cy="134718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DO ACC  Slave</a:t>
            </a:r>
          </a:p>
        </p:txBody>
      </p:sp>
      <p:cxnSp>
        <p:nvCxnSpPr>
          <p:cNvPr id="197" name="연결선: 꺾임 196">
            <a:extLst>
              <a:ext uri="{FF2B5EF4-FFF2-40B4-BE49-F238E27FC236}">
                <a16:creationId xmlns:a16="http://schemas.microsoft.com/office/drawing/2014/main" id="{6858CDC9-93B1-41B2-A65B-89565D7875C3}"/>
              </a:ext>
            </a:extLst>
          </p:cNvPr>
          <p:cNvCxnSpPr>
            <a:cxnSpLocks/>
            <a:stCxn id="202" idx="1"/>
            <a:endCxn id="265" idx="3"/>
          </p:cNvCxnSpPr>
          <p:nvPr/>
        </p:nvCxnSpPr>
        <p:spPr>
          <a:xfrm rot="10800000">
            <a:off x="2641156" y="1563990"/>
            <a:ext cx="330571" cy="155366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연결선: 꺾임 215">
            <a:extLst>
              <a:ext uri="{FF2B5EF4-FFF2-40B4-BE49-F238E27FC236}">
                <a16:creationId xmlns:a16="http://schemas.microsoft.com/office/drawing/2014/main" id="{A13C20ED-3203-4296-B76E-CF9404798931}"/>
              </a:ext>
            </a:extLst>
          </p:cNvPr>
          <p:cNvCxnSpPr>
            <a:stCxn id="142" idx="2"/>
            <a:endCxn id="140" idx="1"/>
          </p:cNvCxnSpPr>
          <p:nvPr/>
        </p:nvCxnSpPr>
        <p:spPr>
          <a:xfrm rot="16200000" flipH="1">
            <a:off x="-95632" y="2521695"/>
            <a:ext cx="1059845" cy="1528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연결선: 꺾임 217">
            <a:extLst>
              <a:ext uri="{FF2B5EF4-FFF2-40B4-BE49-F238E27FC236}">
                <a16:creationId xmlns:a16="http://schemas.microsoft.com/office/drawing/2014/main" id="{464F6D42-BE33-4162-AE7F-432BF7DACA6C}"/>
              </a:ext>
            </a:extLst>
          </p:cNvPr>
          <p:cNvCxnSpPr>
            <a:stCxn id="256" idx="0"/>
            <a:endCxn id="140" idx="1"/>
          </p:cNvCxnSpPr>
          <p:nvPr/>
        </p:nvCxnSpPr>
        <p:spPr>
          <a:xfrm rot="5400000" flipH="1" flipV="1">
            <a:off x="161720" y="3319604"/>
            <a:ext cx="540555" cy="1574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0" name="Picture 2" descr="Deep dive – Azure Load Balancer | Marius Sandbu">
            <a:extLst>
              <a:ext uri="{FF2B5EF4-FFF2-40B4-BE49-F238E27FC236}">
                <a16:creationId xmlns:a16="http://schemas.microsoft.com/office/drawing/2014/main" id="{8F50F646-6ABC-4A18-A68F-8886700CF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510713" y="2950271"/>
            <a:ext cx="363529" cy="35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34BE35B6-423C-43BD-9F94-83688B4DC3D8}"/>
              </a:ext>
            </a:extLst>
          </p:cNvPr>
          <p:cNvCxnSpPr>
            <a:stCxn id="273" idx="3"/>
            <a:endCxn id="172" idx="1"/>
          </p:cNvCxnSpPr>
          <p:nvPr/>
        </p:nvCxnSpPr>
        <p:spPr>
          <a:xfrm>
            <a:off x="3896748" y="1473227"/>
            <a:ext cx="597541" cy="234055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C1B54989-575E-449A-98D3-AF5E4F61635D}"/>
              </a:ext>
            </a:extLst>
          </p:cNvPr>
          <p:cNvCxnSpPr>
            <a:cxnSpLocks/>
            <a:stCxn id="273" idx="3"/>
            <a:endCxn id="173" idx="1"/>
          </p:cNvCxnSpPr>
          <p:nvPr/>
        </p:nvCxnSpPr>
        <p:spPr>
          <a:xfrm>
            <a:off x="3896748" y="1473227"/>
            <a:ext cx="1395248" cy="2340559"/>
          </a:xfrm>
          <a:prstGeom prst="bentConnector3">
            <a:avLst>
              <a:gd name="adj1" fmla="val 20941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0AC5D1F0-A51F-4D85-8574-D4FAFC92742C}"/>
              </a:ext>
            </a:extLst>
          </p:cNvPr>
          <p:cNvSpPr/>
          <p:nvPr/>
        </p:nvSpPr>
        <p:spPr>
          <a:xfrm>
            <a:off x="4494289" y="3722920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408" name="연결선: 꺾임 407">
            <a:extLst>
              <a:ext uri="{FF2B5EF4-FFF2-40B4-BE49-F238E27FC236}">
                <a16:creationId xmlns:a16="http://schemas.microsoft.com/office/drawing/2014/main" id="{6DCF78FB-6059-46BF-8DB8-2473867FCA7B}"/>
              </a:ext>
            </a:extLst>
          </p:cNvPr>
          <p:cNvCxnSpPr>
            <a:stCxn id="140" idx="3"/>
            <a:endCxn id="273" idx="1"/>
          </p:cNvCxnSpPr>
          <p:nvPr/>
        </p:nvCxnSpPr>
        <p:spPr>
          <a:xfrm flipV="1">
            <a:off x="874242" y="1473227"/>
            <a:ext cx="2136121" cy="1654814"/>
          </a:xfrm>
          <a:prstGeom prst="bentConnector3">
            <a:avLst>
              <a:gd name="adj1" fmla="val 50000"/>
            </a:avLst>
          </a:prstGeom>
          <a:ln w="19050">
            <a:solidFill>
              <a:srgbClr val="00963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35889CB-E35C-42FB-A171-A5ADBC7AFC5D}"/>
              </a:ext>
            </a:extLst>
          </p:cNvPr>
          <p:cNvSpPr/>
          <p:nvPr/>
        </p:nvSpPr>
        <p:spPr>
          <a:xfrm>
            <a:off x="699536" y="744383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Microservices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9E58677B-14F1-41EA-961D-210AE323395D}"/>
              </a:ext>
            </a:extLst>
          </p:cNvPr>
          <p:cNvSpPr/>
          <p:nvPr/>
        </p:nvSpPr>
        <p:spPr>
          <a:xfrm>
            <a:off x="1013665" y="1026454"/>
            <a:ext cx="1718691" cy="2052283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89B2AB0E-7F3A-4B41-AA40-95FC97EA0AEC}"/>
              </a:ext>
            </a:extLst>
          </p:cNvPr>
          <p:cNvGrpSpPr/>
          <p:nvPr/>
        </p:nvGrpSpPr>
        <p:grpSpPr>
          <a:xfrm>
            <a:off x="1625239" y="1288530"/>
            <a:ext cx="455278" cy="154646"/>
            <a:chOff x="1274886" y="1471379"/>
            <a:chExt cx="3807946" cy="29939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60978194-9F0C-4BF2-985A-26C6E7F02F02}"/>
                </a:ext>
              </a:extLst>
            </p:cNvPr>
            <p:cNvSpPr/>
            <p:nvPr/>
          </p:nvSpPr>
          <p:spPr>
            <a:xfrm>
              <a:off x="1274886" y="1471380"/>
              <a:ext cx="3807946" cy="299394"/>
            </a:xfrm>
            <a:prstGeom prst="roundRect">
              <a:avLst>
                <a:gd name="adj" fmla="val 16175"/>
              </a:avLst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110EAAD1-2D94-48C5-A0F4-D8FB513BCC31}"/>
                </a:ext>
              </a:extLst>
            </p:cNvPr>
            <p:cNvSpPr/>
            <p:nvPr/>
          </p:nvSpPr>
          <p:spPr>
            <a:xfrm>
              <a:off x="1274886" y="1471379"/>
              <a:ext cx="3807946" cy="287968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800" dirty="0">
                  <a:solidFill>
                    <a:schemeClr val="bg1"/>
                  </a:solidFill>
                  <a:latin typeface="다키 M Title" pitchFamily="2" charset="-127"/>
                  <a:ea typeface="다키 M Title" pitchFamily="2" charset="-127"/>
                </a:rPr>
                <a:t>SPA </a:t>
              </a:r>
            </a:p>
          </p:txBody>
        </p:sp>
      </p:grpSp>
      <p:pic>
        <p:nvPicPr>
          <p:cNvPr id="144" name="그림 143">
            <a:extLst>
              <a:ext uri="{FF2B5EF4-FFF2-40B4-BE49-F238E27FC236}">
                <a16:creationId xmlns:a16="http://schemas.microsoft.com/office/drawing/2014/main" id="{4A626F0D-B8D7-43B1-9793-DDD5859DC4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24" y="1264183"/>
            <a:ext cx="502110" cy="207205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C62CC0B4-0F8E-4513-AFA3-0059BF499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60" y="1050043"/>
            <a:ext cx="347432" cy="205562"/>
          </a:xfrm>
          <a:prstGeom prst="rect">
            <a:avLst/>
          </a:prstGeom>
        </p:spPr>
      </p:pic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6FE1D8A2-4470-4955-9F98-FDDDC224AFB6}"/>
              </a:ext>
            </a:extLst>
          </p:cNvPr>
          <p:cNvSpPr/>
          <p:nvPr/>
        </p:nvSpPr>
        <p:spPr>
          <a:xfrm>
            <a:off x="1172310" y="1061655"/>
            <a:ext cx="127174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[Web]</a:t>
            </a:r>
            <a:endParaRPr lang="ko-KR" altLang="en-US" sz="9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7E318E1C-38C7-43B4-96A1-400CCDDA1120}"/>
              </a:ext>
            </a:extLst>
          </p:cNvPr>
          <p:cNvSpPr/>
          <p:nvPr/>
        </p:nvSpPr>
        <p:spPr>
          <a:xfrm>
            <a:off x="1093857" y="1684928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Docker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19426698-F68F-4C55-BBC4-7DD3B86791B5}"/>
              </a:ext>
            </a:extLst>
          </p:cNvPr>
          <p:cNvSpPr/>
          <p:nvPr/>
        </p:nvSpPr>
        <p:spPr>
          <a:xfrm>
            <a:off x="1895960" y="1473124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3740D699-97AF-491E-A6C6-73D7661155FA}"/>
              </a:ext>
            </a:extLst>
          </p:cNvPr>
          <p:cNvSpPr/>
          <p:nvPr/>
        </p:nvSpPr>
        <p:spPr>
          <a:xfrm>
            <a:off x="1098179" y="1462954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67" name="사각형: 둥근 모서리 266">
            <a:extLst>
              <a:ext uri="{FF2B5EF4-FFF2-40B4-BE49-F238E27FC236}">
                <a16:creationId xmlns:a16="http://schemas.microsoft.com/office/drawing/2014/main" id="{98D70AD9-3448-49E8-A0C5-A894F319F405}"/>
              </a:ext>
            </a:extLst>
          </p:cNvPr>
          <p:cNvSpPr/>
          <p:nvPr/>
        </p:nvSpPr>
        <p:spPr>
          <a:xfrm>
            <a:off x="1093184" y="1854425"/>
            <a:ext cx="1558493" cy="1147829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086B00BA-CEDB-455F-9351-CC442358DFA6}"/>
              </a:ext>
            </a:extLst>
          </p:cNvPr>
          <p:cNvSpPr/>
          <p:nvPr/>
        </p:nvSpPr>
        <p:spPr>
          <a:xfrm>
            <a:off x="1140952" y="1882090"/>
            <a:ext cx="1452355" cy="1184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72" name="사각형: 둥근 모서리 271">
            <a:extLst>
              <a:ext uri="{FF2B5EF4-FFF2-40B4-BE49-F238E27FC236}">
                <a16:creationId xmlns:a16="http://schemas.microsoft.com/office/drawing/2014/main" id="{E7DC6A19-947C-4C06-9901-2C0EB97C1F3D}"/>
              </a:ext>
            </a:extLst>
          </p:cNvPr>
          <p:cNvSpPr/>
          <p:nvPr/>
        </p:nvSpPr>
        <p:spPr>
          <a:xfrm>
            <a:off x="1514557" y="2029986"/>
            <a:ext cx="1078750" cy="134235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21" name="그림 320">
            <a:extLst>
              <a:ext uri="{FF2B5EF4-FFF2-40B4-BE49-F238E27FC236}">
                <a16:creationId xmlns:a16="http://schemas.microsoft.com/office/drawing/2014/main" id="{43C11B8F-F78E-48B6-A179-74FEA8BA393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53" y="1965993"/>
            <a:ext cx="284152" cy="284152"/>
          </a:xfrm>
          <a:prstGeom prst="rect">
            <a:avLst/>
          </a:prstGeom>
        </p:spPr>
      </p:pic>
      <p:pic>
        <p:nvPicPr>
          <p:cNvPr id="322" name="그림 321">
            <a:extLst>
              <a:ext uri="{FF2B5EF4-FFF2-40B4-BE49-F238E27FC236}">
                <a16:creationId xmlns:a16="http://schemas.microsoft.com/office/drawing/2014/main" id="{97928EC0-6718-40BB-BF67-235220FB430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559" y="1994025"/>
            <a:ext cx="236276" cy="236276"/>
          </a:xfrm>
          <a:prstGeom prst="rect">
            <a:avLst/>
          </a:prstGeom>
        </p:spPr>
      </p:pic>
      <p:sp>
        <p:nvSpPr>
          <p:cNvPr id="328" name="사각형: 둥근 모서리 327">
            <a:extLst>
              <a:ext uri="{FF2B5EF4-FFF2-40B4-BE49-F238E27FC236}">
                <a16:creationId xmlns:a16="http://schemas.microsoft.com/office/drawing/2014/main" id="{0A789AD8-C867-4135-966A-58F53815B630}"/>
              </a:ext>
            </a:extLst>
          </p:cNvPr>
          <p:cNvSpPr/>
          <p:nvPr/>
        </p:nvSpPr>
        <p:spPr>
          <a:xfrm>
            <a:off x="1137462" y="2251552"/>
            <a:ext cx="1452354" cy="146018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DO ACC</a:t>
            </a: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D99A2928-AC0D-48CC-AAB4-C5FA0B615B22}"/>
              </a:ext>
            </a:extLst>
          </p:cNvPr>
          <p:cNvGrpSpPr/>
          <p:nvPr/>
        </p:nvGrpSpPr>
        <p:grpSpPr>
          <a:xfrm>
            <a:off x="1176505" y="2468595"/>
            <a:ext cx="555945" cy="172418"/>
            <a:chOff x="961134" y="2324826"/>
            <a:chExt cx="760261" cy="357223"/>
          </a:xfrm>
        </p:grpSpPr>
        <p:sp>
          <p:nvSpPr>
            <p:cNvPr id="333" name="사각형: 둥근 모서리 332">
              <a:extLst>
                <a:ext uri="{FF2B5EF4-FFF2-40B4-BE49-F238E27FC236}">
                  <a16:creationId xmlns:a16="http://schemas.microsoft.com/office/drawing/2014/main" id="{08671D1F-006E-41AB-901C-42494063081F}"/>
                </a:ext>
              </a:extLst>
            </p:cNvPr>
            <p:cNvSpPr/>
            <p:nvPr/>
          </p:nvSpPr>
          <p:spPr>
            <a:xfrm>
              <a:off x="974364" y="2391447"/>
              <a:ext cx="747031" cy="276999"/>
            </a:xfrm>
            <a:prstGeom prst="roundRect">
              <a:avLst>
                <a:gd name="adj" fmla="val 1252"/>
              </a:avLst>
            </a:prstGeom>
            <a:solidFill>
              <a:srgbClr val="3790AE"/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sz="700" dirty="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59E25207-4EF1-4C3E-B7E9-F213EB133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134" y="2378687"/>
              <a:ext cx="159134" cy="156824"/>
            </a:xfrm>
            <a:prstGeom prst="rect">
              <a:avLst/>
            </a:prstGeom>
          </p:spPr>
        </p:pic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8552E911-226D-4417-9BF4-D56EFF5379DB}"/>
                </a:ext>
              </a:extLst>
            </p:cNvPr>
            <p:cNvSpPr/>
            <p:nvPr/>
          </p:nvSpPr>
          <p:spPr>
            <a:xfrm>
              <a:off x="1099592" y="2324826"/>
              <a:ext cx="579053" cy="3572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View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336" name="사각형: 둥근 모서리 335">
            <a:extLst>
              <a:ext uri="{FF2B5EF4-FFF2-40B4-BE49-F238E27FC236}">
                <a16:creationId xmlns:a16="http://schemas.microsoft.com/office/drawing/2014/main" id="{B3187291-3460-4CAC-BAEE-E0D621BE1F87}"/>
              </a:ext>
            </a:extLst>
          </p:cNvPr>
          <p:cNvSpPr/>
          <p:nvPr/>
        </p:nvSpPr>
        <p:spPr>
          <a:xfrm>
            <a:off x="2027623" y="2804404"/>
            <a:ext cx="539616" cy="14586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95D241B2-9AD3-4453-94B4-9A491E93CC68}"/>
              </a:ext>
            </a:extLst>
          </p:cNvPr>
          <p:cNvSpPr/>
          <p:nvPr/>
        </p:nvSpPr>
        <p:spPr>
          <a:xfrm>
            <a:off x="2025656" y="2779742"/>
            <a:ext cx="50017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Model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38" name="사각형: 둥근 모서리 337">
            <a:extLst>
              <a:ext uri="{FF2B5EF4-FFF2-40B4-BE49-F238E27FC236}">
                <a16:creationId xmlns:a16="http://schemas.microsoft.com/office/drawing/2014/main" id="{512BF66D-9479-4816-896F-A492FC9793B2}"/>
              </a:ext>
            </a:extLst>
          </p:cNvPr>
          <p:cNvSpPr/>
          <p:nvPr/>
        </p:nvSpPr>
        <p:spPr>
          <a:xfrm>
            <a:off x="1155720" y="2807169"/>
            <a:ext cx="593982" cy="13752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88B48FAB-EDEC-4611-80A9-210B6AB25FEA}"/>
              </a:ext>
            </a:extLst>
          </p:cNvPr>
          <p:cNvSpPr/>
          <p:nvPr/>
        </p:nvSpPr>
        <p:spPr>
          <a:xfrm>
            <a:off x="1146640" y="2770457"/>
            <a:ext cx="63874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 err="1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ViewModel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40" name="사각형: 둥근 모서리 339">
            <a:extLst>
              <a:ext uri="{FF2B5EF4-FFF2-40B4-BE49-F238E27FC236}">
                <a16:creationId xmlns:a16="http://schemas.microsoft.com/office/drawing/2014/main" id="{AB98EB23-35C4-49FA-A39D-4CAAB7BF3A00}"/>
              </a:ext>
            </a:extLst>
          </p:cNvPr>
          <p:cNvSpPr/>
          <p:nvPr/>
        </p:nvSpPr>
        <p:spPr>
          <a:xfrm>
            <a:off x="2017126" y="2426520"/>
            <a:ext cx="550733" cy="282672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D60DE2AC-38D6-4023-B8EF-4F0BB2A90979}"/>
              </a:ext>
            </a:extLst>
          </p:cNvPr>
          <p:cNvSpPr/>
          <p:nvPr/>
        </p:nvSpPr>
        <p:spPr>
          <a:xfrm>
            <a:off x="1983343" y="2413311"/>
            <a:ext cx="6319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Controller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252A23FD-13A3-418B-966D-96C987676A7A}"/>
              </a:ext>
            </a:extLst>
          </p:cNvPr>
          <p:cNvCxnSpPr>
            <a:cxnSpLocks/>
            <a:stCxn id="333" idx="2"/>
          </p:cNvCxnSpPr>
          <p:nvPr/>
        </p:nvCxnSpPr>
        <p:spPr>
          <a:xfrm flipH="1">
            <a:off x="1452711" y="2634447"/>
            <a:ext cx="6604" cy="1813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화살표 연결선 342">
            <a:extLst>
              <a:ext uri="{FF2B5EF4-FFF2-40B4-BE49-F238E27FC236}">
                <a16:creationId xmlns:a16="http://schemas.microsoft.com/office/drawing/2014/main" id="{A04C15C2-CDFB-4835-831C-8EC6EB1542CB}"/>
              </a:ext>
            </a:extLst>
          </p:cNvPr>
          <p:cNvCxnSpPr>
            <a:cxnSpLocks/>
            <a:stCxn id="338" idx="3"/>
            <a:endCxn id="336" idx="1"/>
          </p:cNvCxnSpPr>
          <p:nvPr/>
        </p:nvCxnSpPr>
        <p:spPr>
          <a:xfrm>
            <a:off x="1749702" y="2875933"/>
            <a:ext cx="277921" cy="1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연결선: 꺾임 343">
            <a:extLst>
              <a:ext uri="{FF2B5EF4-FFF2-40B4-BE49-F238E27FC236}">
                <a16:creationId xmlns:a16="http://schemas.microsoft.com/office/drawing/2014/main" id="{3AEC0C53-B4EB-48A3-B378-F7CCB6A206F8}"/>
              </a:ext>
            </a:extLst>
          </p:cNvPr>
          <p:cNvCxnSpPr>
            <a:cxnSpLocks/>
            <a:stCxn id="333" idx="3"/>
            <a:endCxn id="340" idx="1"/>
          </p:cNvCxnSpPr>
          <p:nvPr/>
        </p:nvCxnSpPr>
        <p:spPr>
          <a:xfrm>
            <a:off x="1732450" y="2567599"/>
            <a:ext cx="284676" cy="25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그룹 364">
            <a:extLst>
              <a:ext uri="{FF2B5EF4-FFF2-40B4-BE49-F238E27FC236}">
                <a16:creationId xmlns:a16="http://schemas.microsoft.com/office/drawing/2014/main" id="{06597CB9-C8AE-4785-BCDF-57409FF76292}"/>
              </a:ext>
            </a:extLst>
          </p:cNvPr>
          <p:cNvGrpSpPr/>
          <p:nvPr/>
        </p:nvGrpSpPr>
        <p:grpSpPr>
          <a:xfrm>
            <a:off x="2453454" y="2248573"/>
            <a:ext cx="131476" cy="143168"/>
            <a:chOff x="5213886" y="1690790"/>
            <a:chExt cx="205187" cy="198343"/>
          </a:xfrm>
        </p:grpSpPr>
        <p:sp>
          <p:nvSpPr>
            <p:cNvPr id="366" name="Oval 159">
              <a:extLst>
                <a:ext uri="{FF2B5EF4-FFF2-40B4-BE49-F238E27FC236}">
                  <a16:creationId xmlns:a16="http://schemas.microsoft.com/office/drawing/2014/main" id="{FE6E3194-632D-408F-948F-629C7EA47A7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367" name="그림 366">
              <a:extLst>
                <a:ext uri="{FF2B5EF4-FFF2-40B4-BE49-F238E27FC236}">
                  <a16:creationId xmlns:a16="http://schemas.microsoft.com/office/drawing/2014/main" id="{45481D42-1030-4AC3-B35A-78D54626E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414" name="사각형: 둥근 모서리 413">
            <a:extLst>
              <a:ext uri="{FF2B5EF4-FFF2-40B4-BE49-F238E27FC236}">
                <a16:creationId xmlns:a16="http://schemas.microsoft.com/office/drawing/2014/main" id="{5896B159-6A71-4406-A669-56F075D88575}"/>
              </a:ext>
            </a:extLst>
          </p:cNvPr>
          <p:cNvSpPr/>
          <p:nvPr/>
        </p:nvSpPr>
        <p:spPr>
          <a:xfrm>
            <a:off x="8505041" y="2308696"/>
            <a:ext cx="1239841" cy="14909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87A19507-8728-48C0-B092-3640ECCCB1F9}"/>
              </a:ext>
            </a:extLst>
          </p:cNvPr>
          <p:cNvSpPr/>
          <p:nvPr/>
        </p:nvSpPr>
        <p:spPr>
          <a:xfrm>
            <a:off x="8556352" y="2386126"/>
            <a:ext cx="1102638" cy="149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latin typeface="다키 B" pitchFamily="2" charset="-127"/>
                <a:ea typeface="다키 B" pitchFamily="2" charset="-127"/>
              </a:rPr>
              <a:t>시스템 및 관계기관연계</a:t>
            </a:r>
          </a:p>
        </p:txBody>
      </p:sp>
      <p:sp>
        <p:nvSpPr>
          <p:cNvPr id="424" name="십자형 423">
            <a:extLst>
              <a:ext uri="{FF2B5EF4-FFF2-40B4-BE49-F238E27FC236}">
                <a16:creationId xmlns:a16="http://schemas.microsoft.com/office/drawing/2014/main" id="{9E93DE67-71C6-4398-8A3A-5FCC45D13102}"/>
              </a:ext>
            </a:extLst>
          </p:cNvPr>
          <p:cNvSpPr/>
          <p:nvPr/>
        </p:nvSpPr>
        <p:spPr>
          <a:xfrm>
            <a:off x="8667382" y="3006580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ESB/SOAP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25" name="십자형 424">
            <a:extLst>
              <a:ext uri="{FF2B5EF4-FFF2-40B4-BE49-F238E27FC236}">
                <a16:creationId xmlns:a16="http://schemas.microsoft.com/office/drawing/2014/main" id="{35BCBB61-76D0-49CD-94DC-8509C83CDBAE}"/>
              </a:ext>
            </a:extLst>
          </p:cNvPr>
          <p:cNvSpPr/>
          <p:nvPr/>
        </p:nvSpPr>
        <p:spPr>
          <a:xfrm>
            <a:off x="8652159" y="2617048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Rest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endParaRPr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(Open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26" name="십자형 425">
            <a:extLst>
              <a:ext uri="{FF2B5EF4-FFF2-40B4-BE49-F238E27FC236}">
                <a16:creationId xmlns:a16="http://schemas.microsoft.com/office/drawing/2014/main" id="{9673141E-A193-4B46-BEA7-D9A918423F5C}"/>
              </a:ext>
            </a:extLst>
          </p:cNvPr>
          <p:cNvSpPr/>
          <p:nvPr/>
        </p:nvSpPr>
        <p:spPr>
          <a:xfrm>
            <a:off x="8665668" y="3381830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Screen Scraping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430" name="연결선: 꺾임 429">
            <a:extLst>
              <a:ext uri="{FF2B5EF4-FFF2-40B4-BE49-F238E27FC236}">
                <a16:creationId xmlns:a16="http://schemas.microsoft.com/office/drawing/2014/main" id="{68CF87DE-3F09-4E0A-AC53-DC56C8DAC0B0}"/>
              </a:ext>
            </a:extLst>
          </p:cNvPr>
          <p:cNvCxnSpPr>
            <a:cxnSpLocks/>
            <a:stCxn id="59" idx="2"/>
            <a:endCxn id="414" idx="0"/>
          </p:cNvCxnSpPr>
          <p:nvPr/>
        </p:nvCxnSpPr>
        <p:spPr>
          <a:xfrm rot="16200000" flipH="1">
            <a:off x="9000246" y="2183980"/>
            <a:ext cx="248452" cy="979"/>
          </a:xfrm>
          <a:prstGeom prst="bentConnector3">
            <a:avLst/>
          </a:prstGeom>
          <a:ln w="28575">
            <a:solidFill>
              <a:srgbClr val="2038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연결선: 꺾임 432">
            <a:extLst>
              <a:ext uri="{FF2B5EF4-FFF2-40B4-BE49-F238E27FC236}">
                <a16:creationId xmlns:a16="http://schemas.microsoft.com/office/drawing/2014/main" id="{D3C8B5E9-82FD-41E6-B4CD-71E0530304C2}"/>
              </a:ext>
            </a:extLst>
          </p:cNvPr>
          <p:cNvCxnSpPr>
            <a:cxnSpLocks/>
            <a:stCxn id="414" idx="2"/>
            <a:endCxn id="60" idx="0"/>
          </p:cNvCxnSpPr>
          <p:nvPr/>
        </p:nvCxnSpPr>
        <p:spPr>
          <a:xfrm rot="16200000" flipH="1">
            <a:off x="8985539" y="3939034"/>
            <a:ext cx="279855" cy="1009"/>
          </a:xfrm>
          <a:prstGeom prst="bentConnector3">
            <a:avLst/>
          </a:prstGeom>
          <a:ln w="28575">
            <a:solidFill>
              <a:srgbClr val="2038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AutoShape 48">
            <a:extLst>
              <a:ext uri="{FF2B5EF4-FFF2-40B4-BE49-F238E27FC236}">
                <a16:creationId xmlns:a16="http://schemas.microsoft.com/office/drawing/2014/main" id="{697BE7B3-1993-4F59-913B-7CCC27339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2505" y="5971084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EFK </a:t>
            </a:r>
          </a:p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[Kibana, </a:t>
            </a:r>
            <a:r>
              <a:rPr lang="en-US" altLang="ko-KR" sz="1000" dirty="0" err="1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Elasticsearch,Logstash</a:t>
            </a:r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]</a:t>
            </a:r>
          </a:p>
        </p:txBody>
      </p:sp>
      <p:sp>
        <p:nvSpPr>
          <p:cNvPr id="439" name="AutoShape 48">
            <a:extLst>
              <a:ext uri="{FF2B5EF4-FFF2-40B4-BE49-F238E27FC236}">
                <a16:creationId xmlns:a16="http://schemas.microsoft.com/office/drawing/2014/main" id="{39BA6D4B-4343-4863-9D54-4D0D015CA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83" y="5453550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몽고</a:t>
            </a:r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DB</a:t>
            </a:r>
          </a:p>
        </p:txBody>
      </p:sp>
      <p:pic>
        <p:nvPicPr>
          <p:cNvPr id="257" name="그림 256">
            <a:extLst>
              <a:ext uri="{FF2B5EF4-FFF2-40B4-BE49-F238E27FC236}">
                <a16:creationId xmlns:a16="http://schemas.microsoft.com/office/drawing/2014/main" id="{0A700B34-DFD0-4E36-8EED-189BFB41DC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595" y="6178630"/>
            <a:ext cx="222600" cy="222600"/>
          </a:xfrm>
          <a:prstGeom prst="rect">
            <a:avLst/>
          </a:prstGeom>
        </p:spPr>
      </p:pic>
      <p:pic>
        <p:nvPicPr>
          <p:cNvPr id="258" name="그림 257">
            <a:extLst>
              <a:ext uri="{FF2B5EF4-FFF2-40B4-BE49-F238E27FC236}">
                <a16:creationId xmlns:a16="http://schemas.microsoft.com/office/drawing/2014/main" id="{6388B2BB-20EC-4800-9518-0F6163FCFA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26" y="6207095"/>
            <a:ext cx="144299" cy="144299"/>
          </a:xfrm>
          <a:prstGeom prst="rect">
            <a:avLst/>
          </a:prstGeom>
        </p:spPr>
      </p:pic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B3EE8E87-4861-42FC-BF6C-24E2FB502A0B}"/>
              </a:ext>
            </a:extLst>
          </p:cNvPr>
          <p:cNvSpPr/>
          <p:nvPr/>
        </p:nvSpPr>
        <p:spPr>
          <a:xfrm>
            <a:off x="8215481" y="6174504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Boot</a:t>
            </a: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98C61F8C-6F78-4A62-A2FF-1BE58737A322}"/>
              </a:ext>
            </a:extLst>
          </p:cNvPr>
          <p:cNvSpPr/>
          <p:nvPr/>
        </p:nvSpPr>
        <p:spPr>
          <a:xfrm>
            <a:off x="9076284" y="6174561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err="1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UnderTow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62" name="Text Box 236">
            <a:extLst>
              <a:ext uri="{FF2B5EF4-FFF2-40B4-BE49-F238E27FC236}">
                <a16:creationId xmlns:a16="http://schemas.microsoft.com/office/drawing/2014/main" id="{E2F1E9E1-227B-4D7F-A596-D497CC760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5056" y="5437349"/>
            <a:ext cx="392996" cy="1046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ko-KR" altLang="en-US" sz="800" b="1" dirty="0">
                <a:latin typeface="다키 B" pitchFamily="2" charset="-127"/>
                <a:ea typeface="다키 B" pitchFamily="2" charset="-127"/>
              </a:rPr>
              <a:t>범례</a:t>
            </a:r>
          </a:p>
        </p:txBody>
      </p:sp>
      <p:sp>
        <p:nvSpPr>
          <p:cNvPr id="325" name="사각형: 둥근 모서리 324">
            <a:extLst>
              <a:ext uri="{FF2B5EF4-FFF2-40B4-BE49-F238E27FC236}">
                <a16:creationId xmlns:a16="http://schemas.microsoft.com/office/drawing/2014/main" id="{AB3D959C-DF44-46E8-B75B-5DEFDF0D841F}"/>
              </a:ext>
            </a:extLst>
          </p:cNvPr>
          <p:cNvSpPr/>
          <p:nvPr/>
        </p:nvSpPr>
        <p:spPr>
          <a:xfrm>
            <a:off x="2909515" y="3764000"/>
            <a:ext cx="1100287" cy="66864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26" name="그림 325">
            <a:extLst>
              <a:ext uri="{FF2B5EF4-FFF2-40B4-BE49-F238E27FC236}">
                <a16:creationId xmlns:a16="http://schemas.microsoft.com/office/drawing/2014/main" id="{FACE04A7-2CA7-4144-8409-AEFFC1322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00" y="3761683"/>
            <a:ext cx="355086" cy="198081"/>
          </a:xfrm>
          <a:prstGeom prst="rect">
            <a:avLst/>
          </a:prstGeom>
        </p:spPr>
      </p:pic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568DFD07-CCD8-476E-9E5D-CD36D6A47E31}"/>
              </a:ext>
            </a:extLst>
          </p:cNvPr>
          <p:cNvSpPr/>
          <p:nvPr/>
        </p:nvSpPr>
        <p:spPr>
          <a:xfrm>
            <a:off x="3133552" y="3747998"/>
            <a:ext cx="8442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</a:t>
            </a:r>
            <a:r>
              <a:rPr lang="en-US" altLang="ko-KR" sz="800" b="1" dirty="0" err="1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redis</a:t>
            </a:r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395" name="사각형: 둥근 모서리 394">
            <a:extLst>
              <a:ext uri="{FF2B5EF4-FFF2-40B4-BE49-F238E27FC236}">
                <a16:creationId xmlns:a16="http://schemas.microsoft.com/office/drawing/2014/main" id="{76A15D6D-9B4B-4EB8-A30B-678ABD99CDF3}"/>
              </a:ext>
            </a:extLst>
          </p:cNvPr>
          <p:cNvSpPr/>
          <p:nvPr/>
        </p:nvSpPr>
        <p:spPr>
          <a:xfrm>
            <a:off x="2964093" y="4100347"/>
            <a:ext cx="996997" cy="29362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97" name="그림 396">
            <a:extLst>
              <a:ext uri="{FF2B5EF4-FFF2-40B4-BE49-F238E27FC236}">
                <a16:creationId xmlns:a16="http://schemas.microsoft.com/office/drawing/2014/main" id="{6D72414F-1A7A-45ED-9330-3319CE3C154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789" y="3888804"/>
            <a:ext cx="177759" cy="177759"/>
          </a:xfrm>
          <a:prstGeom prst="rect">
            <a:avLst/>
          </a:prstGeom>
        </p:spPr>
      </p:pic>
      <p:pic>
        <p:nvPicPr>
          <p:cNvPr id="398" name="그림 397">
            <a:extLst>
              <a:ext uri="{FF2B5EF4-FFF2-40B4-BE49-F238E27FC236}">
                <a16:creationId xmlns:a16="http://schemas.microsoft.com/office/drawing/2014/main" id="{F116CB06-9556-4832-92D2-BB7639FDC8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838" y="2966482"/>
            <a:ext cx="491123" cy="10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22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EF013-692F-49C2-AC95-0D9B7D79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마이크로서비스</a:t>
            </a:r>
            <a:r>
              <a:rPr lang="ko-KR" altLang="en-US" dirty="0"/>
              <a:t>  기능 비교표</a:t>
            </a:r>
          </a:p>
        </p:txBody>
      </p:sp>
      <p:graphicFrame>
        <p:nvGraphicFramePr>
          <p:cNvPr id="3" name="Group 122">
            <a:extLst>
              <a:ext uri="{FF2B5EF4-FFF2-40B4-BE49-F238E27FC236}">
                <a16:creationId xmlns:a16="http://schemas.microsoft.com/office/drawing/2014/main" id="{8DF9CF58-586F-49B5-9A29-E12E7EC53997}"/>
              </a:ext>
            </a:extLst>
          </p:cNvPr>
          <p:cNvGraphicFramePr>
            <a:graphicFrameLocks noGrp="1"/>
          </p:cNvGraphicFramePr>
          <p:nvPr/>
        </p:nvGraphicFramePr>
        <p:xfrm>
          <a:off x="391814" y="1123411"/>
          <a:ext cx="9031138" cy="5026910"/>
        </p:xfrm>
        <a:graphic>
          <a:graphicData uri="http://schemas.openxmlformats.org/drawingml/2006/table">
            <a:tbl>
              <a:tblPr/>
              <a:tblGrid>
                <a:gridCol w="215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2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9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마이크로서비스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다키 B" pitchFamily="2" charset="-127"/>
                        <a:ea typeface="다키 B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Spring Cloud Netflix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Kubernetes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비 고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설정관리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Config Server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Con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랴흐메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&amp; Secrets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서비스 호출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Netflix Eureka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Service &amp; Ingress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로드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밸런싱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Netflix Ribbon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Service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API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게이트웨이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Cloud Gateway(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Zuul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Kubeernetes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Service &amp; Ingress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서비스 보안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Cloud Security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94407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중앙화 로깅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ELK Stack(Logstash)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EFK Stack(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Fluentd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532966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중앙화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매트릭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Netflix Spectator &amp; Atlas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Grafana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305629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분산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트레이싱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cloud 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Sleuth,Zipkin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Zipkin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852278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Resilience &amp; Fault Tolerance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Netflix 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Hystrix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Ribbon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Health Check &amp;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리소스 격리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356497"/>
                  </a:ext>
                </a:extLst>
              </a:tr>
              <a:tr h="457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오토스케일링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&amp;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셀프힐링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Health Check, Self Healing, Autoscaling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497054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패키징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디플로이먼트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스케줄링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Boot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Docker/R 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kt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Kubernetes Scheduler &amp; Deployment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940883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작업관리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Batch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Jobs, Scheduled Jobs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6969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싱글톤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애플리케이션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cloud Cluster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Pods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9238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0FA94D-4BFE-4DCD-A0E0-2DFBB6C7A378}"/>
              </a:ext>
            </a:extLst>
          </p:cNvPr>
          <p:cNvSpPr txBox="1"/>
          <p:nvPr/>
        </p:nvSpPr>
        <p:spPr>
          <a:xfrm>
            <a:off x="328522" y="649759"/>
            <a:ext cx="9031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스프링 클라우드 와 </a:t>
            </a:r>
            <a:r>
              <a:rPr lang="ko-KR" altLang="en-US" dirty="0" err="1"/>
              <a:t>쿠버네티스</a:t>
            </a:r>
            <a:r>
              <a:rPr lang="ko-KR" altLang="en-US" dirty="0"/>
              <a:t> 서비스 기능 비교</a:t>
            </a:r>
          </a:p>
        </p:txBody>
      </p:sp>
    </p:spTree>
    <p:extLst>
      <p:ext uri="{BB962C8B-B14F-4D97-AF65-F5344CB8AC3E}">
        <p14:creationId xmlns:p14="http://schemas.microsoft.com/office/powerpoint/2010/main" val="3319581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6FED6-BD1D-4EA0-8EC5-9C42937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3" y="11326"/>
            <a:ext cx="7839641" cy="499721"/>
          </a:xfrm>
        </p:spPr>
        <p:txBody>
          <a:bodyPr/>
          <a:lstStyle/>
          <a:p>
            <a:r>
              <a:rPr lang="ko-KR" altLang="en-US" dirty="0"/>
              <a:t>소프트웨어 아키텍처 구성도 </a:t>
            </a:r>
            <a:r>
              <a:rPr lang="en-US" altLang="ko-KR" dirty="0"/>
              <a:t>– </a:t>
            </a:r>
            <a:r>
              <a:rPr lang="ko-KR" altLang="en-US" dirty="0" err="1"/>
              <a:t>쿠버네티스</a:t>
            </a:r>
            <a:endParaRPr lang="ko-KR" altLang="en-US" dirty="0"/>
          </a:p>
        </p:txBody>
      </p:sp>
      <p:sp>
        <p:nvSpPr>
          <p:cNvPr id="323" name="사각형: 둥근 모서리 322">
            <a:extLst>
              <a:ext uri="{FF2B5EF4-FFF2-40B4-BE49-F238E27FC236}">
                <a16:creationId xmlns:a16="http://schemas.microsoft.com/office/drawing/2014/main" id="{CB9787A6-B3DC-47D4-96D4-AF1000FB2096}"/>
              </a:ext>
            </a:extLst>
          </p:cNvPr>
          <p:cNvSpPr/>
          <p:nvPr/>
        </p:nvSpPr>
        <p:spPr>
          <a:xfrm>
            <a:off x="643979" y="731903"/>
            <a:ext cx="7440562" cy="4465037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29" name="사각형: 둥근 모서리 328">
            <a:extLst>
              <a:ext uri="{FF2B5EF4-FFF2-40B4-BE49-F238E27FC236}">
                <a16:creationId xmlns:a16="http://schemas.microsoft.com/office/drawing/2014/main" id="{CDA24F58-EEF9-4F13-9145-3804C3E0B2DA}"/>
              </a:ext>
            </a:extLst>
          </p:cNvPr>
          <p:cNvSpPr/>
          <p:nvPr/>
        </p:nvSpPr>
        <p:spPr>
          <a:xfrm>
            <a:off x="2912149" y="2438136"/>
            <a:ext cx="1100287" cy="90467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30" name="그림 329">
            <a:extLst>
              <a:ext uri="{FF2B5EF4-FFF2-40B4-BE49-F238E27FC236}">
                <a16:creationId xmlns:a16="http://schemas.microsoft.com/office/drawing/2014/main" id="{A8DE2F54-7937-469F-A536-04D26FDF1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434" y="2435818"/>
            <a:ext cx="355086" cy="198081"/>
          </a:xfrm>
          <a:prstGeom prst="rect">
            <a:avLst/>
          </a:prstGeom>
        </p:spPr>
      </p:pic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8630F171-26DF-4EFC-BA3C-793076D5840C}"/>
              </a:ext>
            </a:extLst>
          </p:cNvPr>
          <p:cNvSpPr/>
          <p:nvPr/>
        </p:nvSpPr>
        <p:spPr>
          <a:xfrm>
            <a:off x="3136186" y="2422133"/>
            <a:ext cx="8442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399" name="사각형: 둥근 모서리 398">
            <a:extLst>
              <a:ext uri="{FF2B5EF4-FFF2-40B4-BE49-F238E27FC236}">
                <a16:creationId xmlns:a16="http://schemas.microsoft.com/office/drawing/2014/main" id="{54C2BD22-D5F6-4215-91FD-78063506A736}"/>
              </a:ext>
            </a:extLst>
          </p:cNvPr>
          <p:cNvSpPr/>
          <p:nvPr/>
        </p:nvSpPr>
        <p:spPr>
          <a:xfrm>
            <a:off x="147052" y="5328301"/>
            <a:ext cx="3358227" cy="10866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2" name="사각형: 둥근 모서리 401">
            <a:extLst>
              <a:ext uri="{FF2B5EF4-FFF2-40B4-BE49-F238E27FC236}">
                <a16:creationId xmlns:a16="http://schemas.microsoft.com/office/drawing/2014/main" id="{D5571137-888B-4569-810F-6E4B2FC041E3}"/>
              </a:ext>
            </a:extLst>
          </p:cNvPr>
          <p:cNvSpPr/>
          <p:nvPr/>
        </p:nvSpPr>
        <p:spPr>
          <a:xfrm>
            <a:off x="2916886" y="853557"/>
            <a:ext cx="1093311" cy="14909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03" name="직사각형 402">
            <a:extLst>
              <a:ext uri="{FF2B5EF4-FFF2-40B4-BE49-F238E27FC236}">
                <a16:creationId xmlns:a16="http://schemas.microsoft.com/office/drawing/2014/main" id="{C2C31886-8E75-4FD0-8F2F-32927DCDDE3C}"/>
              </a:ext>
            </a:extLst>
          </p:cNvPr>
          <p:cNvSpPr/>
          <p:nvPr/>
        </p:nvSpPr>
        <p:spPr>
          <a:xfrm>
            <a:off x="8653946" y="1872252"/>
            <a:ext cx="940074" cy="179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다키 B" pitchFamily="2" charset="-127"/>
                <a:ea typeface="다키 B" pitchFamily="2" charset="-127"/>
              </a:rPr>
              <a:t> </a:t>
            </a:r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I/F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404" name="직사각형 403">
            <a:extLst>
              <a:ext uri="{FF2B5EF4-FFF2-40B4-BE49-F238E27FC236}">
                <a16:creationId xmlns:a16="http://schemas.microsoft.com/office/drawing/2014/main" id="{C8ACB321-D2A8-4C2D-8EEB-97C55F986092}"/>
              </a:ext>
            </a:extLst>
          </p:cNvPr>
          <p:cNvSpPr/>
          <p:nvPr/>
        </p:nvSpPr>
        <p:spPr>
          <a:xfrm>
            <a:off x="8637690" y="4079467"/>
            <a:ext cx="976562" cy="183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다키 B" pitchFamily="2" charset="-127"/>
                <a:ea typeface="다키 B" pitchFamily="2" charset="-127"/>
              </a:rPr>
              <a:t>관계기관 </a:t>
            </a:r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I/F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pic>
        <p:nvPicPr>
          <p:cNvPr id="405" name="그림 404">
            <a:extLst>
              <a:ext uri="{FF2B5EF4-FFF2-40B4-BE49-F238E27FC236}">
                <a16:creationId xmlns:a16="http://schemas.microsoft.com/office/drawing/2014/main" id="{F0EE7B31-90F3-4379-B1C9-CC9F87A2B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59" y="5503092"/>
            <a:ext cx="901055" cy="368613"/>
          </a:xfrm>
          <a:prstGeom prst="rect">
            <a:avLst/>
          </a:prstGeom>
        </p:spPr>
      </p:pic>
      <p:pic>
        <p:nvPicPr>
          <p:cNvPr id="407" name="그림 406">
            <a:extLst>
              <a:ext uri="{FF2B5EF4-FFF2-40B4-BE49-F238E27FC236}">
                <a16:creationId xmlns:a16="http://schemas.microsoft.com/office/drawing/2014/main" id="{9C612BD9-ECAC-44A4-8F91-8F391D52E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898" y="5762500"/>
            <a:ext cx="451246" cy="428159"/>
          </a:xfrm>
          <a:prstGeom prst="rect">
            <a:avLst/>
          </a:prstGeom>
        </p:spPr>
      </p:pic>
      <p:cxnSp>
        <p:nvCxnSpPr>
          <p:cNvPr id="409" name="연결선: 꺾임 408">
            <a:extLst>
              <a:ext uri="{FF2B5EF4-FFF2-40B4-BE49-F238E27FC236}">
                <a16:creationId xmlns:a16="http://schemas.microsoft.com/office/drawing/2014/main" id="{7694B11D-E6EF-4093-8CDC-CBA544670CE7}"/>
              </a:ext>
            </a:extLst>
          </p:cNvPr>
          <p:cNvCxnSpPr>
            <a:cxnSpLocks/>
            <a:stCxn id="405" idx="3"/>
            <a:endCxn id="406" idx="1"/>
          </p:cNvCxnSpPr>
          <p:nvPr/>
        </p:nvCxnSpPr>
        <p:spPr>
          <a:xfrm flipV="1">
            <a:off x="1147114" y="5686200"/>
            <a:ext cx="1583172" cy="11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연결선: 꺾임 409">
            <a:extLst>
              <a:ext uri="{FF2B5EF4-FFF2-40B4-BE49-F238E27FC236}">
                <a16:creationId xmlns:a16="http://schemas.microsoft.com/office/drawing/2014/main" id="{064271D5-E96F-4B9B-A4AE-65EFD48847B8}"/>
              </a:ext>
            </a:extLst>
          </p:cNvPr>
          <p:cNvCxnSpPr>
            <a:cxnSpLocks/>
            <a:stCxn id="405" idx="2"/>
            <a:endCxn id="407" idx="1"/>
          </p:cNvCxnSpPr>
          <p:nvPr/>
        </p:nvCxnSpPr>
        <p:spPr>
          <a:xfrm rot="16200000" flipH="1">
            <a:off x="936305" y="5631986"/>
            <a:ext cx="104875" cy="584311"/>
          </a:xfrm>
          <a:prstGeom prst="bentConnector2">
            <a:avLst/>
          </a:prstGeom>
          <a:ln>
            <a:prstDash val="lg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1" name="그림 410">
            <a:extLst>
              <a:ext uri="{FF2B5EF4-FFF2-40B4-BE49-F238E27FC236}">
                <a16:creationId xmlns:a16="http://schemas.microsoft.com/office/drawing/2014/main" id="{7C2E18A1-153C-4F00-8169-78425F63E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543" y="835897"/>
            <a:ext cx="383946" cy="227165"/>
          </a:xfrm>
          <a:prstGeom prst="rect">
            <a:avLst/>
          </a:prstGeom>
        </p:spPr>
      </p:pic>
      <p:sp>
        <p:nvSpPr>
          <p:cNvPr id="417" name="직사각형 416">
            <a:extLst>
              <a:ext uri="{FF2B5EF4-FFF2-40B4-BE49-F238E27FC236}">
                <a16:creationId xmlns:a16="http://schemas.microsoft.com/office/drawing/2014/main" id="{2806A066-6E44-4B50-B202-08EA193679B8}"/>
              </a:ext>
            </a:extLst>
          </p:cNvPr>
          <p:cNvSpPr/>
          <p:nvPr/>
        </p:nvSpPr>
        <p:spPr>
          <a:xfrm>
            <a:off x="262989" y="5367327"/>
            <a:ext cx="94288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18" name="직사각형 417">
            <a:extLst>
              <a:ext uri="{FF2B5EF4-FFF2-40B4-BE49-F238E27FC236}">
                <a16:creationId xmlns:a16="http://schemas.microsoft.com/office/drawing/2014/main" id="{FC11BCC2-B144-4A3A-8FB8-B916464EAB79}"/>
              </a:ext>
            </a:extLst>
          </p:cNvPr>
          <p:cNvSpPr/>
          <p:nvPr/>
        </p:nvSpPr>
        <p:spPr>
          <a:xfrm>
            <a:off x="8405747" y="5540422"/>
            <a:ext cx="110158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Cloud Bus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419" name="그림 418">
            <a:extLst>
              <a:ext uri="{FF2B5EF4-FFF2-40B4-BE49-F238E27FC236}">
                <a16:creationId xmlns:a16="http://schemas.microsoft.com/office/drawing/2014/main" id="{73FE6F3F-406A-4B64-925A-04D78B56D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213" y="5429981"/>
            <a:ext cx="165100" cy="97683"/>
          </a:xfrm>
          <a:prstGeom prst="rect">
            <a:avLst/>
          </a:prstGeom>
        </p:spPr>
      </p:pic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34B07AD5-2F5A-4D5F-A476-EBE384E0097B}"/>
              </a:ext>
            </a:extLst>
          </p:cNvPr>
          <p:cNvSpPr/>
          <p:nvPr/>
        </p:nvSpPr>
        <p:spPr>
          <a:xfrm>
            <a:off x="8405747" y="5374413"/>
            <a:ext cx="534256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Server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9CBFA7E7-A1CE-444A-B7E3-879A5387EC92}"/>
              </a:ext>
            </a:extLst>
          </p:cNvPr>
          <p:cNvSpPr/>
          <p:nvPr/>
        </p:nvSpPr>
        <p:spPr>
          <a:xfrm>
            <a:off x="3103494" y="839553"/>
            <a:ext cx="5757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Master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AEBF10CE-0FCE-4F9E-9291-34FB512C80FD}"/>
              </a:ext>
            </a:extLst>
          </p:cNvPr>
          <p:cNvSpPr/>
          <p:nvPr/>
        </p:nvSpPr>
        <p:spPr>
          <a:xfrm>
            <a:off x="8405747" y="5710138"/>
            <a:ext cx="74411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Rabbit MQ</a:t>
            </a:r>
          </a:p>
        </p:txBody>
      </p:sp>
      <p:pic>
        <p:nvPicPr>
          <p:cNvPr id="427" name="그림 426">
            <a:extLst>
              <a:ext uri="{FF2B5EF4-FFF2-40B4-BE49-F238E27FC236}">
                <a16:creationId xmlns:a16="http://schemas.microsoft.com/office/drawing/2014/main" id="{6322FF57-CDDE-4CE3-95A1-953A29747C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568" y="5749325"/>
            <a:ext cx="126790" cy="134859"/>
          </a:xfrm>
          <a:prstGeom prst="rect">
            <a:avLst/>
          </a:prstGeom>
        </p:spPr>
      </p:pic>
      <p:sp>
        <p:nvSpPr>
          <p:cNvPr id="428" name="사각형: 둥근 모서리 427">
            <a:extLst>
              <a:ext uri="{FF2B5EF4-FFF2-40B4-BE49-F238E27FC236}">
                <a16:creationId xmlns:a16="http://schemas.microsoft.com/office/drawing/2014/main" id="{5FB2B465-D016-4A56-90B1-65B8577EDEC1}"/>
              </a:ext>
            </a:extLst>
          </p:cNvPr>
          <p:cNvSpPr/>
          <p:nvPr/>
        </p:nvSpPr>
        <p:spPr>
          <a:xfrm>
            <a:off x="8495640" y="3929337"/>
            <a:ext cx="1242412" cy="12519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92EBFDBC-48CD-4902-B217-CBC4FA06BAA1}"/>
              </a:ext>
            </a:extLst>
          </p:cNvPr>
          <p:cNvGrpSpPr/>
          <p:nvPr/>
        </p:nvGrpSpPr>
        <p:grpSpPr>
          <a:xfrm>
            <a:off x="8104213" y="5577647"/>
            <a:ext cx="128666" cy="130100"/>
            <a:chOff x="5213886" y="1690790"/>
            <a:chExt cx="205187" cy="198343"/>
          </a:xfrm>
        </p:grpSpPr>
        <p:sp>
          <p:nvSpPr>
            <p:cNvPr id="431" name="Oval 159">
              <a:extLst>
                <a:ext uri="{FF2B5EF4-FFF2-40B4-BE49-F238E27FC236}">
                  <a16:creationId xmlns:a16="http://schemas.microsoft.com/office/drawing/2014/main" id="{BB4CFA37-A164-4B85-952A-D78C7B6F76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/>
            </a:p>
          </p:txBody>
        </p:sp>
        <p:pic>
          <p:nvPicPr>
            <p:cNvPr id="432" name="그림 431">
              <a:extLst>
                <a:ext uri="{FF2B5EF4-FFF2-40B4-BE49-F238E27FC236}">
                  <a16:creationId xmlns:a16="http://schemas.microsoft.com/office/drawing/2014/main" id="{FA77AC9C-08F4-4352-9900-2F0BA5D0D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434" name="사각형: 둥근 모서리 433">
            <a:extLst>
              <a:ext uri="{FF2B5EF4-FFF2-40B4-BE49-F238E27FC236}">
                <a16:creationId xmlns:a16="http://schemas.microsoft.com/office/drawing/2014/main" id="{C4B25B3B-B644-4974-B26F-599471E9EE1A}"/>
              </a:ext>
            </a:extLst>
          </p:cNvPr>
          <p:cNvSpPr/>
          <p:nvPr/>
        </p:nvSpPr>
        <p:spPr>
          <a:xfrm>
            <a:off x="7948067" y="5323709"/>
            <a:ext cx="1789985" cy="1067565"/>
          </a:xfrm>
          <a:prstGeom prst="roundRect">
            <a:avLst/>
          </a:prstGeom>
          <a:noFill/>
          <a:ln w="28575">
            <a:solidFill>
              <a:schemeClr val="accent6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5" name="AutoShape 48">
            <a:extLst>
              <a:ext uri="{FF2B5EF4-FFF2-40B4-BE49-F238E27FC236}">
                <a16:creationId xmlns:a16="http://schemas.microsoft.com/office/drawing/2014/main" id="{9666AAFA-37FB-4511-AEC8-FDADA6A1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461" y="5587573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                 Sleuth</a:t>
            </a:r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AC247982-15F8-4CB2-AAB9-3658A419D2BC}"/>
              </a:ext>
            </a:extLst>
          </p:cNvPr>
          <p:cNvSpPr/>
          <p:nvPr/>
        </p:nvSpPr>
        <p:spPr>
          <a:xfrm>
            <a:off x="3662360" y="5335256"/>
            <a:ext cx="114618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Monitoring</a:t>
            </a:r>
          </a:p>
        </p:txBody>
      </p:sp>
      <p:pic>
        <p:nvPicPr>
          <p:cNvPr id="437" name="그림 436">
            <a:extLst>
              <a:ext uri="{FF2B5EF4-FFF2-40B4-BE49-F238E27FC236}">
                <a16:creationId xmlns:a16="http://schemas.microsoft.com/office/drawing/2014/main" id="{25C51B6B-E1FB-435D-A48D-67F3E69BBE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27" y="5581721"/>
            <a:ext cx="702535" cy="204906"/>
          </a:xfrm>
          <a:prstGeom prst="rect">
            <a:avLst/>
          </a:prstGeom>
        </p:spPr>
      </p:pic>
      <p:cxnSp>
        <p:nvCxnSpPr>
          <p:cNvPr id="440" name="직선 화살표 연결선 439">
            <a:extLst>
              <a:ext uri="{FF2B5EF4-FFF2-40B4-BE49-F238E27FC236}">
                <a16:creationId xmlns:a16="http://schemas.microsoft.com/office/drawing/2014/main" id="{656E98D0-3DFC-4B71-92BC-A160875F8773}"/>
              </a:ext>
            </a:extLst>
          </p:cNvPr>
          <p:cNvCxnSpPr>
            <a:cxnSpLocks/>
          </p:cNvCxnSpPr>
          <p:nvPr/>
        </p:nvCxnSpPr>
        <p:spPr>
          <a:xfrm flipV="1">
            <a:off x="8078720" y="5969654"/>
            <a:ext cx="340847" cy="33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2E2843CE-76B6-4366-817B-B335AA6B3125}"/>
              </a:ext>
            </a:extLst>
          </p:cNvPr>
          <p:cNvSpPr/>
          <p:nvPr/>
        </p:nvSpPr>
        <p:spPr>
          <a:xfrm>
            <a:off x="8408104" y="5869250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서비스 연계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442" name="그림 441">
            <a:extLst>
              <a:ext uri="{FF2B5EF4-FFF2-40B4-BE49-F238E27FC236}">
                <a16:creationId xmlns:a16="http://schemas.microsoft.com/office/drawing/2014/main" id="{11186C93-71B5-4C0F-A27B-30EAFDC2022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41455" y="1695721"/>
            <a:ext cx="432824" cy="372475"/>
          </a:xfrm>
          <a:prstGeom prst="rect">
            <a:avLst/>
          </a:prstGeom>
        </p:spPr>
      </p:pic>
      <p:sp>
        <p:nvSpPr>
          <p:cNvPr id="443" name="사각형: 둥근 모서리 442">
            <a:extLst>
              <a:ext uri="{FF2B5EF4-FFF2-40B4-BE49-F238E27FC236}">
                <a16:creationId xmlns:a16="http://schemas.microsoft.com/office/drawing/2014/main" id="{6D115966-D8CD-4A7D-B429-4A461D695978}"/>
              </a:ext>
            </a:extLst>
          </p:cNvPr>
          <p:cNvSpPr/>
          <p:nvPr/>
        </p:nvSpPr>
        <p:spPr>
          <a:xfrm>
            <a:off x="3642107" y="5323709"/>
            <a:ext cx="4167001" cy="1065386"/>
          </a:xfrm>
          <a:prstGeom prst="round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4" name="그림 443">
            <a:extLst>
              <a:ext uri="{FF2B5EF4-FFF2-40B4-BE49-F238E27FC236}">
                <a16:creationId xmlns:a16="http://schemas.microsoft.com/office/drawing/2014/main" id="{0A150D94-152D-4B99-A734-2BAE199858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778" y="6075267"/>
            <a:ext cx="1087478" cy="231289"/>
          </a:xfrm>
          <a:prstGeom prst="rect">
            <a:avLst/>
          </a:prstGeom>
        </p:spPr>
      </p:pic>
      <p:sp>
        <p:nvSpPr>
          <p:cNvPr id="445" name="사각형: 둥근 대각선 방향 모서리 444">
            <a:extLst>
              <a:ext uri="{FF2B5EF4-FFF2-40B4-BE49-F238E27FC236}">
                <a16:creationId xmlns:a16="http://schemas.microsoft.com/office/drawing/2014/main" id="{B2854933-D500-4F42-8FAD-C2CFF7E7A357}"/>
              </a:ext>
            </a:extLst>
          </p:cNvPr>
          <p:cNvSpPr/>
          <p:nvPr/>
        </p:nvSpPr>
        <p:spPr>
          <a:xfrm>
            <a:off x="8666079" y="4481144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금융기관</a:t>
            </a:r>
          </a:p>
        </p:txBody>
      </p:sp>
      <p:sp>
        <p:nvSpPr>
          <p:cNvPr id="446" name="사각형: 둥근 대각선 방향 모서리 445">
            <a:extLst>
              <a:ext uri="{FF2B5EF4-FFF2-40B4-BE49-F238E27FC236}">
                <a16:creationId xmlns:a16="http://schemas.microsoft.com/office/drawing/2014/main" id="{0FEAB79B-1C7F-4DED-BC70-D9FFC33D3926}"/>
              </a:ext>
            </a:extLst>
          </p:cNvPr>
          <p:cNvSpPr/>
          <p:nvPr/>
        </p:nvSpPr>
        <p:spPr>
          <a:xfrm>
            <a:off x="8666079" y="4314329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국세청</a:t>
            </a:r>
          </a:p>
        </p:txBody>
      </p:sp>
      <p:sp>
        <p:nvSpPr>
          <p:cNvPr id="447" name="사각형: 둥근 대각선 방향 모서리 446">
            <a:extLst>
              <a:ext uri="{FF2B5EF4-FFF2-40B4-BE49-F238E27FC236}">
                <a16:creationId xmlns:a16="http://schemas.microsoft.com/office/drawing/2014/main" id="{CF6B6559-D56D-4DC2-B0F5-3FF9EE5A8565}"/>
              </a:ext>
            </a:extLst>
          </p:cNvPr>
          <p:cNvSpPr/>
          <p:nvPr/>
        </p:nvSpPr>
        <p:spPr>
          <a:xfrm>
            <a:off x="8666079" y="4647959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카드사</a:t>
            </a:r>
          </a:p>
        </p:txBody>
      </p:sp>
      <p:sp>
        <p:nvSpPr>
          <p:cNvPr id="448" name="사각형: 둥근 대각선 방향 모서리 447">
            <a:extLst>
              <a:ext uri="{FF2B5EF4-FFF2-40B4-BE49-F238E27FC236}">
                <a16:creationId xmlns:a16="http://schemas.microsoft.com/office/drawing/2014/main" id="{258DFC50-18B0-4D13-9D46-14AFCC46C69C}"/>
              </a:ext>
            </a:extLst>
          </p:cNvPr>
          <p:cNvSpPr/>
          <p:nvPr/>
        </p:nvSpPr>
        <p:spPr>
          <a:xfrm>
            <a:off x="8663031" y="4814774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4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대보험포탈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49" name="사각형: 둥근 모서리 448">
            <a:extLst>
              <a:ext uri="{FF2B5EF4-FFF2-40B4-BE49-F238E27FC236}">
                <a16:creationId xmlns:a16="http://schemas.microsoft.com/office/drawing/2014/main" id="{B6AAB9F3-5673-4F76-870A-F2833270725E}"/>
              </a:ext>
            </a:extLst>
          </p:cNvPr>
          <p:cNvSpPr/>
          <p:nvPr/>
        </p:nvSpPr>
        <p:spPr>
          <a:xfrm>
            <a:off x="8495640" y="670959"/>
            <a:ext cx="1249242" cy="1484301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0" name="사각형: 둥근 대각선 방향 모서리 449">
            <a:extLst>
              <a:ext uri="{FF2B5EF4-FFF2-40B4-BE49-F238E27FC236}">
                <a16:creationId xmlns:a16="http://schemas.microsoft.com/office/drawing/2014/main" id="{4A9EF8E3-D2A8-445B-81C4-CA3A61EBE753}"/>
              </a:ext>
            </a:extLst>
          </p:cNvPr>
          <p:cNvSpPr/>
          <p:nvPr/>
        </p:nvSpPr>
        <p:spPr>
          <a:xfrm>
            <a:off x="8652411" y="1144232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전자결재</a:t>
            </a:r>
          </a:p>
        </p:txBody>
      </p:sp>
      <p:sp>
        <p:nvSpPr>
          <p:cNvPr id="451" name="사각형: 둥근 대각선 방향 모서리 450">
            <a:extLst>
              <a:ext uri="{FF2B5EF4-FFF2-40B4-BE49-F238E27FC236}">
                <a16:creationId xmlns:a16="http://schemas.microsoft.com/office/drawing/2014/main" id="{F195859C-43B3-4DD8-A3B4-1515D9E374ED}"/>
              </a:ext>
            </a:extLst>
          </p:cNvPr>
          <p:cNvSpPr/>
          <p:nvPr/>
        </p:nvSpPr>
        <p:spPr>
          <a:xfrm>
            <a:off x="8652411" y="977417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통합인증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사용자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52" name="사각형: 둥근 대각선 방향 모서리 451">
            <a:extLst>
              <a:ext uri="{FF2B5EF4-FFF2-40B4-BE49-F238E27FC236}">
                <a16:creationId xmlns:a16="http://schemas.microsoft.com/office/drawing/2014/main" id="{9238A147-A73C-41FE-9879-247AA13BB54D}"/>
              </a:ext>
            </a:extLst>
          </p:cNvPr>
          <p:cNvSpPr/>
          <p:nvPr/>
        </p:nvSpPr>
        <p:spPr>
          <a:xfrm>
            <a:off x="8652411" y="1311047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Mail(SMTP)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53" name="사각형: 둥근 대각선 방향 모서리 452">
            <a:extLst>
              <a:ext uri="{FF2B5EF4-FFF2-40B4-BE49-F238E27FC236}">
                <a16:creationId xmlns:a16="http://schemas.microsoft.com/office/drawing/2014/main" id="{60E606E3-A4B2-4695-BE8F-44E3619EF897}"/>
              </a:ext>
            </a:extLst>
          </p:cNvPr>
          <p:cNvSpPr/>
          <p:nvPr/>
        </p:nvSpPr>
        <p:spPr>
          <a:xfrm>
            <a:off x="8652411" y="1661922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Works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54" name="사각형: 둥근 대각선 방향 모서리 453">
            <a:extLst>
              <a:ext uri="{FF2B5EF4-FFF2-40B4-BE49-F238E27FC236}">
                <a16:creationId xmlns:a16="http://schemas.microsoft.com/office/drawing/2014/main" id="{EF0604F5-E811-454E-AF44-5367E4F27B37}"/>
              </a:ext>
            </a:extLst>
          </p:cNvPr>
          <p:cNvSpPr/>
          <p:nvPr/>
        </p:nvSpPr>
        <p:spPr>
          <a:xfrm>
            <a:off x="8657989" y="1477862"/>
            <a:ext cx="929419" cy="139227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Messenger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67D93250-E465-4CD5-B46C-181813231F92}"/>
              </a:ext>
            </a:extLst>
          </p:cNvPr>
          <p:cNvSpPr/>
          <p:nvPr/>
        </p:nvSpPr>
        <p:spPr>
          <a:xfrm>
            <a:off x="8402315" y="6023482"/>
            <a:ext cx="114034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비동기 통신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456" name="연결선: 꺾임 455">
            <a:extLst>
              <a:ext uri="{FF2B5EF4-FFF2-40B4-BE49-F238E27FC236}">
                <a16:creationId xmlns:a16="http://schemas.microsoft.com/office/drawing/2014/main" id="{400EF4F3-E3F7-473E-A2BB-DC3EF6C8B130}"/>
              </a:ext>
            </a:extLst>
          </p:cNvPr>
          <p:cNvCxnSpPr>
            <a:cxnSpLocks/>
          </p:cNvCxnSpPr>
          <p:nvPr/>
        </p:nvCxnSpPr>
        <p:spPr>
          <a:xfrm rot="10800000">
            <a:off x="8040193" y="6112457"/>
            <a:ext cx="379374" cy="205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7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FCB16DE4-E191-4609-96CA-B02225FFD8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2948518" y="1054310"/>
            <a:ext cx="548567" cy="13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B5C2339A-FBEF-46C0-912D-D405203FE00B}"/>
              </a:ext>
            </a:extLst>
          </p:cNvPr>
          <p:cNvSpPr/>
          <p:nvPr/>
        </p:nvSpPr>
        <p:spPr>
          <a:xfrm>
            <a:off x="3018026" y="1204831"/>
            <a:ext cx="886385" cy="20933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-API Server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59" name="직사각형 458">
            <a:extLst>
              <a:ext uri="{FF2B5EF4-FFF2-40B4-BE49-F238E27FC236}">
                <a16:creationId xmlns:a16="http://schemas.microsoft.com/office/drawing/2014/main" id="{4639FCE7-1CA7-42DE-9C10-DEA6967484BA}"/>
              </a:ext>
            </a:extLst>
          </p:cNvPr>
          <p:cNvSpPr/>
          <p:nvPr/>
        </p:nvSpPr>
        <p:spPr>
          <a:xfrm>
            <a:off x="3020243" y="1444509"/>
            <a:ext cx="886385" cy="22578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-scheduler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60" name="사각형: 둥근 모서리 459">
            <a:extLst>
              <a:ext uri="{FF2B5EF4-FFF2-40B4-BE49-F238E27FC236}">
                <a16:creationId xmlns:a16="http://schemas.microsoft.com/office/drawing/2014/main" id="{CA8C0467-C362-45D9-85A0-3CF9EEA38959}"/>
              </a:ext>
            </a:extLst>
          </p:cNvPr>
          <p:cNvSpPr/>
          <p:nvPr/>
        </p:nvSpPr>
        <p:spPr>
          <a:xfrm>
            <a:off x="828104" y="3268646"/>
            <a:ext cx="1849201" cy="1836337"/>
          </a:xfrm>
          <a:prstGeom prst="roundRect">
            <a:avLst>
              <a:gd name="adj" fmla="val 125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119E2C02-F327-46F7-A8C4-88E27AF08D82}"/>
              </a:ext>
            </a:extLst>
          </p:cNvPr>
          <p:cNvSpPr/>
          <p:nvPr/>
        </p:nvSpPr>
        <p:spPr>
          <a:xfrm>
            <a:off x="3014735" y="1710323"/>
            <a:ext cx="886385" cy="32182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-controller-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+mn-cs"/>
              </a:rPr>
              <a:t>manager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D01A7912-3B1B-4C20-8F92-3C9A77252E59}"/>
              </a:ext>
            </a:extLst>
          </p:cNvPr>
          <p:cNvSpPr/>
          <p:nvPr/>
        </p:nvSpPr>
        <p:spPr>
          <a:xfrm>
            <a:off x="3014735" y="2072095"/>
            <a:ext cx="886385" cy="18580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etcd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463" name="직사각형 462">
            <a:extLst>
              <a:ext uri="{FF2B5EF4-FFF2-40B4-BE49-F238E27FC236}">
                <a16:creationId xmlns:a16="http://schemas.microsoft.com/office/drawing/2014/main" id="{84607134-568C-454D-AEC9-C8537D847DD1}"/>
              </a:ext>
            </a:extLst>
          </p:cNvPr>
          <p:cNvSpPr/>
          <p:nvPr/>
        </p:nvSpPr>
        <p:spPr>
          <a:xfrm>
            <a:off x="789731" y="3338293"/>
            <a:ext cx="65594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인증</a:t>
            </a:r>
            <a:r>
              <a:rPr lang="en-US" altLang="ko-KR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인가</a:t>
            </a:r>
            <a:endParaRPr lang="ko-KR" altLang="en-US" dirty="0"/>
          </a:p>
        </p:txBody>
      </p:sp>
      <p:grpSp>
        <p:nvGrpSpPr>
          <p:cNvPr id="464" name="Group 1014">
            <a:extLst>
              <a:ext uri="{FF2B5EF4-FFF2-40B4-BE49-F238E27FC236}">
                <a16:creationId xmlns:a16="http://schemas.microsoft.com/office/drawing/2014/main" id="{5A5A5F02-20CB-4308-9C77-3095227F246A}"/>
              </a:ext>
            </a:extLst>
          </p:cNvPr>
          <p:cNvGrpSpPr>
            <a:grpSpLocks/>
          </p:cNvGrpSpPr>
          <p:nvPr/>
        </p:nvGrpSpPr>
        <p:grpSpPr bwMode="auto">
          <a:xfrm>
            <a:off x="907779" y="3897794"/>
            <a:ext cx="163169" cy="200742"/>
            <a:chOff x="5666" y="988"/>
            <a:chExt cx="202" cy="351"/>
          </a:xfrm>
        </p:grpSpPr>
        <p:sp>
          <p:nvSpPr>
            <p:cNvPr id="465" name="Freeform 1015">
              <a:extLst>
                <a:ext uri="{FF2B5EF4-FFF2-40B4-BE49-F238E27FC236}">
                  <a16:creationId xmlns:a16="http://schemas.microsoft.com/office/drawing/2014/main" id="{421F8462-BC46-42BB-B4A8-933AD9774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4"/>
              <a:ext cx="144" cy="328"/>
            </a:xfrm>
            <a:custGeom>
              <a:avLst/>
              <a:gdLst>
                <a:gd name="T0" fmla="*/ 0 w 144"/>
                <a:gd name="T1" fmla="*/ 1 h 328"/>
                <a:gd name="T2" fmla="*/ 0 w 144"/>
                <a:gd name="T3" fmla="*/ 327 h 328"/>
                <a:gd name="T4" fmla="*/ 143 w 144"/>
                <a:gd name="T5" fmla="*/ 312 h 328"/>
                <a:gd name="T6" fmla="*/ 143 w 144"/>
                <a:gd name="T7" fmla="*/ 6 h 328"/>
                <a:gd name="T8" fmla="*/ 143 w 144"/>
                <a:gd name="T9" fmla="*/ 6 h 328"/>
                <a:gd name="T10" fmla="*/ 0 w 144"/>
                <a:gd name="T11" fmla="*/ 0 h 328"/>
                <a:gd name="T12" fmla="*/ 143 w 144"/>
                <a:gd name="T13" fmla="*/ 6 h 328"/>
                <a:gd name="T14" fmla="*/ 0 w 144"/>
                <a:gd name="T15" fmla="*/ 0 h 328"/>
                <a:gd name="T16" fmla="*/ 143 w 144"/>
                <a:gd name="T17" fmla="*/ 6 h 328"/>
                <a:gd name="T18" fmla="*/ 0 w 144"/>
                <a:gd name="T19" fmla="*/ 0 h 328"/>
                <a:gd name="T20" fmla="*/ 143 w 144"/>
                <a:gd name="T21" fmla="*/ 6 h 328"/>
                <a:gd name="T22" fmla="*/ 0 w 144"/>
                <a:gd name="T23" fmla="*/ 0 h 328"/>
                <a:gd name="T24" fmla="*/ 143 w 144"/>
                <a:gd name="T25" fmla="*/ 6 h 328"/>
                <a:gd name="T26" fmla="*/ 0 w 144"/>
                <a:gd name="T27" fmla="*/ 0 h 328"/>
                <a:gd name="T28" fmla="*/ 143 w 144"/>
                <a:gd name="T29" fmla="*/ 6 h 328"/>
                <a:gd name="T30" fmla="*/ 0 w 144"/>
                <a:gd name="T31" fmla="*/ 0 h 328"/>
                <a:gd name="T32" fmla="*/ 143 w 144"/>
                <a:gd name="T33" fmla="*/ 6 h 328"/>
                <a:gd name="T34" fmla="*/ 0 w 144"/>
                <a:gd name="T35" fmla="*/ 0 h 328"/>
                <a:gd name="T36" fmla="*/ 143 w 144"/>
                <a:gd name="T37" fmla="*/ 6 h 328"/>
                <a:gd name="T38" fmla="*/ 0 w 144"/>
                <a:gd name="T39" fmla="*/ 0 h 328"/>
                <a:gd name="T40" fmla="*/ 143 w 144"/>
                <a:gd name="T41" fmla="*/ 6 h 328"/>
                <a:gd name="T42" fmla="*/ 0 w 144"/>
                <a:gd name="T43" fmla="*/ 0 h 328"/>
                <a:gd name="T44" fmla="*/ 143 w 144"/>
                <a:gd name="T45" fmla="*/ 6 h 328"/>
                <a:gd name="T46" fmla="*/ 0 w 144"/>
                <a:gd name="T47" fmla="*/ 0 h 328"/>
                <a:gd name="T48" fmla="*/ 143 w 144"/>
                <a:gd name="T49" fmla="*/ 6 h 328"/>
                <a:gd name="T50" fmla="*/ 0 w 144"/>
                <a:gd name="T51" fmla="*/ 0 h 328"/>
                <a:gd name="T52" fmla="*/ 143 w 144"/>
                <a:gd name="T53" fmla="*/ 6 h 328"/>
                <a:gd name="T54" fmla="*/ 0 w 144"/>
                <a:gd name="T55" fmla="*/ 0 h 328"/>
                <a:gd name="T56" fmla="*/ 143 w 144"/>
                <a:gd name="T57" fmla="*/ 6 h 328"/>
                <a:gd name="T58" fmla="*/ 0 w 144"/>
                <a:gd name="T59" fmla="*/ 0 h 328"/>
                <a:gd name="T60" fmla="*/ 143 w 144"/>
                <a:gd name="T61" fmla="*/ 6 h 328"/>
                <a:gd name="T62" fmla="*/ 0 w 144"/>
                <a:gd name="T63" fmla="*/ 0 h 328"/>
                <a:gd name="T64" fmla="*/ 143 w 144"/>
                <a:gd name="T65" fmla="*/ 6 h 328"/>
                <a:gd name="T66" fmla="*/ 0 w 144"/>
                <a:gd name="T67" fmla="*/ 0 h 328"/>
                <a:gd name="T68" fmla="*/ 143 w 144"/>
                <a:gd name="T69" fmla="*/ 6 h 328"/>
                <a:gd name="T70" fmla="*/ 0 w 144"/>
                <a:gd name="T71" fmla="*/ 0 h 328"/>
                <a:gd name="T72" fmla="*/ 143 w 144"/>
                <a:gd name="T73" fmla="*/ 6 h 328"/>
                <a:gd name="T74" fmla="*/ 0 w 144"/>
                <a:gd name="T75" fmla="*/ 0 h 328"/>
                <a:gd name="T76" fmla="*/ 143 w 144"/>
                <a:gd name="T77" fmla="*/ 6 h 328"/>
                <a:gd name="T78" fmla="*/ 0 w 144"/>
                <a:gd name="T79" fmla="*/ 0 h 328"/>
                <a:gd name="T80" fmla="*/ 143 w 144"/>
                <a:gd name="T81" fmla="*/ 6 h 328"/>
                <a:gd name="T82" fmla="*/ 0 w 144"/>
                <a:gd name="T83" fmla="*/ 0 h 328"/>
                <a:gd name="T84" fmla="*/ 0 w 144"/>
                <a:gd name="T85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4" h="328">
                  <a:moveTo>
                    <a:pt x="0" y="1"/>
                  </a:moveTo>
                  <a:lnTo>
                    <a:pt x="0" y="327"/>
                  </a:lnTo>
                  <a:lnTo>
                    <a:pt x="143" y="312"/>
                  </a:lnTo>
                  <a:lnTo>
                    <a:pt x="143" y="6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143" y="6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5400000" scaled="1"/>
            </a:gradFill>
            <a:ln w="9088" cap="flat" cmpd="sng">
              <a:solidFill>
                <a:srgbClr val="72727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6" name="Freeform 1016">
              <a:extLst>
                <a:ext uri="{FF2B5EF4-FFF2-40B4-BE49-F238E27FC236}">
                  <a16:creationId xmlns:a16="http://schemas.microsoft.com/office/drawing/2014/main" id="{3C2F6EDA-AA09-462C-AB2E-981860EF9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0 h 328"/>
                <a:gd name="T2" fmla="*/ 58 w 59"/>
                <a:gd name="T3" fmla="*/ 327 h 328"/>
                <a:gd name="T4" fmla="*/ 0 w 59"/>
                <a:gd name="T5" fmla="*/ 271 h 328"/>
                <a:gd name="T6" fmla="*/ 0 w 59"/>
                <a:gd name="T7" fmla="*/ 26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327 h 328"/>
                <a:gd name="T14" fmla="*/ 58 w 59"/>
                <a:gd name="T15" fmla="*/ 0 h 328"/>
                <a:gd name="T16" fmla="*/ 58 w 59"/>
                <a:gd name="T17" fmla="*/ 327 h 328"/>
                <a:gd name="T18" fmla="*/ 58 w 59"/>
                <a:gd name="T19" fmla="*/ 0 h 328"/>
                <a:gd name="T20" fmla="*/ 58 w 59"/>
                <a:gd name="T21" fmla="*/ 327 h 328"/>
                <a:gd name="T22" fmla="*/ 58 w 59"/>
                <a:gd name="T23" fmla="*/ 0 h 328"/>
                <a:gd name="T24" fmla="*/ 58 w 59"/>
                <a:gd name="T25" fmla="*/ 327 h 328"/>
                <a:gd name="T26" fmla="*/ 58 w 59"/>
                <a:gd name="T27" fmla="*/ 0 h 328"/>
                <a:gd name="T28" fmla="*/ 58 w 59"/>
                <a:gd name="T29" fmla="*/ 327 h 328"/>
                <a:gd name="T30" fmla="*/ 58 w 59"/>
                <a:gd name="T31" fmla="*/ 0 h 328"/>
                <a:gd name="T32" fmla="*/ 58 w 59"/>
                <a:gd name="T33" fmla="*/ 327 h 328"/>
                <a:gd name="T34" fmla="*/ 58 w 59"/>
                <a:gd name="T35" fmla="*/ 0 h 328"/>
                <a:gd name="T36" fmla="*/ 58 w 59"/>
                <a:gd name="T37" fmla="*/ 327 h 328"/>
                <a:gd name="T38" fmla="*/ 58 w 59"/>
                <a:gd name="T39" fmla="*/ 0 h 328"/>
                <a:gd name="T40" fmla="*/ 58 w 59"/>
                <a:gd name="T41" fmla="*/ 327 h 328"/>
                <a:gd name="T42" fmla="*/ 58 w 59"/>
                <a:gd name="T43" fmla="*/ 0 h 328"/>
                <a:gd name="T44" fmla="*/ 58 w 59"/>
                <a:gd name="T45" fmla="*/ 327 h 328"/>
                <a:gd name="T46" fmla="*/ 58 w 59"/>
                <a:gd name="T47" fmla="*/ 0 h 328"/>
                <a:gd name="T48" fmla="*/ 58 w 59"/>
                <a:gd name="T49" fmla="*/ 327 h 328"/>
                <a:gd name="T50" fmla="*/ 58 w 59"/>
                <a:gd name="T51" fmla="*/ 0 h 328"/>
                <a:gd name="T52" fmla="*/ 58 w 59"/>
                <a:gd name="T53" fmla="*/ 327 h 328"/>
                <a:gd name="T54" fmla="*/ 58 w 59"/>
                <a:gd name="T5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7" name="Line 1017">
              <a:extLst>
                <a:ext uri="{FF2B5EF4-FFF2-40B4-BE49-F238E27FC236}">
                  <a16:creationId xmlns:a16="http://schemas.microsoft.com/office/drawing/2014/main" id="{CB00E44C-28D2-48F4-9E3E-35AE91298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91" y="1008"/>
              <a:ext cx="0" cy="279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8" name="Line 1018">
              <a:extLst>
                <a:ext uri="{FF2B5EF4-FFF2-40B4-BE49-F238E27FC236}">
                  <a16:creationId xmlns:a16="http://schemas.microsoft.com/office/drawing/2014/main" id="{3689385D-067B-4560-91F3-CFDE1B72D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0" y="1000"/>
              <a:ext cx="0" cy="306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69" name="Line 1019">
              <a:extLst>
                <a:ext uri="{FF2B5EF4-FFF2-40B4-BE49-F238E27FC236}">
                  <a16:creationId xmlns:a16="http://schemas.microsoft.com/office/drawing/2014/main" id="{9EB38914-10A4-4968-8761-5D13B06BC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7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0" name="Line 1020">
              <a:extLst>
                <a:ext uri="{FF2B5EF4-FFF2-40B4-BE49-F238E27FC236}">
                  <a16:creationId xmlns:a16="http://schemas.microsoft.com/office/drawing/2014/main" id="{785F79EF-A9A3-4E72-B281-E802D3DE1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3" y="997"/>
              <a:ext cx="0" cy="317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1" name="AutoShape 1021">
              <a:extLst>
                <a:ext uri="{FF2B5EF4-FFF2-40B4-BE49-F238E27FC236}">
                  <a16:creationId xmlns:a16="http://schemas.microsoft.com/office/drawing/2014/main" id="{42EDD492-7DC2-4A97-B3E1-14C9C75F16E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09" y="998"/>
              <a:ext cx="27" cy="89"/>
            </a:xfrm>
            <a:prstGeom prst="roundRect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2" name="Freeform 1022">
              <a:extLst>
                <a:ext uri="{FF2B5EF4-FFF2-40B4-BE49-F238E27FC236}">
                  <a16:creationId xmlns:a16="http://schemas.microsoft.com/office/drawing/2014/main" id="{16069ADE-BD71-4853-8DEB-3DFA7C93F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" y="993"/>
              <a:ext cx="59" cy="328"/>
            </a:xfrm>
            <a:custGeom>
              <a:avLst/>
              <a:gdLst>
                <a:gd name="T0" fmla="*/ 58 w 59"/>
                <a:gd name="T1" fmla="*/ 327 h 328"/>
                <a:gd name="T2" fmla="*/ 0 w 59"/>
                <a:gd name="T3" fmla="*/ 26 h 328"/>
                <a:gd name="T4" fmla="*/ 58 w 59"/>
                <a:gd name="T5" fmla="*/ 0 h 328"/>
                <a:gd name="T6" fmla="*/ 58 w 59"/>
                <a:gd name="T7" fmla="*/ 0 h 328"/>
                <a:gd name="T8" fmla="*/ 58 w 59"/>
                <a:gd name="T9" fmla="*/ 0 h 328"/>
                <a:gd name="T10" fmla="*/ 58 w 59"/>
                <a:gd name="T11" fmla="*/ 0 h 328"/>
                <a:gd name="T12" fmla="*/ 58 w 59"/>
                <a:gd name="T13" fmla="*/ 0 h 328"/>
                <a:gd name="T14" fmla="*/ 58 w 59"/>
                <a:gd name="T15" fmla="*/ 0 h 328"/>
                <a:gd name="T16" fmla="*/ 58 w 59"/>
                <a:gd name="T17" fmla="*/ 0 h 328"/>
                <a:gd name="T18" fmla="*/ 58 w 59"/>
                <a:gd name="T19" fmla="*/ 0 h 328"/>
                <a:gd name="T20" fmla="*/ 58 w 59"/>
                <a:gd name="T21" fmla="*/ 0 h 328"/>
                <a:gd name="T22" fmla="*/ 58 w 59"/>
                <a:gd name="T23" fmla="*/ 0 h 328"/>
                <a:gd name="T24" fmla="*/ 58 w 59"/>
                <a:gd name="T25" fmla="*/ 0 h 328"/>
                <a:gd name="T26" fmla="*/ 58 w 59"/>
                <a:gd name="T27" fmla="*/ 0 h 328"/>
                <a:gd name="T28" fmla="*/ 58 w 59"/>
                <a:gd name="T29" fmla="*/ 0 h 328"/>
                <a:gd name="T30" fmla="*/ 58 w 59"/>
                <a:gd name="T31" fmla="*/ 0 h 328"/>
                <a:gd name="T32" fmla="*/ 58 w 59"/>
                <a:gd name="T33" fmla="*/ 0 h 328"/>
                <a:gd name="T34" fmla="*/ 58 w 59"/>
                <a:gd name="T35" fmla="*/ 0 h 328"/>
                <a:gd name="T36" fmla="*/ 58 w 59"/>
                <a:gd name="T37" fmla="*/ 0 h 328"/>
                <a:gd name="T38" fmla="*/ 58 w 59"/>
                <a:gd name="T39" fmla="*/ 0 h 328"/>
                <a:gd name="T40" fmla="*/ 58 w 59"/>
                <a:gd name="T41" fmla="*/ 0 h 328"/>
                <a:gd name="T42" fmla="*/ 58 w 59"/>
                <a:gd name="T43" fmla="*/ 0 h 328"/>
                <a:gd name="T44" fmla="*/ 58 w 59"/>
                <a:gd name="T45" fmla="*/ 0 h 328"/>
                <a:gd name="T46" fmla="*/ 58 w 59"/>
                <a:gd name="T47" fmla="*/ 0 h 328"/>
                <a:gd name="T48" fmla="*/ 58 w 59"/>
                <a:gd name="T49" fmla="*/ 0 h 328"/>
                <a:gd name="T50" fmla="*/ 58 w 59"/>
                <a:gd name="T51" fmla="*/ 0 h 328"/>
                <a:gd name="T52" fmla="*/ 58 w 59"/>
                <a:gd name="T53" fmla="*/ 0 h 328"/>
                <a:gd name="T54" fmla="*/ 58 w 59"/>
                <a:gd name="T55" fmla="*/ 0 h 328"/>
                <a:gd name="T56" fmla="*/ 58 w 59"/>
                <a:gd name="T57" fmla="*/ 0 h 328"/>
                <a:gd name="T58" fmla="*/ 58 w 59"/>
                <a:gd name="T59" fmla="*/ 0 h 328"/>
                <a:gd name="T60" fmla="*/ 58 w 59"/>
                <a:gd name="T61" fmla="*/ 0 h 328"/>
                <a:gd name="T62" fmla="*/ 58 w 59"/>
                <a:gd name="T63" fmla="*/ 0 h 328"/>
                <a:gd name="T64" fmla="*/ 58 w 59"/>
                <a:gd name="T65" fmla="*/ 0 h 328"/>
                <a:gd name="T66" fmla="*/ 58 w 59"/>
                <a:gd name="T67" fmla="*/ 0 h 328"/>
                <a:gd name="T68" fmla="*/ 58 w 59"/>
                <a:gd name="T69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328">
                  <a:moveTo>
                    <a:pt x="58" y="0"/>
                  </a:moveTo>
                  <a:lnTo>
                    <a:pt x="58" y="327"/>
                  </a:lnTo>
                  <a:lnTo>
                    <a:pt x="0" y="271"/>
                  </a:lnTo>
                  <a:lnTo>
                    <a:pt x="0" y="26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  <a:lnTo>
                    <a:pt x="58" y="327"/>
                  </a:lnTo>
                  <a:lnTo>
                    <a:pt x="58" y="0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3" name="AutoShape 1023">
              <a:extLst>
                <a:ext uri="{FF2B5EF4-FFF2-40B4-BE49-F238E27FC236}">
                  <a16:creationId xmlns:a16="http://schemas.microsoft.com/office/drawing/2014/main" id="{27860727-D951-4078-993E-C73D96B4B5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0" y="1068"/>
              <a:ext cx="17" cy="15"/>
            </a:xfrm>
            <a:prstGeom prst="roundRect">
              <a:avLst>
                <a:gd name="adj" fmla="val 0"/>
              </a:avLst>
            </a:prstGeom>
            <a:solidFill>
              <a:srgbClr val="72727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4" name="Oval 1024">
              <a:extLst>
                <a:ext uri="{FF2B5EF4-FFF2-40B4-BE49-F238E27FC236}">
                  <a16:creationId xmlns:a16="http://schemas.microsoft.com/office/drawing/2014/main" id="{C946D159-977F-4197-AF97-5D4AA7834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2" y="1076"/>
              <a:ext cx="3" cy="3"/>
            </a:xfrm>
            <a:prstGeom prst="ellips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5" name="Line 1025">
              <a:extLst>
                <a:ext uri="{FF2B5EF4-FFF2-40B4-BE49-F238E27FC236}">
                  <a16:creationId xmlns:a16="http://schemas.microsoft.com/office/drawing/2014/main" id="{03983E34-ACEC-41C2-B061-EF3A45139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3" y="1073"/>
              <a:ext cx="0" cy="0"/>
            </a:xfrm>
            <a:prstGeom prst="line">
              <a:avLst/>
            </a:prstGeom>
            <a:noFill/>
            <a:ln w="9088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6" name="AutoShape 1026">
              <a:extLst>
                <a:ext uri="{FF2B5EF4-FFF2-40B4-BE49-F238E27FC236}">
                  <a16:creationId xmlns:a16="http://schemas.microsoft.com/office/drawing/2014/main" id="{BD4F5CA0-AC90-4112-8E05-BA2F38A222D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3" y="1070"/>
              <a:ext cx="6" cy="11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5400000" scaled="1"/>
            </a:gradFill>
            <a:ln w="9088">
              <a:solidFill>
                <a:srgbClr val="FF404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7" name="AutoShape 1027">
              <a:extLst>
                <a:ext uri="{FF2B5EF4-FFF2-40B4-BE49-F238E27FC236}">
                  <a16:creationId xmlns:a16="http://schemas.microsoft.com/office/drawing/2014/main" id="{9243C3B5-CD66-4494-94B3-D88B43550D3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814" y="1073"/>
              <a:ext cx="5" cy="0"/>
            </a:xfrm>
            <a:prstGeom prst="roundRect">
              <a:avLst>
                <a:gd name="adj" fmla="val 0"/>
              </a:avLst>
            </a:prstGeom>
            <a:solidFill>
              <a:srgbClr val="FF404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8" name="Line 1028">
              <a:extLst>
                <a:ext uri="{FF2B5EF4-FFF2-40B4-BE49-F238E27FC236}">
                  <a16:creationId xmlns:a16="http://schemas.microsoft.com/office/drawing/2014/main" id="{B8320D79-6E63-4EFC-8B72-A07CE7194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09" y="997"/>
              <a:ext cx="0" cy="314"/>
            </a:xfrm>
            <a:prstGeom prst="line">
              <a:avLst/>
            </a:prstGeom>
            <a:noFill/>
            <a:ln w="9088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79" name="Line 1029">
              <a:extLst>
                <a:ext uri="{FF2B5EF4-FFF2-40B4-BE49-F238E27FC236}">
                  <a16:creationId xmlns:a16="http://schemas.microsoft.com/office/drawing/2014/main" id="{C602B3CA-DC34-4058-BC61-A6993AC50E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" y="998"/>
              <a:ext cx="0" cy="31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0" name="Freeform 1030">
              <a:extLst>
                <a:ext uri="{FF2B5EF4-FFF2-40B4-BE49-F238E27FC236}">
                  <a16:creationId xmlns:a16="http://schemas.microsoft.com/office/drawing/2014/main" id="{D187E5E8-986D-4353-B51E-B282288B5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1314"/>
              <a:ext cx="15" cy="10"/>
            </a:xfrm>
            <a:custGeom>
              <a:avLst/>
              <a:gdLst>
                <a:gd name="T0" fmla="*/ 0 w 15"/>
                <a:gd name="T1" fmla="*/ 0 h 10"/>
                <a:gd name="T2" fmla="*/ 14 w 15"/>
                <a:gd name="T3" fmla="*/ 0 h 10"/>
                <a:gd name="T4" fmla="*/ 14 w 15"/>
                <a:gd name="T5" fmla="*/ 9 h 10"/>
                <a:gd name="T6" fmla="*/ 0 w 15"/>
                <a:gd name="T7" fmla="*/ 0 h 10"/>
                <a:gd name="T8" fmla="*/ 0 w 15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0" y="0"/>
                  </a:moveTo>
                  <a:lnTo>
                    <a:pt x="14" y="0"/>
                  </a:lnTo>
                  <a:lnTo>
                    <a:pt x="14" y="9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1" name="Freeform 1031">
              <a:extLst>
                <a:ext uri="{FF2B5EF4-FFF2-40B4-BE49-F238E27FC236}">
                  <a16:creationId xmlns:a16="http://schemas.microsoft.com/office/drawing/2014/main" id="{7C281449-D6C5-459A-856D-1767F1249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" y="993"/>
              <a:ext cx="144" cy="329"/>
            </a:xfrm>
            <a:custGeom>
              <a:avLst/>
              <a:gdLst>
                <a:gd name="T0" fmla="*/ 143 w 144"/>
                <a:gd name="T1" fmla="*/ 313 h 329"/>
                <a:gd name="T2" fmla="*/ 143 w 144"/>
                <a:gd name="T3" fmla="*/ 7 h 329"/>
                <a:gd name="T4" fmla="*/ 0 w 144"/>
                <a:gd name="T5" fmla="*/ 1 h 329"/>
                <a:gd name="T6" fmla="*/ 0 w 144"/>
                <a:gd name="T7" fmla="*/ 1 h 329"/>
                <a:gd name="T8" fmla="*/ 0 w 144"/>
                <a:gd name="T9" fmla="*/ 1 h 329"/>
                <a:gd name="T10" fmla="*/ 0 w 144"/>
                <a:gd name="T11" fmla="*/ 1 h 329"/>
                <a:gd name="T12" fmla="*/ 0 w 144"/>
                <a:gd name="T13" fmla="*/ 1 h 329"/>
                <a:gd name="T14" fmla="*/ 0 w 144"/>
                <a:gd name="T15" fmla="*/ 1 h 329"/>
                <a:gd name="T16" fmla="*/ 0 w 144"/>
                <a:gd name="T17" fmla="*/ 1 h 329"/>
                <a:gd name="T18" fmla="*/ 0 w 144"/>
                <a:gd name="T19" fmla="*/ 1 h 329"/>
                <a:gd name="T20" fmla="*/ 0 w 144"/>
                <a:gd name="T21" fmla="*/ 1 h 329"/>
                <a:gd name="T22" fmla="*/ 0 w 144"/>
                <a:gd name="T23" fmla="*/ 1 h 329"/>
                <a:gd name="T24" fmla="*/ 0 w 144"/>
                <a:gd name="T25" fmla="*/ 1 h 329"/>
                <a:gd name="T26" fmla="*/ 0 w 144"/>
                <a:gd name="T27" fmla="*/ 1 h 329"/>
                <a:gd name="T28" fmla="*/ 0 w 144"/>
                <a:gd name="T29" fmla="*/ 1 h 329"/>
                <a:gd name="T30" fmla="*/ 0 w 144"/>
                <a:gd name="T31" fmla="*/ 1 h 329"/>
                <a:gd name="T32" fmla="*/ 0 w 144"/>
                <a:gd name="T33" fmla="*/ 1 h 329"/>
                <a:gd name="T34" fmla="*/ 0 w 144"/>
                <a:gd name="T35" fmla="*/ 1 h 329"/>
                <a:gd name="T36" fmla="*/ 0 w 144"/>
                <a:gd name="T37" fmla="*/ 1 h 329"/>
                <a:gd name="T38" fmla="*/ 0 w 144"/>
                <a:gd name="T39" fmla="*/ 1 h 329"/>
                <a:gd name="T40" fmla="*/ 0 w 144"/>
                <a:gd name="T41" fmla="*/ 0 h 329"/>
                <a:gd name="T42" fmla="*/ 143 w 144"/>
                <a:gd name="T43" fmla="*/ 313 h 329"/>
                <a:gd name="T44" fmla="*/ 143 w 144"/>
                <a:gd name="T45" fmla="*/ 313 h 329"/>
                <a:gd name="T46" fmla="*/ 143 w 144"/>
                <a:gd name="T47" fmla="*/ 313 h 329"/>
                <a:gd name="T48" fmla="*/ 143 w 144"/>
                <a:gd name="T49" fmla="*/ 313 h 329"/>
                <a:gd name="T50" fmla="*/ 143 w 144"/>
                <a:gd name="T51" fmla="*/ 313 h 329"/>
                <a:gd name="T52" fmla="*/ 143 w 144"/>
                <a:gd name="T53" fmla="*/ 313 h 329"/>
                <a:gd name="T54" fmla="*/ 143 w 144"/>
                <a:gd name="T55" fmla="*/ 313 h 329"/>
                <a:gd name="T56" fmla="*/ 143 w 144"/>
                <a:gd name="T57" fmla="*/ 313 h 329"/>
                <a:gd name="T58" fmla="*/ 143 w 144"/>
                <a:gd name="T59" fmla="*/ 313 h 329"/>
                <a:gd name="T60" fmla="*/ 143 w 144"/>
                <a:gd name="T61" fmla="*/ 313 h 329"/>
                <a:gd name="T62" fmla="*/ 143 w 144"/>
                <a:gd name="T63" fmla="*/ 313 h 329"/>
                <a:gd name="T64" fmla="*/ 143 w 144"/>
                <a:gd name="T65" fmla="*/ 313 h 329"/>
                <a:gd name="T66" fmla="*/ 143 w 144"/>
                <a:gd name="T67" fmla="*/ 313 h 329"/>
                <a:gd name="T68" fmla="*/ 143 w 144"/>
                <a:gd name="T69" fmla="*/ 313 h 329"/>
                <a:gd name="T70" fmla="*/ 143 w 144"/>
                <a:gd name="T71" fmla="*/ 313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4" h="329">
                  <a:moveTo>
                    <a:pt x="0" y="328"/>
                  </a:moveTo>
                  <a:lnTo>
                    <a:pt x="143" y="313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1"/>
                  </a:lnTo>
                  <a:lnTo>
                    <a:pt x="143" y="7"/>
                  </a:lnTo>
                  <a:lnTo>
                    <a:pt x="0" y="0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  <a:lnTo>
                    <a:pt x="143" y="313"/>
                  </a:lnTo>
                  <a:lnTo>
                    <a:pt x="0" y="328"/>
                  </a:lnTo>
                </a:path>
              </a:pathLst>
            </a:custGeom>
            <a:noFill/>
            <a:ln w="18811" cap="flat" cmpd="sng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2" name="AutoShape 1032">
              <a:extLst>
                <a:ext uri="{FF2B5EF4-FFF2-40B4-BE49-F238E27FC236}">
                  <a16:creationId xmlns:a16="http://schemas.microsoft.com/office/drawing/2014/main" id="{B0A30CE4-75BA-44FA-8F76-2C2D4D4985D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731" y="994"/>
              <a:ext cx="26" cy="328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3" name="Freeform 1033">
              <a:extLst>
                <a:ext uri="{FF2B5EF4-FFF2-40B4-BE49-F238E27FC236}">
                  <a16:creationId xmlns:a16="http://schemas.microsoft.com/office/drawing/2014/main" id="{15086ED1-0504-4A35-8B26-3A9160A61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2" y="988"/>
              <a:ext cx="78" cy="351"/>
            </a:xfrm>
            <a:custGeom>
              <a:avLst/>
              <a:gdLst>
                <a:gd name="T0" fmla="*/ 0 w 78"/>
                <a:gd name="T1" fmla="*/ 4 h 351"/>
                <a:gd name="T2" fmla="*/ 12 w 78"/>
                <a:gd name="T3" fmla="*/ 0 h 351"/>
                <a:gd name="T4" fmla="*/ 77 w 78"/>
                <a:gd name="T5" fmla="*/ 4 h 351"/>
                <a:gd name="T6" fmla="*/ 77 w 78"/>
                <a:gd name="T7" fmla="*/ 334 h 351"/>
                <a:gd name="T8" fmla="*/ 13 w 78"/>
                <a:gd name="T9" fmla="*/ 350 h 351"/>
                <a:gd name="T10" fmla="*/ 0 w 78"/>
                <a:gd name="T11" fmla="*/ 342 h 351"/>
                <a:gd name="T12" fmla="*/ 0 w 78"/>
                <a:gd name="T13" fmla="*/ 326 h 351"/>
                <a:gd name="T14" fmla="*/ 13 w 78"/>
                <a:gd name="T15" fmla="*/ 334 h 351"/>
                <a:gd name="T16" fmla="*/ 13 w 78"/>
                <a:gd name="T17" fmla="*/ 9 h 351"/>
                <a:gd name="T18" fmla="*/ 0 w 78"/>
                <a:gd name="T19" fmla="*/ 10 h 351"/>
                <a:gd name="T20" fmla="*/ 0 w 78"/>
                <a:gd name="T21" fmla="*/ 4 h 351"/>
                <a:gd name="T22" fmla="*/ 0 w 78"/>
                <a:gd name="T23" fmla="*/ 4 h 351"/>
                <a:gd name="T24" fmla="*/ 0 w 78"/>
                <a:gd name="T25" fmla="*/ 4 h 351"/>
                <a:gd name="T26" fmla="*/ 0 w 78"/>
                <a:gd name="T27" fmla="*/ 4 h 351"/>
                <a:gd name="T28" fmla="*/ 0 w 78"/>
                <a:gd name="T29" fmla="*/ 4 h 351"/>
                <a:gd name="T30" fmla="*/ 0 w 78"/>
                <a:gd name="T31" fmla="*/ 4 h 351"/>
                <a:gd name="T32" fmla="*/ 0 w 78"/>
                <a:gd name="T33" fmla="*/ 4 h 351"/>
                <a:gd name="T34" fmla="*/ 0 w 78"/>
                <a:gd name="T35" fmla="*/ 4 h 351"/>
                <a:gd name="T36" fmla="*/ 0 w 78"/>
                <a:gd name="T37" fmla="*/ 4 h 351"/>
                <a:gd name="T38" fmla="*/ 0 w 78"/>
                <a:gd name="T39" fmla="*/ 4 h 351"/>
                <a:gd name="T40" fmla="*/ 0 w 78"/>
                <a:gd name="T41" fmla="*/ 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8" h="351">
                  <a:moveTo>
                    <a:pt x="0" y="4"/>
                  </a:moveTo>
                  <a:lnTo>
                    <a:pt x="12" y="0"/>
                  </a:lnTo>
                  <a:lnTo>
                    <a:pt x="77" y="4"/>
                  </a:lnTo>
                  <a:lnTo>
                    <a:pt x="77" y="334"/>
                  </a:lnTo>
                  <a:lnTo>
                    <a:pt x="13" y="350"/>
                  </a:lnTo>
                  <a:lnTo>
                    <a:pt x="0" y="342"/>
                  </a:lnTo>
                  <a:lnTo>
                    <a:pt x="0" y="326"/>
                  </a:lnTo>
                  <a:lnTo>
                    <a:pt x="13" y="334"/>
                  </a:lnTo>
                  <a:lnTo>
                    <a:pt x="13" y="9"/>
                  </a:lnTo>
                  <a:lnTo>
                    <a:pt x="0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</a:path>
              </a:pathLst>
            </a:custGeom>
            <a:gradFill rotWithShape="0">
              <a:gsLst>
                <a:gs pos="0">
                  <a:srgbClr val="727272"/>
                </a:gs>
                <a:gs pos="100000">
                  <a:srgbClr val="404040"/>
                </a:gs>
              </a:gsLst>
              <a:lin ang="2700000" scaled="1"/>
            </a:gradFill>
            <a:ln w="9088" cap="flat" cmpd="sng">
              <a:solidFill>
                <a:srgbClr val="8F8F8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4" name="Line 1034">
              <a:extLst>
                <a:ext uri="{FF2B5EF4-FFF2-40B4-BE49-F238E27FC236}">
                  <a16:creationId xmlns:a16="http://schemas.microsoft.com/office/drawing/2014/main" id="{D7A14603-D457-4F98-B4F0-436211948A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1" y="994"/>
              <a:ext cx="0" cy="320"/>
            </a:xfrm>
            <a:prstGeom prst="line">
              <a:avLst/>
            </a:prstGeom>
            <a:noFill/>
            <a:ln w="18811">
              <a:solidFill>
                <a:srgbClr val="A2A2A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  <p:sp>
          <p:nvSpPr>
            <p:cNvPr id="485" name="Freeform 1035">
              <a:extLst>
                <a:ext uri="{FF2B5EF4-FFF2-40B4-BE49-F238E27FC236}">
                  <a16:creationId xmlns:a16="http://schemas.microsoft.com/office/drawing/2014/main" id="{A224F413-85D9-473E-88CB-2CAF4BAEC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" y="989"/>
              <a:ext cx="21" cy="350"/>
            </a:xfrm>
            <a:custGeom>
              <a:avLst/>
              <a:gdLst>
                <a:gd name="T0" fmla="*/ 0 w 21"/>
                <a:gd name="T1" fmla="*/ 3 h 350"/>
                <a:gd name="T2" fmla="*/ 13 w 21"/>
                <a:gd name="T3" fmla="*/ 0 h 350"/>
                <a:gd name="T4" fmla="*/ 20 w 21"/>
                <a:gd name="T5" fmla="*/ 0 h 350"/>
                <a:gd name="T6" fmla="*/ 20 w 21"/>
                <a:gd name="T7" fmla="*/ 349 h 350"/>
                <a:gd name="T8" fmla="*/ 13 w 21"/>
                <a:gd name="T9" fmla="*/ 349 h 350"/>
                <a:gd name="T10" fmla="*/ 0 w 21"/>
                <a:gd name="T11" fmla="*/ 341 h 350"/>
                <a:gd name="T12" fmla="*/ 0 w 21"/>
                <a:gd name="T13" fmla="*/ 325 h 350"/>
                <a:gd name="T14" fmla="*/ 14 w 21"/>
                <a:gd name="T15" fmla="*/ 333 h 350"/>
                <a:gd name="T16" fmla="*/ 14 w 21"/>
                <a:gd name="T17" fmla="*/ 6 h 350"/>
                <a:gd name="T18" fmla="*/ 0 w 21"/>
                <a:gd name="T19" fmla="*/ 9 h 350"/>
                <a:gd name="T20" fmla="*/ 0 w 21"/>
                <a:gd name="T21" fmla="*/ 3 h 350"/>
                <a:gd name="T22" fmla="*/ 0 w 21"/>
                <a:gd name="T23" fmla="*/ 3 h 350"/>
                <a:gd name="T24" fmla="*/ 0 w 21"/>
                <a:gd name="T25" fmla="*/ 3 h 350"/>
                <a:gd name="T26" fmla="*/ 0 w 21"/>
                <a:gd name="T27" fmla="*/ 3 h 350"/>
                <a:gd name="T28" fmla="*/ 0 w 21"/>
                <a:gd name="T29" fmla="*/ 3 h 350"/>
                <a:gd name="T30" fmla="*/ 0 w 21"/>
                <a:gd name="T31" fmla="*/ 3 h 350"/>
                <a:gd name="T32" fmla="*/ 0 w 21"/>
                <a:gd name="T33" fmla="*/ 3 h 350"/>
                <a:gd name="T34" fmla="*/ 0 w 21"/>
                <a:gd name="T35" fmla="*/ 3 h 350"/>
                <a:gd name="T36" fmla="*/ 0 w 21"/>
                <a:gd name="T37" fmla="*/ 3 h 350"/>
                <a:gd name="T38" fmla="*/ 0 w 21"/>
                <a:gd name="T39" fmla="*/ 3 h 350"/>
                <a:gd name="T40" fmla="*/ 0 w 21"/>
                <a:gd name="T41" fmla="*/ 3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350">
                  <a:moveTo>
                    <a:pt x="0" y="3"/>
                  </a:moveTo>
                  <a:lnTo>
                    <a:pt x="13" y="0"/>
                  </a:lnTo>
                  <a:lnTo>
                    <a:pt x="20" y="0"/>
                  </a:lnTo>
                  <a:lnTo>
                    <a:pt x="20" y="349"/>
                  </a:lnTo>
                  <a:lnTo>
                    <a:pt x="13" y="349"/>
                  </a:lnTo>
                  <a:lnTo>
                    <a:pt x="0" y="341"/>
                  </a:lnTo>
                  <a:lnTo>
                    <a:pt x="0" y="325"/>
                  </a:lnTo>
                  <a:lnTo>
                    <a:pt x="14" y="333"/>
                  </a:lnTo>
                  <a:lnTo>
                    <a:pt x="14" y="6"/>
                  </a:lnTo>
                  <a:lnTo>
                    <a:pt x="0" y="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8F8F8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900"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486" name="Rectangle 1059">
            <a:extLst>
              <a:ext uri="{FF2B5EF4-FFF2-40B4-BE49-F238E27FC236}">
                <a16:creationId xmlns:a16="http://schemas.microsoft.com/office/drawing/2014/main" id="{97EBD681-738C-4582-8D72-9912A70D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787" y="4111542"/>
            <a:ext cx="539750" cy="17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359" tIns="31679" rIns="63359" bIns="31679" anchor="ctr"/>
          <a:lstStyle>
            <a:lvl1pPr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17500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6334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950913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266825" algn="l" defTabSz="633413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17240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1812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26384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095625" defTabSz="6334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700" dirty="0">
                <a:solidFill>
                  <a:srgbClr val="002368"/>
                </a:solidFill>
                <a:latin typeface="다키 L" pitchFamily="2" charset="-127"/>
                <a:ea typeface="다키 L" pitchFamily="2" charset="-127"/>
              </a:rPr>
              <a:t>인증서버</a:t>
            </a:r>
          </a:p>
        </p:txBody>
      </p:sp>
      <p:pic>
        <p:nvPicPr>
          <p:cNvPr id="487" name="Picture 843">
            <a:extLst>
              <a:ext uri="{FF2B5EF4-FFF2-40B4-BE49-F238E27FC236}">
                <a16:creationId xmlns:a16="http://schemas.microsoft.com/office/drawing/2014/main" id="{83078639-8FDE-4E5A-A674-DA93EB57E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385" y="3985619"/>
            <a:ext cx="403417" cy="25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8" name="연결선: 꺾임 487">
            <a:extLst>
              <a:ext uri="{FF2B5EF4-FFF2-40B4-BE49-F238E27FC236}">
                <a16:creationId xmlns:a16="http://schemas.microsoft.com/office/drawing/2014/main" id="{510BB688-0A30-4C15-B6C6-C6D79DC42C55}"/>
              </a:ext>
            </a:extLst>
          </p:cNvPr>
          <p:cNvCxnSpPr>
            <a:cxnSpLocks/>
            <a:stCxn id="487" idx="1"/>
            <a:endCxn id="481" idx="1"/>
          </p:cNvCxnSpPr>
          <p:nvPr/>
        </p:nvCxnSpPr>
        <p:spPr>
          <a:xfrm rot="10800000">
            <a:off x="1070141" y="3904657"/>
            <a:ext cx="882245" cy="210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연결선: 꺾임 488">
            <a:extLst>
              <a:ext uri="{FF2B5EF4-FFF2-40B4-BE49-F238E27FC236}">
                <a16:creationId xmlns:a16="http://schemas.microsoft.com/office/drawing/2014/main" id="{1822BBCA-07CA-4DCC-9F5E-D0D303349EF5}"/>
              </a:ext>
            </a:extLst>
          </p:cNvPr>
          <p:cNvCxnSpPr>
            <a:cxnSpLocks/>
            <a:stCxn id="483" idx="3"/>
            <a:endCxn id="487" idx="2"/>
          </p:cNvCxnSpPr>
          <p:nvPr/>
        </p:nvCxnSpPr>
        <p:spPr>
          <a:xfrm>
            <a:off x="1023290" y="4088813"/>
            <a:ext cx="1130804" cy="156362"/>
          </a:xfrm>
          <a:prstGeom prst="bentConnector4">
            <a:avLst>
              <a:gd name="adj1" fmla="val -912"/>
              <a:gd name="adj2" fmla="val 246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AutoShape 409">
            <a:extLst>
              <a:ext uri="{FF2B5EF4-FFF2-40B4-BE49-F238E27FC236}">
                <a16:creationId xmlns:a16="http://schemas.microsoft.com/office/drawing/2014/main" id="{74371C9B-AF94-4631-9029-470BAFCA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792" y="4296807"/>
            <a:ext cx="478613" cy="139810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sp>
        <p:nvSpPr>
          <p:cNvPr id="491" name="AutoShape 409">
            <a:extLst>
              <a:ext uri="{FF2B5EF4-FFF2-40B4-BE49-F238E27FC236}">
                <a16:creationId xmlns:a16="http://schemas.microsoft.com/office/drawing/2014/main" id="{E0E3DF3B-5DDE-41B8-8B92-EE9907DE6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125" y="4523190"/>
            <a:ext cx="611082" cy="130409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latin typeface="다키 L" pitchFamily="2" charset="-127"/>
                <a:ea typeface="다키 L" pitchFamily="2" charset="-127"/>
              </a:rPr>
              <a:t>엔드포인트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2" name="AutoShape 409">
            <a:extLst>
              <a:ext uri="{FF2B5EF4-FFF2-40B4-BE49-F238E27FC236}">
                <a16:creationId xmlns:a16="http://schemas.microsoft.com/office/drawing/2014/main" id="{3C0FDA17-4D10-4E62-A112-6BDBD6558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828" y="3765217"/>
            <a:ext cx="335957" cy="140051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토큰</a:t>
            </a:r>
          </a:p>
        </p:txBody>
      </p:sp>
      <p:sp>
        <p:nvSpPr>
          <p:cNvPr id="493" name="Text Box 46">
            <a:extLst>
              <a:ext uri="{FF2B5EF4-FFF2-40B4-BE49-F238E27FC236}">
                <a16:creationId xmlns:a16="http://schemas.microsoft.com/office/drawing/2014/main" id="{53654FA6-D480-418B-9D25-6B0DAA5D1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636" y="4654147"/>
            <a:ext cx="8057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엔드포인트에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 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  <a:p>
            <a:pPr algn="l"/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다음 </a:t>
            </a:r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URI</a:t>
            </a:r>
            <a:r>
              <a:rPr lang="ko-KR" altLang="en-US" sz="700" dirty="0">
                <a:latin typeface="다키 L" pitchFamily="2" charset="-127"/>
                <a:ea typeface="다키 L" pitchFamily="2" charset="-127"/>
              </a:rPr>
              <a:t>가 </a:t>
            </a:r>
            <a:r>
              <a:rPr lang="ko-KR" altLang="en-US" sz="700" dirty="0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기재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4" name="Text Box 46">
            <a:extLst>
              <a:ext uri="{FF2B5EF4-FFF2-40B4-BE49-F238E27FC236}">
                <a16:creationId xmlns:a16="http://schemas.microsoft.com/office/drawing/2014/main" id="{23E09547-8EB5-4755-9C3F-0F1B16A42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011" y="4891348"/>
            <a:ext cx="18195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https://{compute}/v2/{tenant_id}/xxxx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495" name="연결선: 꺾임 494">
            <a:extLst>
              <a:ext uri="{FF2B5EF4-FFF2-40B4-BE49-F238E27FC236}">
                <a16:creationId xmlns:a16="http://schemas.microsoft.com/office/drawing/2014/main" id="{104B8054-82C0-4DF9-B3FA-62155FAB918A}"/>
              </a:ext>
            </a:extLst>
          </p:cNvPr>
          <p:cNvCxnSpPr>
            <a:cxnSpLocks/>
            <a:stCxn id="494" idx="0"/>
            <a:endCxn id="491" idx="2"/>
          </p:cNvCxnSpPr>
          <p:nvPr/>
        </p:nvCxnSpPr>
        <p:spPr>
          <a:xfrm rot="16200000" flipV="1">
            <a:off x="1657852" y="4771414"/>
            <a:ext cx="237749" cy="2119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Text Box 46">
            <a:extLst>
              <a:ext uri="{FF2B5EF4-FFF2-40B4-BE49-F238E27FC236}">
                <a16:creationId xmlns:a16="http://schemas.microsoft.com/office/drawing/2014/main" id="{52CDB123-B8D3-4330-9FE7-5917B1F75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91" y="3595879"/>
            <a:ext cx="140594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https://{identity}/v2/tokens</a:t>
            </a:r>
            <a:endParaRPr lang="en-US" altLang="ko-KR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7" name="AutoShape 409">
            <a:extLst>
              <a:ext uri="{FF2B5EF4-FFF2-40B4-BE49-F238E27FC236}">
                <a16:creationId xmlns:a16="http://schemas.microsoft.com/office/drawing/2014/main" id="{191E6902-FA1D-4BCE-99F3-E48676A68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205" y="3758305"/>
            <a:ext cx="726331" cy="122055"/>
          </a:xfrm>
          <a:prstGeom prst="foldedCorner">
            <a:avLst>
              <a:gd name="adj" fmla="val 12500"/>
            </a:avLst>
          </a:prstGeom>
          <a:solidFill>
            <a:srgbClr val="0066CC">
              <a:alpha val="48000"/>
            </a:srgbClr>
          </a:solidFill>
          <a:ln w="12700" cap="sq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700" dirty="0" err="1">
                <a:solidFill>
                  <a:schemeClr val="tx1"/>
                </a:solidFill>
                <a:latin typeface="다키 L" pitchFamily="2" charset="-127"/>
                <a:ea typeface="다키 L" pitchFamily="2" charset="-127"/>
              </a:rPr>
              <a:t>계정패스워드</a:t>
            </a:r>
            <a:endParaRPr lang="ko-KR" altLang="en-US" sz="700" dirty="0">
              <a:solidFill>
                <a:schemeClr val="tx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8" name="사각형: 둥근 모서리 497">
            <a:extLst>
              <a:ext uri="{FF2B5EF4-FFF2-40B4-BE49-F238E27FC236}">
                <a16:creationId xmlns:a16="http://schemas.microsoft.com/office/drawing/2014/main" id="{38871993-10BE-4FFE-BE3A-E9A9AF38C262}"/>
              </a:ext>
            </a:extLst>
          </p:cNvPr>
          <p:cNvSpPr/>
          <p:nvPr/>
        </p:nvSpPr>
        <p:spPr>
          <a:xfrm>
            <a:off x="4395869" y="833742"/>
            <a:ext cx="3601633" cy="1722701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499" name="그림 498">
            <a:extLst>
              <a:ext uri="{FF2B5EF4-FFF2-40B4-BE49-F238E27FC236}">
                <a16:creationId xmlns:a16="http://schemas.microsoft.com/office/drawing/2014/main" id="{C7E95F3E-1DAB-4EA5-8DCA-48429690A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23" y="860815"/>
            <a:ext cx="355086" cy="210090"/>
          </a:xfrm>
          <a:prstGeom prst="rect">
            <a:avLst/>
          </a:prstGeom>
        </p:spPr>
      </p:pic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5485849C-DEB6-4E4B-A3CD-3A0211B6AF4E}"/>
              </a:ext>
            </a:extLst>
          </p:cNvPr>
          <p:cNvSpPr/>
          <p:nvPr/>
        </p:nvSpPr>
        <p:spPr>
          <a:xfrm>
            <a:off x="4503006" y="854480"/>
            <a:ext cx="125547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 Node [01]</a:t>
            </a:r>
          </a:p>
        </p:txBody>
      </p:sp>
      <p:pic>
        <p:nvPicPr>
          <p:cNvPr id="501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E13BE257-D277-44E0-9995-0D85EDFAF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081733" y="853557"/>
            <a:ext cx="834084" cy="1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2" name="사각형: 둥근 모서리 501">
            <a:extLst>
              <a:ext uri="{FF2B5EF4-FFF2-40B4-BE49-F238E27FC236}">
                <a16:creationId xmlns:a16="http://schemas.microsoft.com/office/drawing/2014/main" id="{809AA032-41E7-4F01-A524-F87FABE388B9}"/>
              </a:ext>
            </a:extLst>
          </p:cNvPr>
          <p:cNvSpPr/>
          <p:nvPr/>
        </p:nvSpPr>
        <p:spPr>
          <a:xfrm>
            <a:off x="6386288" y="1112460"/>
            <a:ext cx="1529529" cy="1340838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03" name="직사각형 502">
            <a:extLst>
              <a:ext uri="{FF2B5EF4-FFF2-40B4-BE49-F238E27FC236}">
                <a16:creationId xmlns:a16="http://schemas.microsoft.com/office/drawing/2014/main" id="{A4678031-7B20-4A10-9C59-421ED05778BD}"/>
              </a:ext>
            </a:extLst>
          </p:cNvPr>
          <p:cNvSpPr/>
          <p:nvPr/>
        </p:nvSpPr>
        <p:spPr>
          <a:xfrm>
            <a:off x="6404088" y="1151470"/>
            <a:ext cx="980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서비스 프로세스</a:t>
            </a:r>
            <a:endParaRPr lang="ko-KR" altLang="en-US" dirty="0"/>
          </a:p>
        </p:txBody>
      </p:sp>
      <p:cxnSp>
        <p:nvCxnSpPr>
          <p:cNvPr id="507" name="연결선: 꺾임 506">
            <a:extLst>
              <a:ext uri="{FF2B5EF4-FFF2-40B4-BE49-F238E27FC236}">
                <a16:creationId xmlns:a16="http://schemas.microsoft.com/office/drawing/2014/main" id="{5214CF1D-557D-4FD8-9C2F-F0E0A5DF54D9}"/>
              </a:ext>
            </a:extLst>
          </p:cNvPr>
          <p:cNvCxnSpPr>
            <a:cxnSpLocks/>
            <a:stCxn id="458" idx="3"/>
            <a:endCxn id="512" idx="1"/>
          </p:cNvCxnSpPr>
          <p:nvPr/>
        </p:nvCxnSpPr>
        <p:spPr>
          <a:xfrm flipV="1">
            <a:off x="3904411" y="1193814"/>
            <a:ext cx="589879" cy="115682"/>
          </a:xfrm>
          <a:prstGeom prst="bentConnector3">
            <a:avLst>
              <a:gd name="adj1" fmla="val 4561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연결선: 꺾임 507">
            <a:extLst>
              <a:ext uri="{FF2B5EF4-FFF2-40B4-BE49-F238E27FC236}">
                <a16:creationId xmlns:a16="http://schemas.microsoft.com/office/drawing/2014/main" id="{C22EC93F-535A-4658-B621-BA929DB26D44}"/>
              </a:ext>
            </a:extLst>
          </p:cNvPr>
          <p:cNvCxnSpPr>
            <a:cxnSpLocks/>
            <a:stCxn id="458" idx="3"/>
            <a:endCxn id="513" idx="1"/>
          </p:cNvCxnSpPr>
          <p:nvPr/>
        </p:nvCxnSpPr>
        <p:spPr>
          <a:xfrm flipV="1">
            <a:off x="3904411" y="1193814"/>
            <a:ext cx="1396212" cy="115682"/>
          </a:xfrm>
          <a:prstGeom prst="bentConnector3">
            <a:avLst>
              <a:gd name="adj1" fmla="val 19108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사각형: 둥근 모서리 508">
            <a:extLst>
              <a:ext uri="{FF2B5EF4-FFF2-40B4-BE49-F238E27FC236}">
                <a16:creationId xmlns:a16="http://schemas.microsoft.com/office/drawing/2014/main" id="{95956A5D-1F9F-4AF4-AF23-742CD0CD2947}"/>
              </a:ext>
            </a:extLst>
          </p:cNvPr>
          <p:cNvSpPr/>
          <p:nvPr/>
        </p:nvSpPr>
        <p:spPr>
          <a:xfrm>
            <a:off x="5486804" y="1559781"/>
            <a:ext cx="853306" cy="88489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10" name="직사각형 509">
            <a:extLst>
              <a:ext uri="{FF2B5EF4-FFF2-40B4-BE49-F238E27FC236}">
                <a16:creationId xmlns:a16="http://schemas.microsoft.com/office/drawing/2014/main" id="{ED87B613-2EC6-4ED0-A6EA-C4B143041FCE}"/>
              </a:ext>
            </a:extLst>
          </p:cNvPr>
          <p:cNvSpPr/>
          <p:nvPr/>
        </p:nvSpPr>
        <p:spPr>
          <a:xfrm>
            <a:off x="5537276" y="1589856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11" name="사각형: 둥근 모서리 510">
            <a:extLst>
              <a:ext uri="{FF2B5EF4-FFF2-40B4-BE49-F238E27FC236}">
                <a16:creationId xmlns:a16="http://schemas.microsoft.com/office/drawing/2014/main" id="{CA3089AD-1A0B-4C64-A89C-8731C4A5871D}"/>
              </a:ext>
            </a:extLst>
          </p:cNvPr>
          <p:cNvSpPr/>
          <p:nvPr/>
        </p:nvSpPr>
        <p:spPr>
          <a:xfrm>
            <a:off x="4494289" y="1315192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 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12" name="직사각형 511">
            <a:extLst>
              <a:ext uri="{FF2B5EF4-FFF2-40B4-BE49-F238E27FC236}">
                <a16:creationId xmlns:a16="http://schemas.microsoft.com/office/drawing/2014/main" id="{4D3B6F6F-62B4-4B5C-AE3A-6E76921F321C}"/>
              </a:ext>
            </a:extLst>
          </p:cNvPr>
          <p:cNvSpPr/>
          <p:nvPr/>
        </p:nvSpPr>
        <p:spPr>
          <a:xfrm>
            <a:off x="4494290" y="1102948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13" name="직사각형 512">
            <a:extLst>
              <a:ext uri="{FF2B5EF4-FFF2-40B4-BE49-F238E27FC236}">
                <a16:creationId xmlns:a16="http://schemas.microsoft.com/office/drawing/2014/main" id="{8BF949BE-87C7-4623-BA98-94D196BDEF51}"/>
              </a:ext>
            </a:extLst>
          </p:cNvPr>
          <p:cNvSpPr/>
          <p:nvPr/>
        </p:nvSpPr>
        <p:spPr>
          <a:xfrm>
            <a:off x="5300623" y="1102948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14" name="Text Box 331">
            <a:extLst>
              <a:ext uri="{FF2B5EF4-FFF2-40B4-BE49-F238E27FC236}">
                <a16:creationId xmlns:a16="http://schemas.microsoft.com/office/drawing/2014/main" id="{75110F5D-9504-40B1-8ED2-A92AD320F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975" y="2876384"/>
            <a:ext cx="1008758" cy="411234"/>
          </a:xfrm>
          <a:prstGeom prst="rect">
            <a:avLst/>
          </a:prstGeom>
          <a:solidFill>
            <a:schemeClr val="bg1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indent="0" eaLnBrk="0" latinLnBrk="0" hangingPunct="0">
              <a:lnSpc>
                <a:spcPct val="120000"/>
              </a:lnSpc>
            </a:pPr>
            <a:endParaRPr lang="ko-KR" altLang="en-US" sz="700" dirty="0">
              <a:latin typeface="휴먼새내기체" pitchFamily="18" charset="-127"/>
              <a:ea typeface="휴먼새내기체" pitchFamily="18" charset="-127"/>
            </a:endParaRPr>
          </a:p>
        </p:txBody>
      </p:sp>
      <p:sp>
        <p:nvSpPr>
          <p:cNvPr id="515" name="Text Box 332">
            <a:extLst>
              <a:ext uri="{FF2B5EF4-FFF2-40B4-BE49-F238E27FC236}">
                <a16:creationId xmlns:a16="http://schemas.microsoft.com/office/drawing/2014/main" id="{49274809-3FD2-41BD-970A-6084D509C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052" y="2704141"/>
            <a:ext cx="1008758" cy="168275"/>
          </a:xfrm>
          <a:prstGeom prst="rect">
            <a:avLst/>
          </a:prstGeom>
          <a:solidFill>
            <a:srgbClr val="CCECFF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>
              <a:buFont typeface="Wingdings" panose="05000000000000000000" pitchFamily="2" charset="2"/>
              <a:buNone/>
            </a:pPr>
            <a:r>
              <a:rPr lang="en-US" altLang="ko-KR" sz="700" b="1" dirty="0">
                <a:latin typeface="휴먼새내기체" pitchFamily="18" charset="-127"/>
                <a:ea typeface="휴먼새내기체" pitchFamily="18" charset="-127"/>
              </a:rPr>
              <a:t>INGRESS</a:t>
            </a:r>
          </a:p>
        </p:txBody>
      </p:sp>
      <p:pic>
        <p:nvPicPr>
          <p:cNvPr id="516" name="그림 515">
            <a:extLst>
              <a:ext uri="{FF2B5EF4-FFF2-40B4-BE49-F238E27FC236}">
                <a16:creationId xmlns:a16="http://schemas.microsoft.com/office/drawing/2014/main" id="{9393A9CD-6F99-449B-A9D1-43157FFDDC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369" y="2699809"/>
            <a:ext cx="177759" cy="177759"/>
          </a:xfrm>
          <a:prstGeom prst="rect">
            <a:avLst/>
          </a:prstGeom>
        </p:spPr>
      </p:pic>
      <p:sp>
        <p:nvSpPr>
          <p:cNvPr id="517" name="사각형: 둥근 모서리 516">
            <a:extLst>
              <a:ext uri="{FF2B5EF4-FFF2-40B4-BE49-F238E27FC236}">
                <a16:creationId xmlns:a16="http://schemas.microsoft.com/office/drawing/2014/main" id="{5818C3F5-01E6-4E87-B06C-32970AC0AEA9}"/>
              </a:ext>
            </a:extLst>
          </p:cNvPr>
          <p:cNvSpPr/>
          <p:nvPr/>
        </p:nvSpPr>
        <p:spPr>
          <a:xfrm>
            <a:off x="2865615" y="4043156"/>
            <a:ext cx="1192828" cy="531251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8" name="AutoShape 48">
            <a:extLst>
              <a:ext uri="{FF2B5EF4-FFF2-40B4-BE49-F238E27FC236}">
                <a16:creationId xmlns:a16="http://schemas.microsoft.com/office/drawing/2014/main" id="{E8BB4E13-21C8-492A-A83B-0A1E803D4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142" y="4240554"/>
            <a:ext cx="914729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dirty="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Task Queues </a:t>
            </a:r>
          </a:p>
        </p:txBody>
      </p:sp>
      <p:pic>
        <p:nvPicPr>
          <p:cNvPr id="519" name="그림 518">
            <a:extLst>
              <a:ext uri="{FF2B5EF4-FFF2-40B4-BE49-F238E27FC236}">
                <a16:creationId xmlns:a16="http://schemas.microsoft.com/office/drawing/2014/main" id="{82FA7781-FE87-42CC-B2E6-F3DA210F5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011" y="4276957"/>
            <a:ext cx="206788" cy="219947"/>
          </a:xfrm>
          <a:prstGeom prst="rect">
            <a:avLst/>
          </a:prstGeom>
        </p:spPr>
      </p:pic>
      <p:sp>
        <p:nvSpPr>
          <p:cNvPr id="520" name="직사각형 519">
            <a:extLst>
              <a:ext uri="{FF2B5EF4-FFF2-40B4-BE49-F238E27FC236}">
                <a16:creationId xmlns:a16="http://schemas.microsoft.com/office/drawing/2014/main" id="{4CE55675-6491-40CD-9086-1200A83F7666}"/>
              </a:ext>
            </a:extLst>
          </p:cNvPr>
          <p:cNvSpPr/>
          <p:nvPr/>
        </p:nvSpPr>
        <p:spPr>
          <a:xfrm>
            <a:off x="2853049" y="4036857"/>
            <a:ext cx="112414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Message Queue</a:t>
            </a:r>
          </a:p>
        </p:txBody>
      </p:sp>
      <p:sp>
        <p:nvSpPr>
          <p:cNvPr id="521" name="사각형: 둥근 모서리 520">
            <a:extLst>
              <a:ext uri="{FF2B5EF4-FFF2-40B4-BE49-F238E27FC236}">
                <a16:creationId xmlns:a16="http://schemas.microsoft.com/office/drawing/2014/main" id="{8692234B-F53C-43CD-8B77-B1E7E2E7CB53}"/>
              </a:ext>
            </a:extLst>
          </p:cNvPr>
          <p:cNvSpPr/>
          <p:nvPr/>
        </p:nvSpPr>
        <p:spPr>
          <a:xfrm>
            <a:off x="3007806" y="2923119"/>
            <a:ext cx="884960" cy="296316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    Spring Cloud Gateway </a:t>
            </a:r>
          </a:p>
        </p:txBody>
      </p:sp>
      <p:pic>
        <p:nvPicPr>
          <p:cNvPr id="522" name="그림 521">
            <a:extLst>
              <a:ext uri="{FF2B5EF4-FFF2-40B4-BE49-F238E27FC236}">
                <a16:creationId xmlns:a16="http://schemas.microsoft.com/office/drawing/2014/main" id="{81D64A86-1C4F-4AF6-B3ED-FA4375472C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608" y="2924566"/>
            <a:ext cx="197788" cy="131056"/>
          </a:xfrm>
          <a:prstGeom prst="rect">
            <a:avLst/>
          </a:prstGeom>
        </p:spPr>
      </p:pic>
      <p:cxnSp>
        <p:nvCxnSpPr>
          <p:cNvPr id="524" name="연결선: 꺾임 523">
            <a:extLst>
              <a:ext uri="{FF2B5EF4-FFF2-40B4-BE49-F238E27FC236}">
                <a16:creationId xmlns:a16="http://schemas.microsoft.com/office/drawing/2014/main" id="{99E2A2FE-B62D-4663-ADBF-FEC6E9BD6B2E}"/>
              </a:ext>
            </a:extLst>
          </p:cNvPr>
          <p:cNvCxnSpPr>
            <a:cxnSpLocks/>
            <a:stCxn id="521" idx="3"/>
            <a:endCxn id="526" idx="1"/>
          </p:cNvCxnSpPr>
          <p:nvPr/>
        </p:nvCxnSpPr>
        <p:spPr>
          <a:xfrm flipV="1">
            <a:off x="3892766" y="1999536"/>
            <a:ext cx="618918" cy="1071741"/>
          </a:xfrm>
          <a:prstGeom prst="bentConnector3">
            <a:avLst>
              <a:gd name="adj1" fmla="val 458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연결선: 꺾임 524">
            <a:extLst>
              <a:ext uri="{FF2B5EF4-FFF2-40B4-BE49-F238E27FC236}">
                <a16:creationId xmlns:a16="http://schemas.microsoft.com/office/drawing/2014/main" id="{31F214C5-6E7B-4AED-BE77-F1A4F8BEADEB}"/>
              </a:ext>
            </a:extLst>
          </p:cNvPr>
          <p:cNvCxnSpPr>
            <a:cxnSpLocks/>
            <a:stCxn id="521" idx="3"/>
            <a:endCxn id="509" idx="1"/>
          </p:cNvCxnSpPr>
          <p:nvPr/>
        </p:nvCxnSpPr>
        <p:spPr>
          <a:xfrm flipV="1">
            <a:off x="3892766" y="2002227"/>
            <a:ext cx="1594038" cy="10690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사각형: 둥근 모서리 525">
            <a:extLst>
              <a:ext uri="{FF2B5EF4-FFF2-40B4-BE49-F238E27FC236}">
                <a16:creationId xmlns:a16="http://schemas.microsoft.com/office/drawing/2014/main" id="{FD52C8EC-CB47-4C07-BE7A-8952D409CAE2}"/>
              </a:ext>
            </a:extLst>
          </p:cNvPr>
          <p:cNvSpPr/>
          <p:nvPr/>
        </p:nvSpPr>
        <p:spPr>
          <a:xfrm>
            <a:off x="4511684" y="1563025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8189E0CE-8ED6-48E2-9691-85E4AE5DC708}"/>
              </a:ext>
            </a:extLst>
          </p:cNvPr>
          <p:cNvSpPr/>
          <p:nvPr/>
        </p:nvSpPr>
        <p:spPr>
          <a:xfrm>
            <a:off x="4559451" y="1590688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528" name="연결선: 꺾임 527">
            <a:extLst>
              <a:ext uri="{FF2B5EF4-FFF2-40B4-BE49-F238E27FC236}">
                <a16:creationId xmlns:a16="http://schemas.microsoft.com/office/drawing/2014/main" id="{77A9ED35-EEE0-4D81-92A4-DEB0FEDFC9CE}"/>
              </a:ext>
            </a:extLst>
          </p:cNvPr>
          <p:cNvCxnSpPr>
            <a:cxnSpLocks/>
            <a:stCxn id="530" idx="2"/>
            <a:endCxn id="435" idx="3"/>
          </p:cNvCxnSpPr>
          <p:nvPr/>
        </p:nvCxnSpPr>
        <p:spPr>
          <a:xfrm rot="5400000">
            <a:off x="4831224" y="4364458"/>
            <a:ext cx="1443406" cy="1276556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연결선: 꺾임 528">
            <a:extLst>
              <a:ext uri="{FF2B5EF4-FFF2-40B4-BE49-F238E27FC236}">
                <a16:creationId xmlns:a16="http://schemas.microsoft.com/office/drawing/2014/main" id="{B399470B-B3B2-4A06-97C0-DA9326D6E7EA}"/>
              </a:ext>
            </a:extLst>
          </p:cNvPr>
          <p:cNvCxnSpPr>
            <a:cxnSpLocks/>
            <a:stCxn id="498" idx="2"/>
            <a:endCxn id="435" idx="3"/>
          </p:cNvCxnSpPr>
          <p:nvPr/>
        </p:nvCxnSpPr>
        <p:spPr>
          <a:xfrm rot="5400000">
            <a:off x="3971670" y="3499423"/>
            <a:ext cx="3167996" cy="1282037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0" name="사각형: 둥근 모서리 529">
            <a:extLst>
              <a:ext uri="{FF2B5EF4-FFF2-40B4-BE49-F238E27FC236}">
                <a16:creationId xmlns:a16="http://schemas.microsoft.com/office/drawing/2014/main" id="{12B2607B-E76D-4680-A12E-B9B6A0DD221E}"/>
              </a:ext>
            </a:extLst>
          </p:cNvPr>
          <p:cNvSpPr/>
          <p:nvPr/>
        </p:nvSpPr>
        <p:spPr>
          <a:xfrm>
            <a:off x="4390388" y="2627017"/>
            <a:ext cx="3601633" cy="16540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31" name="그림 530">
            <a:extLst>
              <a:ext uri="{FF2B5EF4-FFF2-40B4-BE49-F238E27FC236}">
                <a16:creationId xmlns:a16="http://schemas.microsoft.com/office/drawing/2014/main" id="{198CBD69-8781-44B4-9D9A-AC33A4627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404" y="2699022"/>
            <a:ext cx="355086" cy="210090"/>
          </a:xfrm>
          <a:prstGeom prst="rect">
            <a:avLst/>
          </a:prstGeom>
        </p:spPr>
      </p:pic>
      <p:sp>
        <p:nvSpPr>
          <p:cNvPr id="532" name="사각형: 둥근 모서리 531">
            <a:extLst>
              <a:ext uri="{FF2B5EF4-FFF2-40B4-BE49-F238E27FC236}">
                <a16:creationId xmlns:a16="http://schemas.microsoft.com/office/drawing/2014/main" id="{C6C5D76F-FC6C-4146-9C05-C3D61F31DE8E}"/>
              </a:ext>
            </a:extLst>
          </p:cNvPr>
          <p:cNvSpPr/>
          <p:nvPr/>
        </p:nvSpPr>
        <p:spPr>
          <a:xfrm>
            <a:off x="5440232" y="3390006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33" name="Picture 2" descr="kubernetes를 이용한 서비스 무중단 배포 – tech.kakao.com">
            <a:extLst>
              <a:ext uri="{FF2B5EF4-FFF2-40B4-BE49-F238E27FC236}">
                <a16:creationId xmlns:a16="http://schemas.microsoft.com/office/drawing/2014/main" id="{BF4ACAAB-2426-4F1D-A545-42C4BC3A4C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1854" r="20151" b="32371"/>
          <a:stretch/>
        </p:blipFill>
        <p:spPr bwMode="auto">
          <a:xfrm>
            <a:off x="7086644" y="2698660"/>
            <a:ext cx="783418" cy="17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4" name="직사각형 533">
            <a:extLst>
              <a:ext uri="{FF2B5EF4-FFF2-40B4-BE49-F238E27FC236}">
                <a16:creationId xmlns:a16="http://schemas.microsoft.com/office/drawing/2014/main" id="{A6CFD975-A597-4CAE-A40C-73D646A8DA10}"/>
              </a:ext>
            </a:extLst>
          </p:cNvPr>
          <p:cNvSpPr/>
          <p:nvPr/>
        </p:nvSpPr>
        <p:spPr>
          <a:xfrm>
            <a:off x="5254050" y="2941515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35" name="사각형: 둥근 모서리 534">
            <a:extLst>
              <a:ext uri="{FF2B5EF4-FFF2-40B4-BE49-F238E27FC236}">
                <a16:creationId xmlns:a16="http://schemas.microsoft.com/office/drawing/2014/main" id="{FC9E5165-9392-4653-9B30-EDEA07C3EE6A}"/>
              </a:ext>
            </a:extLst>
          </p:cNvPr>
          <p:cNvSpPr/>
          <p:nvPr/>
        </p:nvSpPr>
        <p:spPr>
          <a:xfrm>
            <a:off x="4456342" y="3153759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 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36" name="직사각형 535">
            <a:extLst>
              <a:ext uri="{FF2B5EF4-FFF2-40B4-BE49-F238E27FC236}">
                <a16:creationId xmlns:a16="http://schemas.microsoft.com/office/drawing/2014/main" id="{E3F4F7ED-C833-487B-9941-6E7539576820}"/>
              </a:ext>
            </a:extLst>
          </p:cNvPr>
          <p:cNvSpPr/>
          <p:nvPr/>
        </p:nvSpPr>
        <p:spPr>
          <a:xfrm>
            <a:off x="5487673" y="3420902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537" name="사각형: 둥근 모서리 536">
            <a:extLst>
              <a:ext uri="{FF2B5EF4-FFF2-40B4-BE49-F238E27FC236}">
                <a16:creationId xmlns:a16="http://schemas.microsoft.com/office/drawing/2014/main" id="{08C9147B-62A6-4B03-9546-470D2D232900}"/>
              </a:ext>
            </a:extLst>
          </p:cNvPr>
          <p:cNvSpPr/>
          <p:nvPr/>
        </p:nvSpPr>
        <p:spPr>
          <a:xfrm>
            <a:off x="6354758" y="2951275"/>
            <a:ext cx="1523113" cy="1311753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40" name="직사각형 539">
            <a:extLst>
              <a:ext uri="{FF2B5EF4-FFF2-40B4-BE49-F238E27FC236}">
                <a16:creationId xmlns:a16="http://schemas.microsoft.com/office/drawing/2014/main" id="{4B720D8D-B8D1-429D-BFCF-B1D0E08BE835}"/>
              </a:ext>
            </a:extLst>
          </p:cNvPr>
          <p:cNvSpPr/>
          <p:nvPr/>
        </p:nvSpPr>
        <p:spPr>
          <a:xfrm>
            <a:off x="6325332" y="2983812"/>
            <a:ext cx="14062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 dirty="0">
                <a:solidFill>
                  <a:prstClr val="white">
                    <a:lumMod val="65000"/>
                  </a:prstClr>
                </a:solidFill>
                <a:latin typeface="다키 L" pitchFamily="2" charset="-127"/>
                <a:ea typeface="다키 L" pitchFamily="2" charset="-127"/>
              </a:rPr>
              <a:t>인터페이스 프로세스</a:t>
            </a:r>
            <a:endParaRPr lang="ko-KR" altLang="en-US" dirty="0"/>
          </a:p>
        </p:txBody>
      </p:sp>
      <p:sp>
        <p:nvSpPr>
          <p:cNvPr id="541" name="직사각형 540">
            <a:extLst>
              <a:ext uri="{FF2B5EF4-FFF2-40B4-BE49-F238E27FC236}">
                <a16:creationId xmlns:a16="http://schemas.microsoft.com/office/drawing/2014/main" id="{187146A4-67AF-4D3E-9C49-70950A77A11D}"/>
              </a:ext>
            </a:extLst>
          </p:cNvPr>
          <p:cNvSpPr/>
          <p:nvPr/>
        </p:nvSpPr>
        <p:spPr>
          <a:xfrm>
            <a:off x="4503006" y="2700790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[02]</a:t>
            </a:r>
            <a:endParaRPr lang="ko-KR" altLang="en-US" sz="10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cxnSp>
        <p:nvCxnSpPr>
          <p:cNvPr id="542" name="연결선: 꺾임 541">
            <a:extLst>
              <a:ext uri="{FF2B5EF4-FFF2-40B4-BE49-F238E27FC236}">
                <a16:creationId xmlns:a16="http://schemas.microsoft.com/office/drawing/2014/main" id="{5019D5F7-DF41-4738-9A98-4CE643ED8BE2}"/>
              </a:ext>
            </a:extLst>
          </p:cNvPr>
          <p:cNvCxnSpPr>
            <a:cxnSpLocks/>
            <a:stCxn id="406" idx="3"/>
            <a:endCxn id="305" idx="2"/>
          </p:cNvCxnSpPr>
          <p:nvPr/>
        </p:nvCxnSpPr>
        <p:spPr>
          <a:xfrm flipV="1">
            <a:off x="3147274" y="5132122"/>
            <a:ext cx="310697" cy="554078"/>
          </a:xfrm>
          <a:prstGeom prst="bentConnector2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연결선: 꺾임 542">
            <a:extLst>
              <a:ext uri="{FF2B5EF4-FFF2-40B4-BE49-F238E27FC236}">
                <a16:creationId xmlns:a16="http://schemas.microsoft.com/office/drawing/2014/main" id="{8AC8EE26-70D0-415C-9471-BE27E2191176}"/>
              </a:ext>
            </a:extLst>
          </p:cNvPr>
          <p:cNvCxnSpPr>
            <a:cxnSpLocks/>
            <a:stCxn id="521" idx="3"/>
            <a:endCxn id="545" idx="1"/>
          </p:cNvCxnSpPr>
          <p:nvPr/>
        </p:nvCxnSpPr>
        <p:spPr>
          <a:xfrm>
            <a:off x="3892766" y="3071277"/>
            <a:ext cx="563720" cy="7584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연결선: 꺾임 543">
            <a:extLst>
              <a:ext uri="{FF2B5EF4-FFF2-40B4-BE49-F238E27FC236}">
                <a16:creationId xmlns:a16="http://schemas.microsoft.com/office/drawing/2014/main" id="{6BD5CDED-B508-4E81-838B-860FFE6B42B2}"/>
              </a:ext>
            </a:extLst>
          </p:cNvPr>
          <p:cNvCxnSpPr>
            <a:cxnSpLocks/>
            <a:stCxn id="521" idx="3"/>
            <a:endCxn id="532" idx="1"/>
          </p:cNvCxnSpPr>
          <p:nvPr/>
        </p:nvCxnSpPr>
        <p:spPr>
          <a:xfrm>
            <a:off x="3892766" y="3071277"/>
            <a:ext cx="1547466" cy="7552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사각형: 둥근 모서리 544">
            <a:extLst>
              <a:ext uri="{FF2B5EF4-FFF2-40B4-BE49-F238E27FC236}">
                <a16:creationId xmlns:a16="http://schemas.microsoft.com/office/drawing/2014/main" id="{40770579-DDCE-4BA6-859A-E178EB87E771}"/>
              </a:ext>
            </a:extLst>
          </p:cNvPr>
          <p:cNvSpPr/>
          <p:nvPr/>
        </p:nvSpPr>
        <p:spPr>
          <a:xfrm>
            <a:off x="4456486" y="3393250"/>
            <a:ext cx="853306" cy="873022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46" name="직사각형 545">
            <a:extLst>
              <a:ext uri="{FF2B5EF4-FFF2-40B4-BE49-F238E27FC236}">
                <a16:creationId xmlns:a16="http://schemas.microsoft.com/office/drawing/2014/main" id="{EDAE0296-56BF-4CA4-A7BE-8DF69B36F570}"/>
              </a:ext>
            </a:extLst>
          </p:cNvPr>
          <p:cNvSpPr/>
          <p:nvPr/>
        </p:nvSpPr>
        <p:spPr>
          <a:xfrm>
            <a:off x="4509100" y="3428075"/>
            <a:ext cx="758423" cy="12309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cxnSp>
        <p:nvCxnSpPr>
          <p:cNvPr id="547" name="연결선: 꺾임 546">
            <a:extLst>
              <a:ext uri="{FF2B5EF4-FFF2-40B4-BE49-F238E27FC236}">
                <a16:creationId xmlns:a16="http://schemas.microsoft.com/office/drawing/2014/main" id="{CBBF02C8-5DAE-48C6-8843-DB5CE15101C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75405" y="3045537"/>
            <a:ext cx="4629636" cy="1442750"/>
          </a:xfrm>
          <a:prstGeom prst="bentConnector4">
            <a:avLst>
              <a:gd name="adj1" fmla="val 6400"/>
              <a:gd name="adj2" fmla="val 92526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연결선: 꺾임 547">
            <a:extLst>
              <a:ext uri="{FF2B5EF4-FFF2-40B4-BE49-F238E27FC236}">
                <a16:creationId xmlns:a16="http://schemas.microsoft.com/office/drawing/2014/main" id="{F567FAA9-A26E-4765-86DA-B35DA613C8D1}"/>
              </a:ext>
            </a:extLst>
          </p:cNvPr>
          <p:cNvCxnSpPr>
            <a:cxnSpLocks/>
            <a:stCxn id="649" idx="1"/>
            <a:endCxn id="519" idx="2"/>
          </p:cNvCxnSpPr>
          <p:nvPr/>
        </p:nvCxnSpPr>
        <p:spPr>
          <a:xfrm rot="10800000" flipV="1">
            <a:off x="3875405" y="3054154"/>
            <a:ext cx="4629636" cy="1442750"/>
          </a:xfrm>
          <a:prstGeom prst="bentConnector4">
            <a:avLst>
              <a:gd name="adj1" fmla="val 6399"/>
              <a:gd name="adj2" fmla="val 91928"/>
            </a:avLst>
          </a:prstGeom>
          <a:ln w="28575">
            <a:solidFill>
              <a:schemeClr val="accent2"/>
            </a:solidFill>
            <a:prstDash val="lgDashDot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연결선: 꺾임 548">
            <a:extLst>
              <a:ext uri="{FF2B5EF4-FFF2-40B4-BE49-F238E27FC236}">
                <a16:creationId xmlns:a16="http://schemas.microsoft.com/office/drawing/2014/main" id="{E503124F-7B82-4605-B830-ED4D3407D807}"/>
              </a:ext>
            </a:extLst>
          </p:cNvPr>
          <p:cNvCxnSpPr>
            <a:cxnSpLocks/>
            <a:stCxn id="515" idx="3"/>
            <a:endCxn id="519" idx="3"/>
          </p:cNvCxnSpPr>
          <p:nvPr/>
        </p:nvCxnSpPr>
        <p:spPr>
          <a:xfrm>
            <a:off x="3968810" y="2788279"/>
            <a:ext cx="9989" cy="1598652"/>
          </a:xfrm>
          <a:prstGeom prst="bentConnector3">
            <a:avLst>
              <a:gd name="adj1" fmla="val 2388517"/>
            </a:avLst>
          </a:prstGeom>
          <a:ln w="28575">
            <a:solidFill>
              <a:schemeClr val="accent2"/>
            </a:solidFill>
            <a:prstDash val="lgDashDot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사각형: 둥근 모서리 549">
            <a:extLst>
              <a:ext uri="{FF2B5EF4-FFF2-40B4-BE49-F238E27FC236}">
                <a16:creationId xmlns:a16="http://schemas.microsoft.com/office/drawing/2014/main" id="{BB94D1AA-8033-4831-A712-BCF7749C68A0}"/>
              </a:ext>
            </a:extLst>
          </p:cNvPr>
          <p:cNvSpPr/>
          <p:nvPr/>
        </p:nvSpPr>
        <p:spPr>
          <a:xfrm>
            <a:off x="4538084" y="1944461"/>
            <a:ext cx="762538" cy="171120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매입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51" name="사각형: 둥근 모서리 550">
            <a:extLst>
              <a:ext uri="{FF2B5EF4-FFF2-40B4-BE49-F238E27FC236}">
                <a16:creationId xmlns:a16="http://schemas.microsoft.com/office/drawing/2014/main" id="{884D9BBD-81EF-4611-AA03-B81688F39165}"/>
              </a:ext>
            </a:extLst>
          </p:cNvPr>
          <p:cNvSpPr/>
          <p:nvPr/>
        </p:nvSpPr>
        <p:spPr>
          <a:xfrm>
            <a:off x="4543070" y="2170237"/>
            <a:ext cx="710557" cy="16933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매출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52" name="그룹 551">
            <a:extLst>
              <a:ext uri="{FF2B5EF4-FFF2-40B4-BE49-F238E27FC236}">
                <a16:creationId xmlns:a16="http://schemas.microsoft.com/office/drawing/2014/main" id="{4A73871E-115C-4C72-9E07-39BB6256B58D}"/>
              </a:ext>
            </a:extLst>
          </p:cNvPr>
          <p:cNvGrpSpPr/>
          <p:nvPr/>
        </p:nvGrpSpPr>
        <p:grpSpPr>
          <a:xfrm>
            <a:off x="5120923" y="1929840"/>
            <a:ext cx="205187" cy="198343"/>
            <a:chOff x="5213886" y="1690790"/>
            <a:chExt cx="205187" cy="198343"/>
          </a:xfrm>
        </p:grpSpPr>
        <p:sp>
          <p:nvSpPr>
            <p:cNvPr id="553" name="Oval 159">
              <a:extLst>
                <a:ext uri="{FF2B5EF4-FFF2-40B4-BE49-F238E27FC236}">
                  <a16:creationId xmlns:a16="http://schemas.microsoft.com/office/drawing/2014/main" id="{5214436E-92A1-45A8-A41D-B16F5258A4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54" name="그림 553">
              <a:extLst>
                <a:ext uri="{FF2B5EF4-FFF2-40B4-BE49-F238E27FC236}">
                  <a16:creationId xmlns:a16="http://schemas.microsoft.com/office/drawing/2014/main" id="{FC0D2740-54B5-4285-AD7B-746A50A1F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555" name="그룹 554">
            <a:extLst>
              <a:ext uri="{FF2B5EF4-FFF2-40B4-BE49-F238E27FC236}">
                <a16:creationId xmlns:a16="http://schemas.microsoft.com/office/drawing/2014/main" id="{8FC9D1D1-535C-44D2-80D3-6EA1F3CC1FAA}"/>
              </a:ext>
            </a:extLst>
          </p:cNvPr>
          <p:cNvGrpSpPr/>
          <p:nvPr/>
        </p:nvGrpSpPr>
        <p:grpSpPr>
          <a:xfrm>
            <a:off x="5125909" y="2162744"/>
            <a:ext cx="205187" cy="198343"/>
            <a:chOff x="5213886" y="1690790"/>
            <a:chExt cx="205187" cy="198343"/>
          </a:xfrm>
        </p:grpSpPr>
        <p:sp>
          <p:nvSpPr>
            <p:cNvPr id="556" name="Oval 159">
              <a:extLst>
                <a:ext uri="{FF2B5EF4-FFF2-40B4-BE49-F238E27FC236}">
                  <a16:creationId xmlns:a16="http://schemas.microsoft.com/office/drawing/2014/main" id="{9B46B3AF-4F7C-4114-AD29-A75B976E8A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57" name="그림 556">
              <a:extLst>
                <a:ext uri="{FF2B5EF4-FFF2-40B4-BE49-F238E27FC236}">
                  <a16:creationId xmlns:a16="http://schemas.microsoft.com/office/drawing/2014/main" id="{000E905F-DEDC-416E-9C4A-8B9EC6D75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58" name="사각형: 둥근 모서리 557">
            <a:extLst>
              <a:ext uri="{FF2B5EF4-FFF2-40B4-BE49-F238E27FC236}">
                <a16:creationId xmlns:a16="http://schemas.microsoft.com/office/drawing/2014/main" id="{742C1FC8-7DA6-4BEC-AC86-44A7041153CC}"/>
              </a:ext>
            </a:extLst>
          </p:cNvPr>
          <p:cNvSpPr/>
          <p:nvPr/>
        </p:nvSpPr>
        <p:spPr>
          <a:xfrm>
            <a:off x="5537425" y="1926884"/>
            <a:ext cx="758274" cy="180312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 보안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59" name="그룹 558">
            <a:extLst>
              <a:ext uri="{FF2B5EF4-FFF2-40B4-BE49-F238E27FC236}">
                <a16:creationId xmlns:a16="http://schemas.microsoft.com/office/drawing/2014/main" id="{003D7E74-FA0F-4E07-BB5C-2CB150F36A53}"/>
              </a:ext>
            </a:extLst>
          </p:cNvPr>
          <p:cNvGrpSpPr/>
          <p:nvPr/>
        </p:nvGrpSpPr>
        <p:grpSpPr>
          <a:xfrm>
            <a:off x="6103016" y="1910765"/>
            <a:ext cx="205187" cy="198343"/>
            <a:chOff x="5213886" y="1690790"/>
            <a:chExt cx="205187" cy="198343"/>
          </a:xfrm>
        </p:grpSpPr>
        <p:sp>
          <p:nvSpPr>
            <p:cNvPr id="560" name="Oval 159">
              <a:extLst>
                <a:ext uri="{FF2B5EF4-FFF2-40B4-BE49-F238E27FC236}">
                  <a16:creationId xmlns:a16="http://schemas.microsoft.com/office/drawing/2014/main" id="{9D836CFC-5F59-4683-B902-0F54D62C3B4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61" name="그림 560">
              <a:extLst>
                <a:ext uri="{FF2B5EF4-FFF2-40B4-BE49-F238E27FC236}">
                  <a16:creationId xmlns:a16="http://schemas.microsoft.com/office/drawing/2014/main" id="{D710694D-D0B3-4E5C-AB21-977CA2FA3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62" name="사각형: 둥근 모서리 561">
            <a:extLst>
              <a:ext uri="{FF2B5EF4-FFF2-40B4-BE49-F238E27FC236}">
                <a16:creationId xmlns:a16="http://schemas.microsoft.com/office/drawing/2014/main" id="{C2B49402-C974-46B5-97E1-C737EDE2B4B1}"/>
              </a:ext>
            </a:extLst>
          </p:cNvPr>
          <p:cNvSpPr/>
          <p:nvPr/>
        </p:nvSpPr>
        <p:spPr>
          <a:xfrm>
            <a:off x="5530967" y="2168549"/>
            <a:ext cx="764732" cy="162924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다우연계서비스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63" name="그룹 562">
            <a:extLst>
              <a:ext uri="{FF2B5EF4-FFF2-40B4-BE49-F238E27FC236}">
                <a16:creationId xmlns:a16="http://schemas.microsoft.com/office/drawing/2014/main" id="{51F12125-7F5D-4F1F-A412-06B96FE0DF52}"/>
              </a:ext>
            </a:extLst>
          </p:cNvPr>
          <p:cNvGrpSpPr/>
          <p:nvPr/>
        </p:nvGrpSpPr>
        <p:grpSpPr>
          <a:xfrm>
            <a:off x="6087932" y="2143804"/>
            <a:ext cx="205187" cy="198343"/>
            <a:chOff x="5213886" y="1690790"/>
            <a:chExt cx="205187" cy="198343"/>
          </a:xfrm>
        </p:grpSpPr>
        <p:sp>
          <p:nvSpPr>
            <p:cNvPr id="564" name="Oval 159">
              <a:extLst>
                <a:ext uri="{FF2B5EF4-FFF2-40B4-BE49-F238E27FC236}">
                  <a16:creationId xmlns:a16="http://schemas.microsoft.com/office/drawing/2014/main" id="{5F45C35D-CCA6-4C1E-98B1-A50314105D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65" name="그림 564">
              <a:extLst>
                <a:ext uri="{FF2B5EF4-FFF2-40B4-BE49-F238E27FC236}">
                  <a16:creationId xmlns:a16="http://schemas.microsoft.com/office/drawing/2014/main" id="{301A65A6-4B75-488A-99AF-D12CD8949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66" name="사각형: 둥근 모서리 565">
            <a:extLst>
              <a:ext uri="{FF2B5EF4-FFF2-40B4-BE49-F238E27FC236}">
                <a16:creationId xmlns:a16="http://schemas.microsoft.com/office/drawing/2014/main" id="{A36219FB-76D7-432A-9127-B05659A91D2D}"/>
              </a:ext>
            </a:extLst>
          </p:cNvPr>
          <p:cNvSpPr/>
          <p:nvPr/>
        </p:nvSpPr>
        <p:spPr>
          <a:xfrm>
            <a:off x="5471111" y="3833276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카드연계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67" name="그룹 566">
            <a:extLst>
              <a:ext uri="{FF2B5EF4-FFF2-40B4-BE49-F238E27FC236}">
                <a16:creationId xmlns:a16="http://schemas.microsoft.com/office/drawing/2014/main" id="{C655EB08-51DC-49B0-B4C3-6292E3E3CEB9}"/>
              </a:ext>
            </a:extLst>
          </p:cNvPr>
          <p:cNvGrpSpPr/>
          <p:nvPr/>
        </p:nvGrpSpPr>
        <p:grpSpPr>
          <a:xfrm>
            <a:off x="6058534" y="3821344"/>
            <a:ext cx="205187" cy="198343"/>
            <a:chOff x="5213886" y="1690790"/>
            <a:chExt cx="205187" cy="198343"/>
          </a:xfrm>
        </p:grpSpPr>
        <p:sp>
          <p:nvSpPr>
            <p:cNvPr id="568" name="Oval 159">
              <a:extLst>
                <a:ext uri="{FF2B5EF4-FFF2-40B4-BE49-F238E27FC236}">
                  <a16:creationId xmlns:a16="http://schemas.microsoft.com/office/drawing/2014/main" id="{401CD623-88F4-4775-841F-751238FF3F0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98B15B47-6D40-42EC-861E-321BD11F2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70" name="사각형: 둥근 모서리 569">
            <a:extLst>
              <a:ext uri="{FF2B5EF4-FFF2-40B4-BE49-F238E27FC236}">
                <a16:creationId xmlns:a16="http://schemas.microsoft.com/office/drawing/2014/main" id="{F1B6D218-BD0C-4A64-A7FB-CBA23DB4C03E}"/>
              </a:ext>
            </a:extLst>
          </p:cNvPr>
          <p:cNvSpPr/>
          <p:nvPr/>
        </p:nvSpPr>
        <p:spPr>
          <a:xfrm>
            <a:off x="4478034" y="3759321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국세청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71" name="사각형: 둥근 모서리 570">
            <a:extLst>
              <a:ext uri="{FF2B5EF4-FFF2-40B4-BE49-F238E27FC236}">
                <a16:creationId xmlns:a16="http://schemas.microsoft.com/office/drawing/2014/main" id="{92098959-89BA-423A-AD14-920AF6A059D7}"/>
              </a:ext>
            </a:extLst>
          </p:cNvPr>
          <p:cNvSpPr/>
          <p:nvPr/>
        </p:nvSpPr>
        <p:spPr>
          <a:xfrm>
            <a:off x="4475182" y="4007569"/>
            <a:ext cx="794209" cy="19246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4</a:t>
            </a:r>
            <a:r>
              <a:rPr lang="ko-KR" altLang="en-US" sz="700" b="1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대보험</a:t>
            </a: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572" name="그룹 571">
            <a:extLst>
              <a:ext uri="{FF2B5EF4-FFF2-40B4-BE49-F238E27FC236}">
                <a16:creationId xmlns:a16="http://schemas.microsoft.com/office/drawing/2014/main" id="{DB27BD4A-DBB2-4C8D-BB28-0F32B3900743}"/>
              </a:ext>
            </a:extLst>
          </p:cNvPr>
          <p:cNvGrpSpPr/>
          <p:nvPr/>
        </p:nvGrpSpPr>
        <p:grpSpPr>
          <a:xfrm>
            <a:off x="5071231" y="3995637"/>
            <a:ext cx="205187" cy="198343"/>
            <a:chOff x="5213886" y="1690790"/>
            <a:chExt cx="205187" cy="198343"/>
          </a:xfrm>
        </p:grpSpPr>
        <p:sp>
          <p:nvSpPr>
            <p:cNvPr id="573" name="Oval 159">
              <a:extLst>
                <a:ext uri="{FF2B5EF4-FFF2-40B4-BE49-F238E27FC236}">
                  <a16:creationId xmlns:a16="http://schemas.microsoft.com/office/drawing/2014/main" id="{745E24E5-65B3-4F6A-B0BA-863DD18035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922B3F6C-8F8A-4669-8F58-57EAB0E30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grpSp>
        <p:nvGrpSpPr>
          <p:cNvPr id="575" name="그룹 574">
            <a:extLst>
              <a:ext uri="{FF2B5EF4-FFF2-40B4-BE49-F238E27FC236}">
                <a16:creationId xmlns:a16="http://schemas.microsoft.com/office/drawing/2014/main" id="{433A19C0-BCCD-4934-A84E-6E8350218F19}"/>
              </a:ext>
            </a:extLst>
          </p:cNvPr>
          <p:cNvGrpSpPr/>
          <p:nvPr/>
        </p:nvGrpSpPr>
        <p:grpSpPr>
          <a:xfrm>
            <a:off x="5082408" y="3753448"/>
            <a:ext cx="205187" cy="198343"/>
            <a:chOff x="5213886" y="1690790"/>
            <a:chExt cx="205187" cy="198343"/>
          </a:xfrm>
        </p:grpSpPr>
        <p:sp>
          <p:nvSpPr>
            <p:cNvPr id="576" name="Oval 159">
              <a:extLst>
                <a:ext uri="{FF2B5EF4-FFF2-40B4-BE49-F238E27FC236}">
                  <a16:creationId xmlns:a16="http://schemas.microsoft.com/office/drawing/2014/main" id="{2CBEBE1E-B543-4411-9DE7-9955DA7C64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577" name="그림 576">
              <a:extLst>
                <a:ext uri="{FF2B5EF4-FFF2-40B4-BE49-F238E27FC236}">
                  <a16:creationId xmlns:a16="http://schemas.microsoft.com/office/drawing/2014/main" id="{AE97EF22-38D9-4A2B-89A2-25D089445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578" name="사각형: 둥근 모서리 577">
            <a:extLst>
              <a:ext uri="{FF2B5EF4-FFF2-40B4-BE49-F238E27FC236}">
                <a16:creationId xmlns:a16="http://schemas.microsoft.com/office/drawing/2014/main" id="{E00D013B-1E4A-464A-A11F-7959E07E18D7}"/>
              </a:ext>
            </a:extLst>
          </p:cNvPr>
          <p:cNvSpPr/>
          <p:nvPr/>
        </p:nvSpPr>
        <p:spPr>
          <a:xfrm>
            <a:off x="4889605" y="3564843"/>
            <a:ext cx="1007391" cy="14766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79" name="사각형: 둥근 모서리 578">
            <a:extLst>
              <a:ext uri="{FF2B5EF4-FFF2-40B4-BE49-F238E27FC236}">
                <a16:creationId xmlns:a16="http://schemas.microsoft.com/office/drawing/2014/main" id="{94FCC46A-5B73-429F-A909-23AD1037D149}"/>
              </a:ext>
            </a:extLst>
          </p:cNvPr>
          <p:cNvSpPr/>
          <p:nvPr/>
        </p:nvSpPr>
        <p:spPr>
          <a:xfrm>
            <a:off x="4933056" y="1738585"/>
            <a:ext cx="1007391" cy="14766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580" name="연결선: 꺾임 579">
            <a:extLst>
              <a:ext uri="{FF2B5EF4-FFF2-40B4-BE49-F238E27FC236}">
                <a16:creationId xmlns:a16="http://schemas.microsoft.com/office/drawing/2014/main" id="{0E8D9DBA-287C-4A66-BA87-51EE341DA31D}"/>
              </a:ext>
            </a:extLst>
          </p:cNvPr>
          <p:cNvCxnSpPr>
            <a:stCxn id="535" idx="2"/>
            <a:endCxn id="578" idx="0"/>
          </p:cNvCxnSpPr>
          <p:nvPr/>
        </p:nvCxnSpPr>
        <p:spPr>
          <a:xfrm rot="16200000" flipH="1">
            <a:off x="5176409" y="3347950"/>
            <a:ext cx="268277" cy="165507"/>
          </a:xfrm>
          <a:prstGeom prst="bentConnector3">
            <a:avLst>
              <a:gd name="adj1" fmla="val 178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연결선: 꺾임 580">
            <a:extLst>
              <a:ext uri="{FF2B5EF4-FFF2-40B4-BE49-F238E27FC236}">
                <a16:creationId xmlns:a16="http://schemas.microsoft.com/office/drawing/2014/main" id="{2BA5C94D-D35C-481B-89C8-707DD949ADBB}"/>
              </a:ext>
            </a:extLst>
          </p:cNvPr>
          <p:cNvCxnSpPr>
            <a:stCxn id="511" idx="2"/>
            <a:endCxn id="579" idx="0"/>
          </p:cNvCxnSpPr>
          <p:nvPr/>
        </p:nvCxnSpPr>
        <p:spPr>
          <a:xfrm rot="16200000" flipH="1">
            <a:off x="5210953" y="1512786"/>
            <a:ext cx="280586" cy="171011"/>
          </a:xfrm>
          <a:prstGeom prst="bentConnector3">
            <a:avLst>
              <a:gd name="adj1" fmla="val 192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2" name="그림 581">
            <a:extLst>
              <a:ext uri="{FF2B5EF4-FFF2-40B4-BE49-F238E27FC236}">
                <a16:creationId xmlns:a16="http://schemas.microsoft.com/office/drawing/2014/main" id="{D47932FF-460D-4B42-9DCD-A2F5314ED8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9" y="3502253"/>
            <a:ext cx="284152" cy="284152"/>
          </a:xfrm>
          <a:prstGeom prst="rect">
            <a:avLst/>
          </a:prstGeom>
        </p:spPr>
      </p:pic>
      <p:pic>
        <p:nvPicPr>
          <p:cNvPr id="583" name="그림 582">
            <a:extLst>
              <a:ext uri="{FF2B5EF4-FFF2-40B4-BE49-F238E27FC236}">
                <a16:creationId xmlns:a16="http://schemas.microsoft.com/office/drawing/2014/main" id="{F96D0090-1FDC-4EB9-BB79-D9AD0657F98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235" y="3530285"/>
            <a:ext cx="236276" cy="236276"/>
          </a:xfrm>
          <a:prstGeom prst="rect">
            <a:avLst/>
          </a:prstGeom>
        </p:spPr>
      </p:pic>
      <p:pic>
        <p:nvPicPr>
          <p:cNvPr id="584" name="그림 583">
            <a:extLst>
              <a:ext uri="{FF2B5EF4-FFF2-40B4-BE49-F238E27FC236}">
                <a16:creationId xmlns:a16="http://schemas.microsoft.com/office/drawing/2014/main" id="{6BC3C6E4-430E-4AD4-AD2D-C41B57F87DF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835" y="3499557"/>
            <a:ext cx="284152" cy="284152"/>
          </a:xfrm>
          <a:prstGeom prst="rect">
            <a:avLst/>
          </a:prstGeom>
        </p:spPr>
      </p:pic>
      <p:pic>
        <p:nvPicPr>
          <p:cNvPr id="585" name="그림 584">
            <a:extLst>
              <a:ext uri="{FF2B5EF4-FFF2-40B4-BE49-F238E27FC236}">
                <a16:creationId xmlns:a16="http://schemas.microsoft.com/office/drawing/2014/main" id="{27E92BA4-137D-4D0E-B18B-A85A141C936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541" y="3527589"/>
            <a:ext cx="236276" cy="236276"/>
          </a:xfrm>
          <a:prstGeom prst="rect">
            <a:avLst/>
          </a:prstGeom>
        </p:spPr>
      </p:pic>
      <p:pic>
        <p:nvPicPr>
          <p:cNvPr id="586" name="그림 585">
            <a:extLst>
              <a:ext uri="{FF2B5EF4-FFF2-40B4-BE49-F238E27FC236}">
                <a16:creationId xmlns:a16="http://schemas.microsoft.com/office/drawing/2014/main" id="{8B1069D9-D9D7-48B5-867D-2F01F3AFB0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352" y="1674592"/>
            <a:ext cx="284152" cy="284152"/>
          </a:xfrm>
          <a:prstGeom prst="rect">
            <a:avLst/>
          </a:prstGeom>
        </p:spPr>
      </p:pic>
      <p:pic>
        <p:nvPicPr>
          <p:cNvPr id="587" name="그림 586">
            <a:extLst>
              <a:ext uri="{FF2B5EF4-FFF2-40B4-BE49-F238E27FC236}">
                <a16:creationId xmlns:a16="http://schemas.microsoft.com/office/drawing/2014/main" id="{F47C0FF3-C5CD-4425-A994-EDBD6901294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058" y="1702624"/>
            <a:ext cx="236276" cy="236276"/>
          </a:xfrm>
          <a:prstGeom prst="rect">
            <a:avLst/>
          </a:prstGeom>
        </p:spPr>
      </p:pic>
      <p:pic>
        <p:nvPicPr>
          <p:cNvPr id="588" name="그림 587">
            <a:extLst>
              <a:ext uri="{FF2B5EF4-FFF2-40B4-BE49-F238E27FC236}">
                <a16:creationId xmlns:a16="http://schemas.microsoft.com/office/drawing/2014/main" id="{9ABAA830-BD14-4D05-AC76-FA57CF4663B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425" y="1671790"/>
            <a:ext cx="284152" cy="284152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A929B39C-E684-431E-857D-F750C7523C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31" y="1699822"/>
            <a:ext cx="236276" cy="236276"/>
          </a:xfrm>
          <a:prstGeom prst="rect">
            <a:avLst/>
          </a:prstGeom>
        </p:spPr>
      </p:pic>
      <p:sp>
        <p:nvSpPr>
          <p:cNvPr id="590" name="직사각형 589">
            <a:extLst>
              <a:ext uri="{FF2B5EF4-FFF2-40B4-BE49-F238E27FC236}">
                <a16:creationId xmlns:a16="http://schemas.microsoft.com/office/drawing/2014/main" id="{3668B48D-F730-475A-A310-1CA5B5B0FD73}"/>
              </a:ext>
            </a:extLst>
          </p:cNvPr>
          <p:cNvSpPr/>
          <p:nvPr/>
        </p:nvSpPr>
        <p:spPr>
          <a:xfrm>
            <a:off x="1512258" y="5331044"/>
            <a:ext cx="1294223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Docker Private Registry (</a:t>
            </a:r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로컬 저장소</a:t>
            </a:r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900" b="1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91" name="직사각형 590">
            <a:extLst>
              <a:ext uri="{FF2B5EF4-FFF2-40B4-BE49-F238E27FC236}">
                <a16:creationId xmlns:a16="http://schemas.microsoft.com/office/drawing/2014/main" id="{88D81491-C069-4D96-B4A0-8728BFA0F9C8}"/>
              </a:ext>
            </a:extLst>
          </p:cNvPr>
          <p:cNvSpPr/>
          <p:nvPr/>
        </p:nvSpPr>
        <p:spPr>
          <a:xfrm>
            <a:off x="123094" y="1526386"/>
            <a:ext cx="4806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Client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92" name="사각형: 둥근 모서리 591">
            <a:extLst>
              <a:ext uri="{FF2B5EF4-FFF2-40B4-BE49-F238E27FC236}">
                <a16:creationId xmlns:a16="http://schemas.microsoft.com/office/drawing/2014/main" id="{4CBD3D2D-E8A6-4FAB-A9E7-1877BA4A3362}"/>
              </a:ext>
            </a:extLst>
          </p:cNvPr>
          <p:cNvSpPr/>
          <p:nvPr/>
        </p:nvSpPr>
        <p:spPr>
          <a:xfrm>
            <a:off x="1461007" y="3298095"/>
            <a:ext cx="1135709" cy="287425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(</a:t>
            </a:r>
            <a:r>
              <a:rPr lang="ko-KR" altLang="en-US" sz="9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다우</a:t>
            </a:r>
            <a:r>
              <a:rPr lang="en-US" altLang="ko-KR" sz="9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)</a:t>
            </a:r>
            <a:r>
              <a:rPr lang="en-US" altLang="ko-KR" sz="900" dirty="0" err="1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Oauth</a:t>
            </a:r>
            <a:r>
              <a:rPr lang="en-US" altLang="ko-KR" sz="9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Server</a:t>
            </a:r>
            <a:endParaRPr lang="en-US" altLang="ko-KR" sz="800" dirty="0">
              <a:solidFill>
                <a:schemeClr val="bg1"/>
              </a:solidFill>
              <a:latin typeface="다키 M" pitchFamily="2" charset="-127"/>
              <a:ea typeface="다키 M" pitchFamily="2" charset="-127"/>
            </a:endParaRPr>
          </a:p>
        </p:txBody>
      </p:sp>
      <p:cxnSp>
        <p:nvCxnSpPr>
          <p:cNvPr id="594" name="직선 화살표 연결선 593">
            <a:extLst>
              <a:ext uri="{FF2B5EF4-FFF2-40B4-BE49-F238E27FC236}">
                <a16:creationId xmlns:a16="http://schemas.microsoft.com/office/drawing/2014/main" id="{AF1DFC01-A478-4D16-8070-C213B559D5C2}"/>
              </a:ext>
            </a:extLst>
          </p:cNvPr>
          <p:cNvCxnSpPr>
            <a:cxnSpLocks/>
            <a:stCxn id="435" idx="2"/>
            <a:endCxn id="444" idx="0"/>
          </p:cNvCxnSpPr>
          <p:nvPr/>
        </p:nvCxnSpPr>
        <p:spPr>
          <a:xfrm>
            <a:off x="4341555" y="5861305"/>
            <a:ext cx="2962" cy="21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5" name="그림 594">
            <a:extLst>
              <a:ext uri="{FF2B5EF4-FFF2-40B4-BE49-F238E27FC236}">
                <a16:creationId xmlns:a16="http://schemas.microsoft.com/office/drawing/2014/main" id="{157BE335-274A-490C-A5DD-54D0564DE39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t="1526" r="80416" b="83505"/>
          <a:stretch/>
        </p:blipFill>
        <p:spPr>
          <a:xfrm>
            <a:off x="136870" y="3668596"/>
            <a:ext cx="432824" cy="372475"/>
          </a:xfrm>
          <a:prstGeom prst="rect">
            <a:avLst/>
          </a:prstGeom>
        </p:spPr>
      </p:pic>
      <p:sp>
        <p:nvSpPr>
          <p:cNvPr id="596" name="직사각형 595">
            <a:extLst>
              <a:ext uri="{FF2B5EF4-FFF2-40B4-BE49-F238E27FC236}">
                <a16:creationId xmlns:a16="http://schemas.microsoft.com/office/drawing/2014/main" id="{500E8721-925F-416C-8325-0000BAB3930B}"/>
              </a:ext>
            </a:extLst>
          </p:cNvPr>
          <p:cNvSpPr/>
          <p:nvPr/>
        </p:nvSpPr>
        <p:spPr>
          <a:xfrm>
            <a:off x="111549" y="3476775"/>
            <a:ext cx="4806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Client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97" name="사각형: 둥근 모서리 596">
            <a:extLst>
              <a:ext uri="{FF2B5EF4-FFF2-40B4-BE49-F238E27FC236}">
                <a16:creationId xmlns:a16="http://schemas.microsoft.com/office/drawing/2014/main" id="{C7EE8FF1-D51F-4A71-8D95-534324A25B89}"/>
              </a:ext>
            </a:extLst>
          </p:cNvPr>
          <p:cNvSpPr/>
          <p:nvPr/>
        </p:nvSpPr>
        <p:spPr>
          <a:xfrm>
            <a:off x="4404547" y="4412414"/>
            <a:ext cx="3589995" cy="71250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598" name="그림 597">
            <a:extLst>
              <a:ext uri="{FF2B5EF4-FFF2-40B4-BE49-F238E27FC236}">
                <a16:creationId xmlns:a16="http://schemas.microsoft.com/office/drawing/2014/main" id="{C93EFB93-5CDD-4EAD-A2AB-0EF1CF5F4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001" y="4439486"/>
            <a:ext cx="355086" cy="210090"/>
          </a:xfrm>
          <a:prstGeom prst="rect">
            <a:avLst/>
          </a:prstGeom>
        </p:spPr>
      </p:pic>
      <p:sp>
        <p:nvSpPr>
          <p:cNvPr id="599" name="직사각형 598">
            <a:extLst>
              <a:ext uri="{FF2B5EF4-FFF2-40B4-BE49-F238E27FC236}">
                <a16:creationId xmlns:a16="http://schemas.microsoft.com/office/drawing/2014/main" id="{80DE1021-880D-4BE0-854A-709AE6FA3391}"/>
              </a:ext>
            </a:extLst>
          </p:cNvPr>
          <p:cNvSpPr/>
          <p:nvPr/>
        </p:nvSpPr>
        <p:spPr>
          <a:xfrm>
            <a:off x="4511684" y="4433151"/>
            <a:ext cx="13660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DB Server [MariaDB]</a:t>
            </a:r>
          </a:p>
        </p:txBody>
      </p:sp>
      <p:sp>
        <p:nvSpPr>
          <p:cNvPr id="604" name="사각형: 둥근 모서리 603">
            <a:extLst>
              <a:ext uri="{FF2B5EF4-FFF2-40B4-BE49-F238E27FC236}">
                <a16:creationId xmlns:a16="http://schemas.microsoft.com/office/drawing/2014/main" id="{BBB73A50-B675-4C51-AB70-9D28E725F0C9}"/>
              </a:ext>
            </a:extLst>
          </p:cNvPr>
          <p:cNvSpPr/>
          <p:nvPr/>
        </p:nvSpPr>
        <p:spPr>
          <a:xfrm>
            <a:off x="4456271" y="4694534"/>
            <a:ext cx="3459545" cy="400334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06" name="사각형: 둥근 모서리 605">
            <a:extLst>
              <a:ext uri="{FF2B5EF4-FFF2-40B4-BE49-F238E27FC236}">
                <a16:creationId xmlns:a16="http://schemas.microsoft.com/office/drawing/2014/main" id="{AFCA3521-D4E5-4BB2-AEBC-B31061FF5B57}"/>
              </a:ext>
            </a:extLst>
          </p:cNvPr>
          <p:cNvSpPr/>
          <p:nvPr/>
        </p:nvSpPr>
        <p:spPr>
          <a:xfrm>
            <a:off x="4567340" y="4788754"/>
            <a:ext cx="1061883" cy="230390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Master  01</a:t>
            </a:r>
          </a:p>
        </p:txBody>
      </p:sp>
      <p:sp>
        <p:nvSpPr>
          <p:cNvPr id="607" name="사각형: 둥근 모서리 606">
            <a:extLst>
              <a:ext uri="{FF2B5EF4-FFF2-40B4-BE49-F238E27FC236}">
                <a16:creationId xmlns:a16="http://schemas.microsoft.com/office/drawing/2014/main" id="{17AC9A46-9FEB-4401-BD26-7D84438520DF}"/>
              </a:ext>
            </a:extLst>
          </p:cNvPr>
          <p:cNvSpPr/>
          <p:nvPr/>
        </p:nvSpPr>
        <p:spPr>
          <a:xfrm>
            <a:off x="5710815" y="4783371"/>
            <a:ext cx="1020360" cy="244139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Master 02</a:t>
            </a:r>
          </a:p>
        </p:txBody>
      </p:sp>
      <p:cxnSp>
        <p:nvCxnSpPr>
          <p:cNvPr id="608" name="연결선: 꺾임 607">
            <a:extLst>
              <a:ext uri="{FF2B5EF4-FFF2-40B4-BE49-F238E27FC236}">
                <a16:creationId xmlns:a16="http://schemas.microsoft.com/office/drawing/2014/main" id="{DD2B6953-D3A6-4ABC-85DD-B2F64CF3EB12}"/>
              </a:ext>
            </a:extLst>
          </p:cNvPr>
          <p:cNvCxnSpPr>
            <a:cxnSpLocks/>
            <a:stCxn id="516" idx="1"/>
            <a:endCxn id="625" idx="3"/>
          </p:cNvCxnSpPr>
          <p:nvPr/>
        </p:nvCxnSpPr>
        <p:spPr>
          <a:xfrm rot="10800000">
            <a:off x="2580773" y="1563991"/>
            <a:ext cx="398596" cy="122469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연결선: 꺾임 608">
            <a:extLst>
              <a:ext uri="{FF2B5EF4-FFF2-40B4-BE49-F238E27FC236}">
                <a16:creationId xmlns:a16="http://schemas.microsoft.com/office/drawing/2014/main" id="{A96C6C18-5441-4DA2-987B-090628FA029D}"/>
              </a:ext>
            </a:extLst>
          </p:cNvPr>
          <p:cNvCxnSpPr>
            <a:stCxn id="442" idx="2"/>
            <a:endCxn id="611" idx="1"/>
          </p:cNvCxnSpPr>
          <p:nvPr/>
        </p:nvCxnSpPr>
        <p:spPr>
          <a:xfrm rot="16200000" flipH="1">
            <a:off x="-95632" y="2521695"/>
            <a:ext cx="1059845" cy="1528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연결선: 꺾임 609">
            <a:extLst>
              <a:ext uri="{FF2B5EF4-FFF2-40B4-BE49-F238E27FC236}">
                <a16:creationId xmlns:a16="http://schemas.microsoft.com/office/drawing/2014/main" id="{BCE90D36-5239-44E2-842F-F83F1719EB2D}"/>
              </a:ext>
            </a:extLst>
          </p:cNvPr>
          <p:cNvCxnSpPr>
            <a:stCxn id="595" idx="0"/>
            <a:endCxn id="611" idx="1"/>
          </p:cNvCxnSpPr>
          <p:nvPr/>
        </p:nvCxnSpPr>
        <p:spPr>
          <a:xfrm rot="5400000" flipH="1" flipV="1">
            <a:off x="161720" y="3319604"/>
            <a:ext cx="540555" cy="1574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1" name="Picture 2" descr="Deep dive – Azure Load Balancer | Marius Sandbu">
            <a:extLst>
              <a:ext uri="{FF2B5EF4-FFF2-40B4-BE49-F238E27FC236}">
                <a16:creationId xmlns:a16="http://schemas.microsoft.com/office/drawing/2014/main" id="{9DBDBEAB-9CC6-41DD-926B-AC63DE3034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2" t="41094" r="30429" b="31160"/>
          <a:stretch/>
        </p:blipFill>
        <p:spPr bwMode="auto">
          <a:xfrm>
            <a:off x="510713" y="2950271"/>
            <a:ext cx="363529" cy="35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2" name="연결선: 꺾임 611">
            <a:extLst>
              <a:ext uri="{FF2B5EF4-FFF2-40B4-BE49-F238E27FC236}">
                <a16:creationId xmlns:a16="http://schemas.microsoft.com/office/drawing/2014/main" id="{E7670C93-8C5E-4CBD-BFA6-6C70CF63224F}"/>
              </a:ext>
            </a:extLst>
          </p:cNvPr>
          <p:cNvCxnSpPr>
            <a:stCxn id="458" idx="3"/>
            <a:endCxn id="614" idx="1"/>
          </p:cNvCxnSpPr>
          <p:nvPr/>
        </p:nvCxnSpPr>
        <p:spPr>
          <a:xfrm>
            <a:off x="3904411" y="1309496"/>
            <a:ext cx="551932" cy="172288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연결선: 꺾임 612">
            <a:extLst>
              <a:ext uri="{FF2B5EF4-FFF2-40B4-BE49-F238E27FC236}">
                <a16:creationId xmlns:a16="http://schemas.microsoft.com/office/drawing/2014/main" id="{3818AEDD-E24E-4912-BD7B-D9E885F5FCE0}"/>
              </a:ext>
            </a:extLst>
          </p:cNvPr>
          <p:cNvCxnSpPr>
            <a:cxnSpLocks/>
            <a:stCxn id="458" idx="3"/>
            <a:endCxn id="534" idx="1"/>
          </p:cNvCxnSpPr>
          <p:nvPr/>
        </p:nvCxnSpPr>
        <p:spPr>
          <a:xfrm>
            <a:off x="3904411" y="1309496"/>
            <a:ext cx="1349639" cy="1722885"/>
          </a:xfrm>
          <a:prstGeom prst="bentConnector3">
            <a:avLst>
              <a:gd name="adj1" fmla="val 20598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직사각형 613">
            <a:extLst>
              <a:ext uri="{FF2B5EF4-FFF2-40B4-BE49-F238E27FC236}">
                <a16:creationId xmlns:a16="http://schemas.microsoft.com/office/drawing/2014/main" id="{FFD859D7-48B3-420E-A594-0FF235CE50E8}"/>
              </a:ext>
            </a:extLst>
          </p:cNvPr>
          <p:cNvSpPr/>
          <p:nvPr/>
        </p:nvSpPr>
        <p:spPr>
          <a:xfrm>
            <a:off x="4456343" y="2941515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64B48C62-D192-4B74-A5FB-AC90D7AEE4F6}"/>
              </a:ext>
            </a:extLst>
          </p:cNvPr>
          <p:cNvSpPr/>
          <p:nvPr/>
        </p:nvSpPr>
        <p:spPr>
          <a:xfrm>
            <a:off x="699536" y="744383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Microservices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617" name="사각형: 둥근 모서리 616">
            <a:extLst>
              <a:ext uri="{FF2B5EF4-FFF2-40B4-BE49-F238E27FC236}">
                <a16:creationId xmlns:a16="http://schemas.microsoft.com/office/drawing/2014/main" id="{3A72C66F-24C9-4181-B117-69671DB05CD7}"/>
              </a:ext>
            </a:extLst>
          </p:cNvPr>
          <p:cNvSpPr/>
          <p:nvPr/>
        </p:nvSpPr>
        <p:spPr>
          <a:xfrm>
            <a:off x="953283" y="1026454"/>
            <a:ext cx="1718691" cy="2052283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618" name="그룹 617">
            <a:extLst>
              <a:ext uri="{FF2B5EF4-FFF2-40B4-BE49-F238E27FC236}">
                <a16:creationId xmlns:a16="http://schemas.microsoft.com/office/drawing/2014/main" id="{1DD65EF4-5216-48A9-9A3B-C0ADE194C229}"/>
              </a:ext>
            </a:extLst>
          </p:cNvPr>
          <p:cNvGrpSpPr/>
          <p:nvPr/>
        </p:nvGrpSpPr>
        <p:grpSpPr>
          <a:xfrm>
            <a:off x="1564857" y="1288530"/>
            <a:ext cx="455278" cy="154646"/>
            <a:chOff x="1274886" y="1471379"/>
            <a:chExt cx="3807946" cy="299395"/>
          </a:xfrm>
        </p:grpSpPr>
        <p:sp>
          <p:nvSpPr>
            <p:cNvPr id="619" name="사각형: 둥근 모서리 618">
              <a:extLst>
                <a:ext uri="{FF2B5EF4-FFF2-40B4-BE49-F238E27FC236}">
                  <a16:creationId xmlns:a16="http://schemas.microsoft.com/office/drawing/2014/main" id="{4A6188F3-2020-47CB-BCC3-3E93E9F29498}"/>
                </a:ext>
              </a:extLst>
            </p:cNvPr>
            <p:cNvSpPr/>
            <p:nvPr/>
          </p:nvSpPr>
          <p:spPr>
            <a:xfrm>
              <a:off x="1274886" y="1471380"/>
              <a:ext cx="3807946" cy="299394"/>
            </a:xfrm>
            <a:prstGeom prst="roundRect">
              <a:avLst>
                <a:gd name="adj" fmla="val 16175"/>
              </a:avLst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다키 M Title" pitchFamily="2" charset="-127"/>
                <a:ea typeface="다키 M Title" pitchFamily="2" charset="-127"/>
              </a:endParaRPr>
            </a:p>
          </p:txBody>
        </p:sp>
        <p:sp>
          <p:nvSpPr>
            <p:cNvPr id="620" name="직사각형 619">
              <a:extLst>
                <a:ext uri="{FF2B5EF4-FFF2-40B4-BE49-F238E27FC236}">
                  <a16:creationId xmlns:a16="http://schemas.microsoft.com/office/drawing/2014/main" id="{37EB0137-CBEF-4ABE-B3D6-8380ED5F903F}"/>
                </a:ext>
              </a:extLst>
            </p:cNvPr>
            <p:cNvSpPr/>
            <p:nvPr/>
          </p:nvSpPr>
          <p:spPr>
            <a:xfrm>
              <a:off x="1274886" y="1471379"/>
              <a:ext cx="3807946" cy="287968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800" dirty="0">
                  <a:solidFill>
                    <a:schemeClr val="bg1"/>
                  </a:solidFill>
                  <a:latin typeface="다키 M Title" pitchFamily="2" charset="-127"/>
                  <a:ea typeface="다키 M Title" pitchFamily="2" charset="-127"/>
                </a:rPr>
                <a:t>SPA </a:t>
              </a:r>
            </a:p>
          </p:txBody>
        </p:sp>
      </p:grpSp>
      <p:pic>
        <p:nvPicPr>
          <p:cNvPr id="621" name="그림 620">
            <a:extLst>
              <a:ext uri="{FF2B5EF4-FFF2-40B4-BE49-F238E27FC236}">
                <a16:creationId xmlns:a16="http://schemas.microsoft.com/office/drawing/2014/main" id="{591BD6F0-D658-4F23-BDE7-CC842D00573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2" y="1264183"/>
            <a:ext cx="502110" cy="207205"/>
          </a:xfrm>
          <a:prstGeom prst="rect">
            <a:avLst/>
          </a:prstGeom>
        </p:spPr>
      </p:pic>
      <p:pic>
        <p:nvPicPr>
          <p:cNvPr id="622" name="그림 621">
            <a:extLst>
              <a:ext uri="{FF2B5EF4-FFF2-40B4-BE49-F238E27FC236}">
                <a16:creationId xmlns:a16="http://schemas.microsoft.com/office/drawing/2014/main" id="{FB87A0CB-CB79-42C6-8833-40F7CBF24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78" y="1050043"/>
            <a:ext cx="347432" cy="205562"/>
          </a:xfrm>
          <a:prstGeom prst="rect">
            <a:avLst/>
          </a:prstGeom>
        </p:spPr>
      </p:pic>
      <p:sp>
        <p:nvSpPr>
          <p:cNvPr id="623" name="직사각형 622">
            <a:extLst>
              <a:ext uri="{FF2B5EF4-FFF2-40B4-BE49-F238E27FC236}">
                <a16:creationId xmlns:a16="http://schemas.microsoft.com/office/drawing/2014/main" id="{59F1A67A-42A4-409B-AED8-4D554A5538E6}"/>
              </a:ext>
            </a:extLst>
          </p:cNvPr>
          <p:cNvSpPr/>
          <p:nvPr/>
        </p:nvSpPr>
        <p:spPr>
          <a:xfrm>
            <a:off x="1111928" y="1061655"/>
            <a:ext cx="127174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[03]</a:t>
            </a:r>
            <a:endParaRPr lang="ko-KR" altLang="en-US" sz="9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624" name="사각형: 둥근 모서리 623">
            <a:extLst>
              <a:ext uri="{FF2B5EF4-FFF2-40B4-BE49-F238E27FC236}">
                <a16:creationId xmlns:a16="http://schemas.microsoft.com/office/drawing/2014/main" id="{E8C7BBF2-1D67-41EF-9259-9C7BC3B557B0}"/>
              </a:ext>
            </a:extLst>
          </p:cNvPr>
          <p:cNvSpPr/>
          <p:nvPr/>
        </p:nvSpPr>
        <p:spPr>
          <a:xfrm>
            <a:off x="1033475" y="1684928"/>
            <a:ext cx="1542903" cy="14280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 Runtime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25" name="직사각형 624">
            <a:extLst>
              <a:ext uri="{FF2B5EF4-FFF2-40B4-BE49-F238E27FC236}">
                <a16:creationId xmlns:a16="http://schemas.microsoft.com/office/drawing/2014/main" id="{05EA2E45-D66D-41DF-B234-6332D096FC5A}"/>
              </a:ext>
            </a:extLst>
          </p:cNvPr>
          <p:cNvSpPr/>
          <p:nvPr/>
        </p:nvSpPr>
        <p:spPr>
          <a:xfrm>
            <a:off x="1835578" y="1473124"/>
            <a:ext cx="745195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26" name="직사각형 625">
            <a:extLst>
              <a:ext uri="{FF2B5EF4-FFF2-40B4-BE49-F238E27FC236}">
                <a16:creationId xmlns:a16="http://schemas.microsoft.com/office/drawing/2014/main" id="{18C7377B-B436-4144-A1DB-4FBB3E297194}"/>
              </a:ext>
            </a:extLst>
          </p:cNvPr>
          <p:cNvSpPr/>
          <p:nvPr/>
        </p:nvSpPr>
        <p:spPr>
          <a:xfrm>
            <a:off x="1037797" y="1462954"/>
            <a:ext cx="745196" cy="181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kubeproxy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27" name="사각형: 둥근 모서리 626">
            <a:extLst>
              <a:ext uri="{FF2B5EF4-FFF2-40B4-BE49-F238E27FC236}">
                <a16:creationId xmlns:a16="http://schemas.microsoft.com/office/drawing/2014/main" id="{F016DC6B-72D0-4183-924A-667A0E394EB7}"/>
              </a:ext>
            </a:extLst>
          </p:cNvPr>
          <p:cNvSpPr/>
          <p:nvPr/>
        </p:nvSpPr>
        <p:spPr>
          <a:xfrm>
            <a:off x="1032802" y="1854425"/>
            <a:ext cx="1558493" cy="1147829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28" name="직사각형 627">
            <a:extLst>
              <a:ext uri="{FF2B5EF4-FFF2-40B4-BE49-F238E27FC236}">
                <a16:creationId xmlns:a16="http://schemas.microsoft.com/office/drawing/2014/main" id="{8A0BDC6D-3094-4F32-85EE-ACEC1B79E2F1}"/>
              </a:ext>
            </a:extLst>
          </p:cNvPr>
          <p:cNvSpPr/>
          <p:nvPr/>
        </p:nvSpPr>
        <p:spPr>
          <a:xfrm>
            <a:off x="1080570" y="1882090"/>
            <a:ext cx="1452355" cy="1184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29" name="사각형: 둥근 모서리 628">
            <a:extLst>
              <a:ext uri="{FF2B5EF4-FFF2-40B4-BE49-F238E27FC236}">
                <a16:creationId xmlns:a16="http://schemas.microsoft.com/office/drawing/2014/main" id="{DD7CB813-59AC-40D8-A958-6CE6ACD7748F}"/>
              </a:ext>
            </a:extLst>
          </p:cNvPr>
          <p:cNvSpPr/>
          <p:nvPr/>
        </p:nvSpPr>
        <p:spPr>
          <a:xfrm>
            <a:off x="1454175" y="2029986"/>
            <a:ext cx="1078750" cy="134235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7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630" name="그림 629">
            <a:extLst>
              <a:ext uri="{FF2B5EF4-FFF2-40B4-BE49-F238E27FC236}">
                <a16:creationId xmlns:a16="http://schemas.microsoft.com/office/drawing/2014/main" id="{96434EE3-7C13-4BD2-95B4-432CFF2563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71" y="1965993"/>
            <a:ext cx="284152" cy="284152"/>
          </a:xfrm>
          <a:prstGeom prst="rect">
            <a:avLst/>
          </a:prstGeom>
        </p:spPr>
      </p:pic>
      <p:pic>
        <p:nvPicPr>
          <p:cNvPr id="631" name="그림 630">
            <a:extLst>
              <a:ext uri="{FF2B5EF4-FFF2-40B4-BE49-F238E27FC236}">
                <a16:creationId xmlns:a16="http://schemas.microsoft.com/office/drawing/2014/main" id="{83773F6E-2B9A-4B10-85DD-3D25DC588A0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7" y="1994025"/>
            <a:ext cx="236276" cy="236276"/>
          </a:xfrm>
          <a:prstGeom prst="rect">
            <a:avLst/>
          </a:prstGeom>
        </p:spPr>
      </p:pic>
      <p:sp>
        <p:nvSpPr>
          <p:cNvPr id="632" name="사각형: 둥근 모서리 631">
            <a:extLst>
              <a:ext uri="{FF2B5EF4-FFF2-40B4-BE49-F238E27FC236}">
                <a16:creationId xmlns:a16="http://schemas.microsoft.com/office/drawing/2014/main" id="{A9F35BEE-73D1-4D9E-A0B5-8FB3C7964517}"/>
              </a:ext>
            </a:extLst>
          </p:cNvPr>
          <p:cNvSpPr/>
          <p:nvPr/>
        </p:nvSpPr>
        <p:spPr>
          <a:xfrm>
            <a:off x="1077080" y="2251552"/>
            <a:ext cx="1452354" cy="146018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DO ACC</a:t>
            </a:r>
            <a:r>
              <a:rPr lang="ko-KR" altLang="en-US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 서비스</a:t>
            </a:r>
            <a:endParaRPr lang="en-US" altLang="ko-KR" sz="700" b="1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grpSp>
        <p:nvGrpSpPr>
          <p:cNvPr id="633" name="그룹 632">
            <a:extLst>
              <a:ext uri="{FF2B5EF4-FFF2-40B4-BE49-F238E27FC236}">
                <a16:creationId xmlns:a16="http://schemas.microsoft.com/office/drawing/2014/main" id="{E26711D2-E628-4948-B2BA-CA23359B0976}"/>
              </a:ext>
            </a:extLst>
          </p:cNvPr>
          <p:cNvGrpSpPr/>
          <p:nvPr/>
        </p:nvGrpSpPr>
        <p:grpSpPr>
          <a:xfrm>
            <a:off x="1116123" y="2468595"/>
            <a:ext cx="555945" cy="172418"/>
            <a:chOff x="961134" y="2324826"/>
            <a:chExt cx="760261" cy="357223"/>
          </a:xfrm>
        </p:grpSpPr>
        <p:sp>
          <p:nvSpPr>
            <p:cNvPr id="634" name="사각형: 둥근 모서리 633">
              <a:extLst>
                <a:ext uri="{FF2B5EF4-FFF2-40B4-BE49-F238E27FC236}">
                  <a16:creationId xmlns:a16="http://schemas.microsoft.com/office/drawing/2014/main" id="{2BB6FAA1-B821-40B3-8A97-CEE2551FA3F7}"/>
                </a:ext>
              </a:extLst>
            </p:cNvPr>
            <p:cNvSpPr/>
            <p:nvPr/>
          </p:nvSpPr>
          <p:spPr>
            <a:xfrm>
              <a:off x="974364" y="2391447"/>
              <a:ext cx="747031" cy="276999"/>
            </a:xfrm>
            <a:prstGeom prst="roundRect">
              <a:avLst>
                <a:gd name="adj" fmla="val 1252"/>
              </a:avLst>
            </a:prstGeom>
            <a:solidFill>
              <a:srgbClr val="3790AE"/>
            </a:solidFill>
            <a:ln w="19050">
              <a:solidFill>
                <a:srgbClr val="AAB8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 sz="700" dirty="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635" name="그림 634">
              <a:extLst>
                <a:ext uri="{FF2B5EF4-FFF2-40B4-BE49-F238E27FC236}">
                  <a16:creationId xmlns:a16="http://schemas.microsoft.com/office/drawing/2014/main" id="{70063E31-EB8B-4351-A56B-4DDE479C4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134" y="2378687"/>
              <a:ext cx="159134" cy="156824"/>
            </a:xfrm>
            <a:prstGeom prst="rect">
              <a:avLst/>
            </a:prstGeom>
          </p:spPr>
        </p:pic>
        <p:sp>
          <p:nvSpPr>
            <p:cNvPr id="636" name="직사각형 635">
              <a:extLst>
                <a:ext uri="{FF2B5EF4-FFF2-40B4-BE49-F238E27FC236}">
                  <a16:creationId xmlns:a16="http://schemas.microsoft.com/office/drawing/2014/main" id="{AA3C2742-C0CC-4C32-936A-FAD23B6DF931}"/>
                </a:ext>
              </a:extLst>
            </p:cNvPr>
            <p:cNvSpPr/>
            <p:nvPr/>
          </p:nvSpPr>
          <p:spPr>
            <a:xfrm>
              <a:off x="1099592" y="2324826"/>
              <a:ext cx="579053" cy="3572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다키 L" pitchFamily="2" charset="-127"/>
                  <a:ea typeface="다키 L" pitchFamily="2" charset="-127"/>
                </a:rPr>
                <a:t>View</a:t>
              </a:r>
              <a:endParaRPr lang="ko-KR" altLang="en-US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endParaRPr>
            </a:p>
          </p:txBody>
        </p:sp>
      </p:grpSp>
      <p:sp>
        <p:nvSpPr>
          <p:cNvPr id="637" name="사각형: 둥근 모서리 636">
            <a:extLst>
              <a:ext uri="{FF2B5EF4-FFF2-40B4-BE49-F238E27FC236}">
                <a16:creationId xmlns:a16="http://schemas.microsoft.com/office/drawing/2014/main" id="{23AB6542-9DC8-4935-A65C-AFB74C25AF60}"/>
              </a:ext>
            </a:extLst>
          </p:cNvPr>
          <p:cNvSpPr/>
          <p:nvPr/>
        </p:nvSpPr>
        <p:spPr>
          <a:xfrm>
            <a:off x="1967241" y="2804404"/>
            <a:ext cx="539616" cy="145867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sz="7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A5A0F4EB-7EC9-4CBB-8072-4834D2B4AE82}"/>
              </a:ext>
            </a:extLst>
          </p:cNvPr>
          <p:cNvSpPr/>
          <p:nvPr/>
        </p:nvSpPr>
        <p:spPr>
          <a:xfrm>
            <a:off x="1965274" y="2779742"/>
            <a:ext cx="50017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Model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39" name="사각형: 둥근 모서리 638">
            <a:extLst>
              <a:ext uri="{FF2B5EF4-FFF2-40B4-BE49-F238E27FC236}">
                <a16:creationId xmlns:a16="http://schemas.microsoft.com/office/drawing/2014/main" id="{98B58734-68F3-40E2-8170-36356F8E4DC6}"/>
              </a:ext>
            </a:extLst>
          </p:cNvPr>
          <p:cNvSpPr/>
          <p:nvPr/>
        </p:nvSpPr>
        <p:spPr>
          <a:xfrm>
            <a:off x="1095338" y="2807169"/>
            <a:ext cx="593982" cy="137528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8E3CFA3C-B928-4EDA-931C-54F617E3F9DD}"/>
              </a:ext>
            </a:extLst>
          </p:cNvPr>
          <p:cNvSpPr/>
          <p:nvPr/>
        </p:nvSpPr>
        <p:spPr>
          <a:xfrm>
            <a:off x="1086258" y="2770457"/>
            <a:ext cx="63874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 err="1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ViewModel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41" name="사각형: 둥근 모서리 640">
            <a:extLst>
              <a:ext uri="{FF2B5EF4-FFF2-40B4-BE49-F238E27FC236}">
                <a16:creationId xmlns:a16="http://schemas.microsoft.com/office/drawing/2014/main" id="{3FF225C0-20CD-444F-AE7E-209E3F31B0BD}"/>
              </a:ext>
            </a:extLst>
          </p:cNvPr>
          <p:cNvSpPr/>
          <p:nvPr/>
        </p:nvSpPr>
        <p:spPr>
          <a:xfrm>
            <a:off x="1956744" y="2426520"/>
            <a:ext cx="550733" cy="282672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42" name="직사각형 641">
            <a:extLst>
              <a:ext uri="{FF2B5EF4-FFF2-40B4-BE49-F238E27FC236}">
                <a16:creationId xmlns:a16="http://schemas.microsoft.com/office/drawing/2014/main" id="{A15C42AD-65C1-4941-9FE1-660FE4D07FE1}"/>
              </a:ext>
            </a:extLst>
          </p:cNvPr>
          <p:cNvSpPr/>
          <p:nvPr/>
        </p:nvSpPr>
        <p:spPr>
          <a:xfrm>
            <a:off x="1922961" y="2413311"/>
            <a:ext cx="6319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View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  <a:latin typeface="다키 L" pitchFamily="2" charset="-127"/>
                <a:ea typeface="다키 L" pitchFamily="2" charset="-127"/>
              </a:rPr>
              <a:t>Controller</a:t>
            </a:r>
            <a:endParaRPr lang="ko-KR" altLang="en-US" sz="700" dirty="0">
              <a:solidFill>
                <a:schemeClr val="bg1"/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643" name="직선 화살표 연결선 642">
            <a:extLst>
              <a:ext uri="{FF2B5EF4-FFF2-40B4-BE49-F238E27FC236}">
                <a16:creationId xmlns:a16="http://schemas.microsoft.com/office/drawing/2014/main" id="{0D478C02-D433-4F0E-A720-699FC80221AF}"/>
              </a:ext>
            </a:extLst>
          </p:cNvPr>
          <p:cNvCxnSpPr>
            <a:cxnSpLocks/>
            <a:stCxn id="634" idx="2"/>
          </p:cNvCxnSpPr>
          <p:nvPr/>
        </p:nvCxnSpPr>
        <p:spPr>
          <a:xfrm flipH="1">
            <a:off x="1392329" y="2634447"/>
            <a:ext cx="6604" cy="1813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직선 화살표 연결선 643">
            <a:extLst>
              <a:ext uri="{FF2B5EF4-FFF2-40B4-BE49-F238E27FC236}">
                <a16:creationId xmlns:a16="http://schemas.microsoft.com/office/drawing/2014/main" id="{45611C6D-63AE-47F6-84D2-EA51704CF00C}"/>
              </a:ext>
            </a:extLst>
          </p:cNvPr>
          <p:cNvCxnSpPr>
            <a:cxnSpLocks/>
            <a:stCxn id="639" idx="3"/>
            <a:endCxn id="637" idx="1"/>
          </p:cNvCxnSpPr>
          <p:nvPr/>
        </p:nvCxnSpPr>
        <p:spPr>
          <a:xfrm>
            <a:off x="1689320" y="2875933"/>
            <a:ext cx="277921" cy="1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연결선: 꺾임 644">
            <a:extLst>
              <a:ext uri="{FF2B5EF4-FFF2-40B4-BE49-F238E27FC236}">
                <a16:creationId xmlns:a16="http://schemas.microsoft.com/office/drawing/2014/main" id="{837C4725-F36B-4E6C-AF13-99E6077B85E5}"/>
              </a:ext>
            </a:extLst>
          </p:cNvPr>
          <p:cNvCxnSpPr>
            <a:cxnSpLocks/>
            <a:stCxn id="634" idx="3"/>
            <a:endCxn id="641" idx="1"/>
          </p:cNvCxnSpPr>
          <p:nvPr/>
        </p:nvCxnSpPr>
        <p:spPr>
          <a:xfrm>
            <a:off x="1672068" y="2567599"/>
            <a:ext cx="284676" cy="25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6" name="그룹 645">
            <a:extLst>
              <a:ext uri="{FF2B5EF4-FFF2-40B4-BE49-F238E27FC236}">
                <a16:creationId xmlns:a16="http://schemas.microsoft.com/office/drawing/2014/main" id="{D7970EC8-7B80-43C9-B6F0-4A6336F308CB}"/>
              </a:ext>
            </a:extLst>
          </p:cNvPr>
          <p:cNvGrpSpPr/>
          <p:nvPr/>
        </p:nvGrpSpPr>
        <p:grpSpPr>
          <a:xfrm>
            <a:off x="2393072" y="2248573"/>
            <a:ext cx="131476" cy="143168"/>
            <a:chOff x="5213886" y="1690790"/>
            <a:chExt cx="205187" cy="198343"/>
          </a:xfrm>
        </p:grpSpPr>
        <p:sp>
          <p:nvSpPr>
            <p:cNvPr id="647" name="Oval 159">
              <a:extLst>
                <a:ext uri="{FF2B5EF4-FFF2-40B4-BE49-F238E27FC236}">
                  <a16:creationId xmlns:a16="http://schemas.microsoft.com/office/drawing/2014/main" id="{5ED08D47-085D-406B-B9C4-17B83A966DE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13886" y="1690790"/>
              <a:ext cx="205187" cy="19834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 sz="700">
                <a:latin typeface="다키 L" pitchFamily="2" charset="-127"/>
                <a:ea typeface="다키 L" pitchFamily="2" charset="-127"/>
              </a:endParaRPr>
            </a:p>
          </p:txBody>
        </p:sp>
        <p:pic>
          <p:nvPicPr>
            <p:cNvPr id="648" name="그림 647">
              <a:extLst>
                <a:ext uri="{FF2B5EF4-FFF2-40B4-BE49-F238E27FC236}">
                  <a16:creationId xmlns:a16="http://schemas.microsoft.com/office/drawing/2014/main" id="{2FBD0CF8-47B7-436C-BBDF-DE63F85D0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444" y="1720188"/>
              <a:ext cx="141019" cy="141019"/>
            </a:xfrm>
            <a:prstGeom prst="rect">
              <a:avLst/>
            </a:prstGeom>
          </p:spPr>
        </p:pic>
      </p:grpSp>
      <p:sp>
        <p:nvSpPr>
          <p:cNvPr id="649" name="사각형: 둥근 모서리 648">
            <a:extLst>
              <a:ext uri="{FF2B5EF4-FFF2-40B4-BE49-F238E27FC236}">
                <a16:creationId xmlns:a16="http://schemas.microsoft.com/office/drawing/2014/main" id="{5EA15BEF-90E0-42A3-9E39-A4A57E52DE73}"/>
              </a:ext>
            </a:extLst>
          </p:cNvPr>
          <p:cNvSpPr/>
          <p:nvPr/>
        </p:nvSpPr>
        <p:spPr>
          <a:xfrm>
            <a:off x="8505041" y="2308696"/>
            <a:ext cx="1239841" cy="14909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50" name="직사각형 649">
            <a:extLst>
              <a:ext uri="{FF2B5EF4-FFF2-40B4-BE49-F238E27FC236}">
                <a16:creationId xmlns:a16="http://schemas.microsoft.com/office/drawing/2014/main" id="{9E92A1FC-B468-49CE-A36E-8F365E40DAA8}"/>
              </a:ext>
            </a:extLst>
          </p:cNvPr>
          <p:cNvSpPr/>
          <p:nvPr/>
        </p:nvSpPr>
        <p:spPr>
          <a:xfrm>
            <a:off x="8556352" y="2386126"/>
            <a:ext cx="1102638" cy="149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latin typeface="다키 B" pitchFamily="2" charset="-127"/>
                <a:ea typeface="다키 B" pitchFamily="2" charset="-127"/>
              </a:rPr>
              <a:t>시스템 및 관계기관연계</a:t>
            </a:r>
          </a:p>
        </p:txBody>
      </p:sp>
      <p:sp>
        <p:nvSpPr>
          <p:cNvPr id="651" name="십자형 650">
            <a:extLst>
              <a:ext uri="{FF2B5EF4-FFF2-40B4-BE49-F238E27FC236}">
                <a16:creationId xmlns:a16="http://schemas.microsoft.com/office/drawing/2014/main" id="{65707B52-FE64-4594-95CF-FDB0227EC21F}"/>
              </a:ext>
            </a:extLst>
          </p:cNvPr>
          <p:cNvSpPr/>
          <p:nvPr/>
        </p:nvSpPr>
        <p:spPr>
          <a:xfrm>
            <a:off x="8667382" y="3006580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ESB/SOAP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52" name="십자형 651">
            <a:extLst>
              <a:ext uri="{FF2B5EF4-FFF2-40B4-BE49-F238E27FC236}">
                <a16:creationId xmlns:a16="http://schemas.microsoft.com/office/drawing/2014/main" id="{834290BB-3DDD-4B18-BD55-7F787C614DE7}"/>
              </a:ext>
            </a:extLst>
          </p:cNvPr>
          <p:cNvSpPr/>
          <p:nvPr/>
        </p:nvSpPr>
        <p:spPr>
          <a:xfrm>
            <a:off x="8652159" y="2617048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Rest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endParaRPr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(Open </a:t>
            </a:r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Api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)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53" name="십자형 652">
            <a:extLst>
              <a:ext uri="{FF2B5EF4-FFF2-40B4-BE49-F238E27FC236}">
                <a16:creationId xmlns:a16="http://schemas.microsoft.com/office/drawing/2014/main" id="{3F0FD596-3228-4BA4-AA7D-E8AF5BE84BCB}"/>
              </a:ext>
            </a:extLst>
          </p:cNvPr>
          <p:cNvSpPr/>
          <p:nvPr/>
        </p:nvSpPr>
        <p:spPr>
          <a:xfrm>
            <a:off x="8665668" y="3381830"/>
            <a:ext cx="963226" cy="298134"/>
          </a:xfrm>
          <a:prstGeom prst="plus">
            <a:avLst/>
          </a:prstGeom>
          <a:solidFill>
            <a:srgbClr val="AAB8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Screen Scraping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654" name="연결선: 꺾임 653">
            <a:extLst>
              <a:ext uri="{FF2B5EF4-FFF2-40B4-BE49-F238E27FC236}">
                <a16:creationId xmlns:a16="http://schemas.microsoft.com/office/drawing/2014/main" id="{2B860999-C1A7-44F8-A701-78062D89AEB1}"/>
              </a:ext>
            </a:extLst>
          </p:cNvPr>
          <p:cNvCxnSpPr>
            <a:cxnSpLocks/>
            <a:stCxn id="403" idx="2"/>
            <a:endCxn id="649" idx="0"/>
          </p:cNvCxnSpPr>
          <p:nvPr/>
        </p:nvCxnSpPr>
        <p:spPr>
          <a:xfrm rot="16200000" flipH="1">
            <a:off x="8995933" y="2179667"/>
            <a:ext cx="257078" cy="979"/>
          </a:xfrm>
          <a:prstGeom prst="bentConnector3">
            <a:avLst/>
          </a:prstGeom>
          <a:ln w="28575">
            <a:solidFill>
              <a:srgbClr val="2038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연결선: 꺾임 654">
            <a:extLst>
              <a:ext uri="{FF2B5EF4-FFF2-40B4-BE49-F238E27FC236}">
                <a16:creationId xmlns:a16="http://schemas.microsoft.com/office/drawing/2014/main" id="{B8558407-9148-4007-84E0-0C101579A29A}"/>
              </a:ext>
            </a:extLst>
          </p:cNvPr>
          <p:cNvCxnSpPr>
            <a:cxnSpLocks/>
            <a:stCxn id="649" idx="2"/>
            <a:endCxn id="404" idx="0"/>
          </p:cNvCxnSpPr>
          <p:nvPr/>
        </p:nvCxnSpPr>
        <p:spPr>
          <a:xfrm rot="16200000" flipH="1">
            <a:off x="8985539" y="3939034"/>
            <a:ext cx="279855" cy="1009"/>
          </a:xfrm>
          <a:prstGeom prst="bentConnector3">
            <a:avLst/>
          </a:prstGeom>
          <a:ln w="28575">
            <a:solidFill>
              <a:srgbClr val="2038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AutoShape 48">
            <a:extLst>
              <a:ext uri="{FF2B5EF4-FFF2-40B4-BE49-F238E27FC236}">
                <a16:creationId xmlns:a16="http://schemas.microsoft.com/office/drawing/2014/main" id="{2E1304BF-76FB-4D37-A26F-3D868A793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803" y="5497513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ko-KR" sz="1000" dirty="0">
                <a:solidFill>
                  <a:srgbClr val="000000"/>
                </a:solidFill>
                <a:latin typeface="다키 L" pitchFamily="2" charset="-127"/>
                <a:ea typeface="다키 L" pitchFamily="2" charset="-127"/>
              </a:rPr>
              <a:t>EFK Stack(</a:t>
            </a:r>
            <a:r>
              <a:rPr kumimoji="1" lang="en-US" altLang="ko-KR" sz="1000" dirty="0" err="1">
                <a:solidFill>
                  <a:srgbClr val="000000"/>
                </a:solidFill>
                <a:latin typeface="다키 L" pitchFamily="2" charset="-127"/>
                <a:ea typeface="다키 L" pitchFamily="2" charset="-127"/>
              </a:rPr>
              <a:t>Fluentd</a:t>
            </a:r>
            <a:r>
              <a:rPr kumimoji="1" lang="en-US" altLang="ko-KR" sz="1000" dirty="0">
                <a:solidFill>
                  <a:srgbClr val="000000"/>
                </a:solidFill>
                <a:latin typeface="다키 L" pitchFamily="2" charset="-127"/>
                <a:ea typeface="다키 L" pitchFamily="2" charset="-127"/>
              </a:rPr>
              <a:t>)</a:t>
            </a:r>
          </a:p>
        </p:txBody>
      </p:sp>
      <p:sp>
        <p:nvSpPr>
          <p:cNvPr id="657" name="AutoShape 48">
            <a:extLst>
              <a:ext uri="{FF2B5EF4-FFF2-40B4-BE49-F238E27FC236}">
                <a16:creationId xmlns:a16="http://schemas.microsoft.com/office/drawing/2014/main" id="{7567E27B-E711-4730-83D1-A60F47507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139" y="5952074"/>
            <a:ext cx="1146188" cy="273732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00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몽고</a:t>
            </a:r>
            <a:r>
              <a:rPr lang="en-US" altLang="ko-KR" sz="1000">
                <a:solidFill>
                  <a:schemeClr val="tx2"/>
                </a:solidFill>
                <a:latin typeface="다키 M" pitchFamily="2" charset="-127"/>
                <a:ea typeface="다키 M" pitchFamily="2" charset="-127"/>
              </a:rPr>
              <a:t>DB</a:t>
            </a:r>
            <a:endParaRPr lang="en-US" altLang="ko-KR" sz="1000" dirty="0">
              <a:solidFill>
                <a:schemeClr val="tx2"/>
              </a:solidFill>
              <a:latin typeface="다키 M" pitchFamily="2" charset="-127"/>
              <a:ea typeface="다키 M" pitchFamily="2" charset="-127"/>
            </a:endParaRPr>
          </a:p>
        </p:txBody>
      </p:sp>
      <p:pic>
        <p:nvPicPr>
          <p:cNvPr id="658" name="그림 657">
            <a:extLst>
              <a:ext uri="{FF2B5EF4-FFF2-40B4-BE49-F238E27FC236}">
                <a16:creationId xmlns:a16="http://schemas.microsoft.com/office/drawing/2014/main" id="{EE33DD41-3C6C-46D9-A37D-D9895FEE98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595" y="6178630"/>
            <a:ext cx="222600" cy="222600"/>
          </a:xfrm>
          <a:prstGeom prst="rect">
            <a:avLst/>
          </a:prstGeom>
        </p:spPr>
      </p:pic>
      <p:pic>
        <p:nvPicPr>
          <p:cNvPr id="659" name="그림 658">
            <a:extLst>
              <a:ext uri="{FF2B5EF4-FFF2-40B4-BE49-F238E27FC236}">
                <a16:creationId xmlns:a16="http://schemas.microsoft.com/office/drawing/2014/main" id="{E29485FA-248A-4A28-9F74-4B55F26493B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26" y="6207095"/>
            <a:ext cx="144299" cy="144299"/>
          </a:xfrm>
          <a:prstGeom prst="rect">
            <a:avLst/>
          </a:prstGeom>
        </p:spPr>
      </p:pic>
      <p:sp>
        <p:nvSpPr>
          <p:cNvPr id="660" name="직사각형 659">
            <a:extLst>
              <a:ext uri="{FF2B5EF4-FFF2-40B4-BE49-F238E27FC236}">
                <a16:creationId xmlns:a16="http://schemas.microsoft.com/office/drawing/2014/main" id="{DCB1EFD1-CBA1-4511-ABB5-C60C2EC7B265}"/>
              </a:ext>
            </a:extLst>
          </p:cNvPr>
          <p:cNvSpPr/>
          <p:nvPr/>
        </p:nvSpPr>
        <p:spPr>
          <a:xfrm>
            <a:off x="8215481" y="6174504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Spring Boot</a:t>
            </a:r>
          </a:p>
        </p:txBody>
      </p:sp>
      <p:sp>
        <p:nvSpPr>
          <p:cNvPr id="661" name="직사각형 660">
            <a:extLst>
              <a:ext uri="{FF2B5EF4-FFF2-40B4-BE49-F238E27FC236}">
                <a16:creationId xmlns:a16="http://schemas.microsoft.com/office/drawing/2014/main" id="{11FBE736-19D7-4561-B9FF-029476AE78DC}"/>
              </a:ext>
            </a:extLst>
          </p:cNvPr>
          <p:cNvSpPr/>
          <p:nvPr/>
        </p:nvSpPr>
        <p:spPr>
          <a:xfrm>
            <a:off x="9076284" y="6174561"/>
            <a:ext cx="6712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err="1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UnderTow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62" name="Text Box 236">
            <a:extLst>
              <a:ext uri="{FF2B5EF4-FFF2-40B4-BE49-F238E27FC236}">
                <a16:creationId xmlns:a16="http://schemas.microsoft.com/office/drawing/2014/main" id="{0DE95C60-30DE-4B0B-8BE2-921D2A407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5056" y="5437349"/>
            <a:ext cx="392996" cy="1046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628650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6286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ko-KR" altLang="en-US" sz="800" b="1" dirty="0">
                <a:latin typeface="다키 B" pitchFamily="2" charset="-127"/>
                <a:ea typeface="다키 B" pitchFamily="2" charset="-127"/>
              </a:rPr>
              <a:t>범례</a:t>
            </a:r>
          </a:p>
        </p:txBody>
      </p:sp>
      <p:sp>
        <p:nvSpPr>
          <p:cNvPr id="663" name="사각형: 둥근 모서리 662">
            <a:extLst>
              <a:ext uri="{FF2B5EF4-FFF2-40B4-BE49-F238E27FC236}">
                <a16:creationId xmlns:a16="http://schemas.microsoft.com/office/drawing/2014/main" id="{BA1BCF1A-AB7C-440B-953E-C944F5060389}"/>
              </a:ext>
            </a:extLst>
          </p:cNvPr>
          <p:cNvSpPr/>
          <p:nvPr/>
        </p:nvSpPr>
        <p:spPr>
          <a:xfrm>
            <a:off x="2901908" y="3436316"/>
            <a:ext cx="1100287" cy="550659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664" name="그림 663">
            <a:extLst>
              <a:ext uri="{FF2B5EF4-FFF2-40B4-BE49-F238E27FC236}">
                <a16:creationId xmlns:a16="http://schemas.microsoft.com/office/drawing/2014/main" id="{61A29106-A707-4291-99B8-087BEF7FD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193" y="3433999"/>
            <a:ext cx="355086" cy="198081"/>
          </a:xfrm>
          <a:prstGeom prst="rect">
            <a:avLst/>
          </a:prstGeom>
        </p:spPr>
      </p:pic>
      <p:sp>
        <p:nvSpPr>
          <p:cNvPr id="665" name="직사각형 664">
            <a:extLst>
              <a:ext uri="{FF2B5EF4-FFF2-40B4-BE49-F238E27FC236}">
                <a16:creationId xmlns:a16="http://schemas.microsoft.com/office/drawing/2014/main" id="{6FEEF747-BD86-4120-8F20-1E6DFCE02D0D}"/>
              </a:ext>
            </a:extLst>
          </p:cNvPr>
          <p:cNvSpPr/>
          <p:nvPr/>
        </p:nvSpPr>
        <p:spPr>
          <a:xfrm>
            <a:off x="3125945" y="3420314"/>
            <a:ext cx="8442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666" name="사각형: 둥근 모서리 665">
            <a:extLst>
              <a:ext uri="{FF2B5EF4-FFF2-40B4-BE49-F238E27FC236}">
                <a16:creationId xmlns:a16="http://schemas.microsoft.com/office/drawing/2014/main" id="{AF53DDF2-44F4-4F3D-B394-B681F19AA435}"/>
              </a:ext>
            </a:extLst>
          </p:cNvPr>
          <p:cNvSpPr/>
          <p:nvPr/>
        </p:nvSpPr>
        <p:spPr>
          <a:xfrm>
            <a:off x="2956486" y="3626019"/>
            <a:ext cx="996997" cy="29362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668" name="그림 667">
            <a:extLst>
              <a:ext uri="{FF2B5EF4-FFF2-40B4-BE49-F238E27FC236}">
                <a16:creationId xmlns:a16="http://schemas.microsoft.com/office/drawing/2014/main" id="{3065E0BE-ACE6-420F-8847-B431B1818BA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528" y="2638548"/>
            <a:ext cx="491123" cy="100457"/>
          </a:xfrm>
          <a:prstGeom prst="rect">
            <a:avLst/>
          </a:prstGeom>
        </p:spPr>
      </p:pic>
      <p:sp>
        <p:nvSpPr>
          <p:cNvPr id="265" name="사각형: 둥근 모서리 264">
            <a:extLst>
              <a:ext uri="{FF2B5EF4-FFF2-40B4-BE49-F238E27FC236}">
                <a16:creationId xmlns:a16="http://schemas.microsoft.com/office/drawing/2014/main" id="{8774B09A-82ED-4CE0-94D4-AB6320AF219E}"/>
              </a:ext>
            </a:extLst>
          </p:cNvPr>
          <p:cNvSpPr/>
          <p:nvPr/>
        </p:nvSpPr>
        <p:spPr>
          <a:xfrm>
            <a:off x="2998624" y="3654111"/>
            <a:ext cx="920894" cy="217808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Redis Server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955E8A9-B9C1-4073-BB31-97CD1A72CCA1}"/>
              </a:ext>
            </a:extLst>
          </p:cNvPr>
          <p:cNvCxnSpPr>
            <a:cxnSpLocks/>
            <a:stCxn id="656" idx="2"/>
            <a:endCxn id="657" idx="0"/>
          </p:cNvCxnSpPr>
          <p:nvPr/>
        </p:nvCxnSpPr>
        <p:spPr>
          <a:xfrm rot="5400000">
            <a:off x="6910651" y="5859827"/>
            <a:ext cx="180829" cy="36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58328B80-BE17-4B15-8F73-2D75BB88A850}"/>
              </a:ext>
            </a:extLst>
          </p:cNvPr>
          <p:cNvSpPr/>
          <p:nvPr/>
        </p:nvSpPr>
        <p:spPr>
          <a:xfrm>
            <a:off x="6330720" y="5401067"/>
            <a:ext cx="1339985" cy="905489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ysDash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2482C8"/>
              </a:solidFill>
              <a:effectLst/>
              <a:uLnTx/>
              <a:uFillTx/>
              <a:latin typeface="다키 B" pitchFamily="2" charset="-127"/>
              <a:ea typeface="다키 B" pitchFamily="2" charset="-127"/>
              <a:cs typeface="+mn-cs"/>
            </a:endParaRPr>
          </a:p>
        </p:txBody>
      </p:sp>
      <p:sp>
        <p:nvSpPr>
          <p:cNvPr id="287" name="사각형: 둥근 모서리 286">
            <a:extLst>
              <a:ext uri="{FF2B5EF4-FFF2-40B4-BE49-F238E27FC236}">
                <a16:creationId xmlns:a16="http://schemas.microsoft.com/office/drawing/2014/main" id="{F7C2A2A5-B9E1-4686-9C5D-E8580F2F3DBB}"/>
              </a:ext>
            </a:extLst>
          </p:cNvPr>
          <p:cNvSpPr/>
          <p:nvPr/>
        </p:nvSpPr>
        <p:spPr>
          <a:xfrm>
            <a:off x="6416762" y="2176701"/>
            <a:ext cx="1460994" cy="24665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Spring Boot (Under Tow)</a:t>
            </a:r>
          </a:p>
        </p:txBody>
      </p:sp>
      <p:sp>
        <p:nvSpPr>
          <p:cNvPr id="288" name="AutoShape 5209">
            <a:extLst>
              <a:ext uri="{FF2B5EF4-FFF2-40B4-BE49-F238E27FC236}">
                <a16:creationId xmlns:a16="http://schemas.microsoft.com/office/drawing/2014/main" id="{1BFEB038-4180-4ED5-8E8F-73C356C5C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415" y="1363186"/>
            <a:ext cx="1441118" cy="776132"/>
          </a:xfrm>
          <a:prstGeom prst="roundRect">
            <a:avLst>
              <a:gd name="adj" fmla="val 2097"/>
            </a:avLst>
          </a:prstGeom>
          <a:gradFill rotWithShape="0">
            <a:gsLst>
              <a:gs pos="0">
                <a:srgbClr val="FFFFFF"/>
              </a:gs>
              <a:gs pos="100000">
                <a:srgbClr val="DBF3F9"/>
              </a:gs>
            </a:gsLst>
            <a:lin ang="2700000" scaled="1"/>
          </a:gradFill>
          <a:ln w="9525">
            <a:solidFill>
              <a:srgbClr val="1E92D2"/>
            </a:solidFill>
            <a:round/>
            <a:headEnd/>
            <a:tailEnd/>
          </a:ln>
        </p:spPr>
        <p:txBody>
          <a:bodyPr lIns="91428" tIns="45714" rIns="91428" bIns="45714" anchor="ctr"/>
          <a:lstStyle>
            <a:lvl1pPr marL="80963" indent="-80963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l" latinLnBrk="0">
              <a:buFontTx/>
              <a:buChar char="-"/>
            </a:pPr>
            <a:endParaRPr lang="ko-KR" altLang="ko-KR" sz="7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9" name="Rectangle 50">
            <a:extLst>
              <a:ext uri="{FF2B5EF4-FFF2-40B4-BE49-F238E27FC236}">
                <a16:creationId xmlns:a16="http://schemas.microsoft.com/office/drawing/2014/main" id="{C21A5B3E-4120-4A55-9B42-87B553161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662" y="1970561"/>
            <a:ext cx="1374624" cy="147571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Spring Cloud/FW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90" name="사각형: 둥근 모서리 289">
            <a:extLst>
              <a:ext uri="{FF2B5EF4-FFF2-40B4-BE49-F238E27FC236}">
                <a16:creationId xmlns:a16="http://schemas.microsoft.com/office/drawing/2014/main" id="{84209784-CBE0-4610-949C-A5B251EF256E}"/>
              </a:ext>
            </a:extLst>
          </p:cNvPr>
          <p:cNvSpPr/>
          <p:nvPr/>
        </p:nvSpPr>
        <p:spPr>
          <a:xfrm>
            <a:off x="6439361" y="1399115"/>
            <a:ext cx="768326" cy="170730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controller</a:t>
            </a:r>
          </a:p>
        </p:txBody>
      </p:sp>
      <p:sp>
        <p:nvSpPr>
          <p:cNvPr id="291" name="사각형: 둥근 모서리 290">
            <a:extLst>
              <a:ext uri="{FF2B5EF4-FFF2-40B4-BE49-F238E27FC236}">
                <a16:creationId xmlns:a16="http://schemas.microsoft.com/office/drawing/2014/main" id="{8D9F6FB3-B0BC-4956-B338-CE0D31A14011}"/>
              </a:ext>
            </a:extLst>
          </p:cNvPr>
          <p:cNvSpPr/>
          <p:nvPr/>
        </p:nvSpPr>
        <p:spPr>
          <a:xfrm>
            <a:off x="6441587" y="1595126"/>
            <a:ext cx="768326" cy="154683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 err="1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sevice</a:t>
            </a:r>
            <a:endParaRPr lang="en-US" altLang="ko-KR" sz="8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536E5F5B-9685-41CA-A022-9220D7655351}"/>
              </a:ext>
            </a:extLst>
          </p:cNvPr>
          <p:cNvSpPr/>
          <p:nvPr/>
        </p:nvSpPr>
        <p:spPr>
          <a:xfrm>
            <a:off x="6439361" y="1774111"/>
            <a:ext cx="768326" cy="162836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repository</a:t>
            </a: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77AACCE9-0EE7-4D7E-BBE9-2797F5ECCF23}"/>
              </a:ext>
            </a:extLst>
          </p:cNvPr>
          <p:cNvSpPr/>
          <p:nvPr/>
        </p:nvSpPr>
        <p:spPr>
          <a:xfrm>
            <a:off x="6392948" y="3980688"/>
            <a:ext cx="1460994" cy="246657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Spring Boot (Under Tow)</a:t>
            </a:r>
          </a:p>
        </p:txBody>
      </p:sp>
      <p:sp>
        <p:nvSpPr>
          <p:cNvPr id="294" name="AutoShape 5209">
            <a:extLst>
              <a:ext uri="{FF2B5EF4-FFF2-40B4-BE49-F238E27FC236}">
                <a16:creationId xmlns:a16="http://schemas.microsoft.com/office/drawing/2014/main" id="{8D36518A-1405-4C85-A062-DE54DD6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601" y="3167173"/>
            <a:ext cx="1441118" cy="776132"/>
          </a:xfrm>
          <a:prstGeom prst="roundRect">
            <a:avLst>
              <a:gd name="adj" fmla="val 2097"/>
            </a:avLst>
          </a:prstGeom>
          <a:gradFill rotWithShape="0">
            <a:gsLst>
              <a:gs pos="0">
                <a:srgbClr val="FFFFFF"/>
              </a:gs>
              <a:gs pos="100000">
                <a:srgbClr val="DBF3F9"/>
              </a:gs>
            </a:gsLst>
            <a:lin ang="2700000" scaled="1"/>
          </a:gradFill>
          <a:ln w="9525">
            <a:solidFill>
              <a:srgbClr val="1E92D2"/>
            </a:solidFill>
            <a:round/>
            <a:headEnd/>
            <a:tailEnd/>
          </a:ln>
        </p:spPr>
        <p:txBody>
          <a:bodyPr lIns="91428" tIns="45714" rIns="91428" bIns="45714" anchor="ctr"/>
          <a:lstStyle>
            <a:lvl1pPr marL="80963" indent="-80963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l" latinLnBrk="0">
              <a:buFontTx/>
              <a:buChar char="-"/>
            </a:pPr>
            <a:endParaRPr lang="ko-KR" altLang="ko-KR" sz="7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5" name="Rectangle 50">
            <a:extLst>
              <a:ext uri="{FF2B5EF4-FFF2-40B4-BE49-F238E27FC236}">
                <a16:creationId xmlns:a16="http://schemas.microsoft.com/office/drawing/2014/main" id="{25D89D58-63F6-43BA-A540-B20848012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848" y="3774548"/>
            <a:ext cx="1374624" cy="147571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Spring Cloud/FW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96" name="사각형: 둥근 모서리 295">
            <a:extLst>
              <a:ext uri="{FF2B5EF4-FFF2-40B4-BE49-F238E27FC236}">
                <a16:creationId xmlns:a16="http://schemas.microsoft.com/office/drawing/2014/main" id="{0A35FD7C-43E1-4C87-85AD-C8786D6D5BAB}"/>
              </a:ext>
            </a:extLst>
          </p:cNvPr>
          <p:cNvSpPr/>
          <p:nvPr/>
        </p:nvSpPr>
        <p:spPr>
          <a:xfrm>
            <a:off x="6432848" y="3201962"/>
            <a:ext cx="732504" cy="183386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controller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5F47BDEA-BDB3-49E7-B2DA-E80426F2BFC7}"/>
              </a:ext>
            </a:extLst>
          </p:cNvPr>
          <p:cNvSpPr/>
          <p:nvPr/>
        </p:nvSpPr>
        <p:spPr>
          <a:xfrm>
            <a:off x="6435074" y="3406599"/>
            <a:ext cx="730278" cy="160056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 err="1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sevice</a:t>
            </a:r>
            <a:endParaRPr lang="en-US" altLang="ko-KR" sz="800" b="1" dirty="0">
              <a:solidFill>
                <a:prstClr val="white"/>
              </a:solidFill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64C36278-EF37-419F-BD5B-CEBA9EB5DC23}"/>
              </a:ext>
            </a:extLst>
          </p:cNvPr>
          <p:cNvSpPr/>
          <p:nvPr/>
        </p:nvSpPr>
        <p:spPr>
          <a:xfrm>
            <a:off x="6432848" y="3594210"/>
            <a:ext cx="730278" cy="156703"/>
          </a:xfrm>
          <a:prstGeom prst="roundRect">
            <a:avLst>
              <a:gd name="adj" fmla="val 16175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8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repository</a:t>
            </a:r>
          </a:p>
        </p:txBody>
      </p:sp>
      <p:sp>
        <p:nvSpPr>
          <p:cNvPr id="299" name="Rectangle 41">
            <a:extLst>
              <a:ext uri="{FF2B5EF4-FFF2-40B4-BE49-F238E27FC236}">
                <a16:creationId xmlns:a16="http://schemas.microsoft.com/office/drawing/2014/main" id="{17EFD992-1B1B-4F30-B2A8-0238A6781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631" y="1398758"/>
            <a:ext cx="619813" cy="22870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Circuit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Breaker</a:t>
            </a:r>
          </a:p>
        </p:txBody>
      </p:sp>
      <p:sp>
        <p:nvSpPr>
          <p:cNvPr id="300" name="AutoShape 93">
            <a:extLst>
              <a:ext uri="{FF2B5EF4-FFF2-40B4-BE49-F238E27FC236}">
                <a16:creationId xmlns:a16="http://schemas.microsoft.com/office/drawing/2014/main" id="{3E4D2D7E-CF7D-415C-A4C1-6B7D54ED0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610" y="1359645"/>
            <a:ext cx="104099" cy="7761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rIns="0" anchor="ctr"/>
          <a:lstStyle/>
          <a:p>
            <a:pPr algn="ctr" latinLnBrk="0">
              <a:lnSpc>
                <a:spcPct val="110000"/>
              </a:lnSpc>
              <a:buClr>
                <a:srgbClr val="7685A2"/>
              </a:buClr>
              <a:buFont typeface="Wingdings" panose="05000000000000000000" pitchFamily="2" charset="2"/>
              <a:buNone/>
            </a:pPr>
            <a:r>
              <a:rPr lang="en-US" altLang="ko-KR" sz="700" dirty="0">
                <a:solidFill>
                  <a:srgbClr val="4D4D4D"/>
                </a:solidFill>
                <a:latin typeface="다키 M" pitchFamily="2" charset="-127"/>
                <a:ea typeface="다키 M" pitchFamily="2" charset="-127"/>
              </a:rPr>
              <a:t>Load Balancing </a:t>
            </a:r>
          </a:p>
        </p:txBody>
      </p:sp>
      <p:sp>
        <p:nvSpPr>
          <p:cNvPr id="301" name="Rectangle 41">
            <a:extLst>
              <a:ext uri="{FF2B5EF4-FFF2-40B4-BE49-F238E27FC236}">
                <a16:creationId xmlns:a16="http://schemas.microsoft.com/office/drawing/2014/main" id="{2C34A204-F4B1-41C6-8DC2-735493720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948" y="1647429"/>
            <a:ext cx="623418" cy="133352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Rabbit MQ</a:t>
            </a:r>
          </a:p>
        </p:txBody>
      </p:sp>
      <p:sp>
        <p:nvSpPr>
          <p:cNvPr id="302" name="Rectangle 41">
            <a:extLst>
              <a:ext uri="{FF2B5EF4-FFF2-40B4-BE49-F238E27FC236}">
                <a16:creationId xmlns:a16="http://schemas.microsoft.com/office/drawing/2014/main" id="{FB475F29-EE31-4453-A322-639DCA811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632" y="1796449"/>
            <a:ext cx="616733" cy="13886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Sleuth</a:t>
            </a:r>
          </a:p>
        </p:txBody>
      </p:sp>
      <p:sp>
        <p:nvSpPr>
          <p:cNvPr id="306" name="Rectangle 41">
            <a:extLst>
              <a:ext uri="{FF2B5EF4-FFF2-40B4-BE49-F238E27FC236}">
                <a16:creationId xmlns:a16="http://schemas.microsoft.com/office/drawing/2014/main" id="{64A13981-F4E4-445C-9FD8-A54BE16D1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470" y="3202460"/>
            <a:ext cx="619813" cy="22870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Circuit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Breaker</a:t>
            </a:r>
          </a:p>
        </p:txBody>
      </p:sp>
      <p:sp>
        <p:nvSpPr>
          <p:cNvPr id="307" name="Rectangle 41">
            <a:extLst>
              <a:ext uri="{FF2B5EF4-FFF2-40B4-BE49-F238E27FC236}">
                <a16:creationId xmlns:a16="http://schemas.microsoft.com/office/drawing/2014/main" id="{0E46E85B-80A5-476A-89D1-FD3F6015D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13" y="3447403"/>
            <a:ext cx="623418" cy="14679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Rabbit MQ</a:t>
            </a:r>
          </a:p>
        </p:txBody>
      </p:sp>
      <p:sp>
        <p:nvSpPr>
          <p:cNvPr id="308" name="Rectangle 41">
            <a:extLst>
              <a:ext uri="{FF2B5EF4-FFF2-40B4-BE49-F238E27FC236}">
                <a16:creationId xmlns:a16="http://schemas.microsoft.com/office/drawing/2014/main" id="{232212AD-BB25-4ED2-AC50-C23638CAB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471" y="3608778"/>
            <a:ext cx="619812" cy="133008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Sleuth</a:t>
            </a:r>
          </a:p>
        </p:txBody>
      </p:sp>
      <p:pic>
        <p:nvPicPr>
          <p:cNvPr id="2052" name="Picture 4" descr="Shared folder, file system, network folder, network storage, storage software icon">
            <a:extLst>
              <a:ext uri="{FF2B5EF4-FFF2-40B4-BE49-F238E27FC236}">
                <a16:creationId xmlns:a16="http://schemas.microsoft.com/office/drawing/2014/main" id="{1360636C-A1E7-4D41-93F1-D43D4B4FC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252" y="5815879"/>
            <a:ext cx="403860" cy="35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사각형: 둥근 대각선 방향 모서리 309">
            <a:extLst>
              <a:ext uri="{FF2B5EF4-FFF2-40B4-BE49-F238E27FC236}">
                <a16:creationId xmlns:a16="http://schemas.microsoft.com/office/drawing/2014/main" id="{A0DE3CA4-561D-48D2-B815-43FBCA9E1914}"/>
              </a:ext>
            </a:extLst>
          </p:cNvPr>
          <p:cNvSpPr/>
          <p:nvPr/>
        </p:nvSpPr>
        <p:spPr>
          <a:xfrm>
            <a:off x="5364990" y="5980231"/>
            <a:ext cx="970067" cy="322914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ko-KR" dirty="0">
                <a:solidFill>
                  <a:srgbClr val="44546A"/>
                </a:solidFill>
                <a:latin typeface="다키 M" pitchFamily="2" charset="-127"/>
                <a:ea typeface="다키 M" pitchFamily="2" charset="-127"/>
              </a:rPr>
              <a:t>Kibana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670C23-4FC5-4F5B-9252-2381471EA191}"/>
              </a:ext>
            </a:extLst>
          </p:cNvPr>
          <p:cNvSpPr/>
          <p:nvPr/>
        </p:nvSpPr>
        <p:spPr>
          <a:xfrm>
            <a:off x="2473338" y="6155601"/>
            <a:ext cx="886534" cy="2308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Local</a:t>
            </a:r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 </a:t>
            </a:r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Volume</a:t>
            </a:r>
            <a:endParaRPr lang="ko-KR" altLang="en-US" sz="900" b="1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054" name="Picture 6" descr="Harbor">
            <a:extLst>
              <a:ext uri="{FF2B5EF4-FFF2-40B4-BE49-F238E27FC236}">
                <a16:creationId xmlns:a16="http://schemas.microsoft.com/office/drawing/2014/main" id="{5F92F62B-6776-45BC-A8FF-B0BDB2F12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791" y="5851151"/>
            <a:ext cx="869924" cy="2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3" name="사각형: 둥근 모서리 302">
            <a:extLst>
              <a:ext uri="{FF2B5EF4-FFF2-40B4-BE49-F238E27FC236}">
                <a16:creationId xmlns:a16="http://schemas.microsoft.com/office/drawing/2014/main" id="{C2196BD7-3BDC-4638-81BE-EFE54C34AB2B}"/>
              </a:ext>
            </a:extLst>
          </p:cNvPr>
          <p:cNvSpPr/>
          <p:nvPr/>
        </p:nvSpPr>
        <p:spPr>
          <a:xfrm>
            <a:off x="6797486" y="4774103"/>
            <a:ext cx="1011622" cy="25380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600"/>
              </a:spcBef>
            </a:pPr>
            <a:r>
              <a:rPr lang="en-US" altLang="ko-KR" sz="700" b="1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Master 03</a:t>
            </a:r>
          </a:p>
        </p:txBody>
      </p:sp>
      <p:pic>
        <p:nvPicPr>
          <p:cNvPr id="667" name="그림 666">
            <a:extLst>
              <a:ext uri="{FF2B5EF4-FFF2-40B4-BE49-F238E27FC236}">
                <a16:creationId xmlns:a16="http://schemas.microsoft.com/office/drawing/2014/main" id="{C9743D0C-0D68-4908-AB2B-208B009D4A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82" y="3561120"/>
            <a:ext cx="177759" cy="177759"/>
          </a:xfrm>
          <a:prstGeom prst="rect">
            <a:avLst/>
          </a:prstGeom>
        </p:spPr>
      </p:pic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B11F94FA-1BDB-4186-8A59-42E0789D7F5A}"/>
              </a:ext>
            </a:extLst>
          </p:cNvPr>
          <p:cNvSpPr/>
          <p:nvPr/>
        </p:nvSpPr>
        <p:spPr>
          <a:xfrm>
            <a:off x="2907827" y="4615875"/>
            <a:ext cx="1100287" cy="516247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11" name="그림 310">
            <a:extLst>
              <a:ext uri="{FF2B5EF4-FFF2-40B4-BE49-F238E27FC236}">
                <a16:creationId xmlns:a16="http://schemas.microsoft.com/office/drawing/2014/main" id="{62FE37CC-C935-4D5E-A7B7-09BD239E1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12" y="4613558"/>
            <a:ext cx="355086" cy="198081"/>
          </a:xfrm>
          <a:prstGeom prst="rect">
            <a:avLst/>
          </a:prstGeom>
        </p:spPr>
      </p:pic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65A8E5B9-2C40-4829-B3A3-C9B87F2AEB02}"/>
              </a:ext>
            </a:extLst>
          </p:cNvPr>
          <p:cNvSpPr/>
          <p:nvPr/>
        </p:nvSpPr>
        <p:spPr>
          <a:xfrm>
            <a:off x="3131864" y="4599873"/>
            <a:ext cx="8442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313" name="사각형: 둥근 모서리 312">
            <a:extLst>
              <a:ext uri="{FF2B5EF4-FFF2-40B4-BE49-F238E27FC236}">
                <a16:creationId xmlns:a16="http://schemas.microsoft.com/office/drawing/2014/main" id="{CBE07D02-E7DD-4856-8EEB-BE082EB3B8FE}"/>
              </a:ext>
            </a:extLst>
          </p:cNvPr>
          <p:cNvSpPr/>
          <p:nvPr/>
        </p:nvSpPr>
        <p:spPr>
          <a:xfrm>
            <a:off x="2962405" y="4805578"/>
            <a:ext cx="996997" cy="29362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14" name="사각형: 둥근 모서리 313">
            <a:extLst>
              <a:ext uri="{FF2B5EF4-FFF2-40B4-BE49-F238E27FC236}">
                <a16:creationId xmlns:a16="http://schemas.microsoft.com/office/drawing/2014/main" id="{B7D7F4C8-2BFC-455E-8DF9-94BAAEF687A4}"/>
              </a:ext>
            </a:extLst>
          </p:cNvPr>
          <p:cNvSpPr/>
          <p:nvPr/>
        </p:nvSpPr>
        <p:spPr>
          <a:xfrm>
            <a:off x="3004543" y="4833670"/>
            <a:ext cx="920894" cy="217808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sz="700" dirty="0">
              <a:solidFill>
                <a:schemeClr val="bg1"/>
              </a:solidFill>
              <a:latin typeface="다키 M" pitchFamily="2" charset="-127"/>
              <a:ea typeface="다키 M" pitchFamily="2" charset="-127"/>
            </a:endParaRPr>
          </a:p>
        </p:txBody>
      </p:sp>
      <p:pic>
        <p:nvPicPr>
          <p:cNvPr id="315" name="그림 314">
            <a:extLst>
              <a:ext uri="{FF2B5EF4-FFF2-40B4-BE49-F238E27FC236}">
                <a16:creationId xmlns:a16="http://schemas.microsoft.com/office/drawing/2014/main" id="{7548354C-2F2F-48BC-955F-5C04337025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101" y="4740679"/>
            <a:ext cx="177759" cy="177759"/>
          </a:xfrm>
          <a:prstGeom prst="rect">
            <a:avLst/>
          </a:prstGeom>
        </p:spPr>
      </p:pic>
      <p:pic>
        <p:nvPicPr>
          <p:cNvPr id="304" name="그림 303">
            <a:extLst>
              <a:ext uri="{FF2B5EF4-FFF2-40B4-BE49-F238E27FC236}">
                <a16:creationId xmlns:a16="http://schemas.microsoft.com/office/drawing/2014/main" id="{6BECC85F-EFCE-468C-8F9C-224A979D37A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41" y="4827819"/>
            <a:ext cx="739340" cy="231281"/>
          </a:xfrm>
          <a:prstGeom prst="rect">
            <a:avLst/>
          </a:prstGeom>
        </p:spPr>
      </p:pic>
      <p:cxnSp>
        <p:nvCxnSpPr>
          <p:cNvPr id="316" name="연결선: 꺾임 315">
            <a:extLst>
              <a:ext uri="{FF2B5EF4-FFF2-40B4-BE49-F238E27FC236}">
                <a16:creationId xmlns:a16="http://schemas.microsoft.com/office/drawing/2014/main" id="{74F55D22-A4E0-4C88-8899-6BC3535FCC40}"/>
              </a:ext>
            </a:extLst>
          </p:cNvPr>
          <p:cNvCxnSpPr>
            <a:cxnSpLocks/>
            <a:stCxn id="313" idx="0"/>
            <a:endCxn id="462" idx="2"/>
          </p:cNvCxnSpPr>
          <p:nvPr/>
        </p:nvCxnSpPr>
        <p:spPr>
          <a:xfrm rot="16200000" flipV="1">
            <a:off x="2185578" y="3530252"/>
            <a:ext cx="2547676" cy="297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연결선: 꺾임 614">
            <a:extLst>
              <a:ext uri="{FF2B5EF4-FFF2-40B4-BE49-F238E27FC236}">
                <a16:creationId xmlns:a16="http://schemas.microsoft.com/office/drawing/2014/main" id="{9A72DF51-888F-4D06-A220-172C1955E508}"/>
              </a:ext>
            </a:extLst>
          </p:cNvPr>
          <p:cNvCxnSpPr>
            <a:stCxn id="611" idx="3"/>
            <a:endCxn id="458" idx="1"/>
          </p:cNvCxnSpPr>
          <p:nvPr/>
        </p:nvCxnSpPr>
        <p:spPr>
          <a:xfrm flipV="1">
            <a:off x="874242" y="1309496"/>
            <a:ext cx="2143784" cy="1818545"/>
          </a:xfrm>
          <a:prstGeom prst="bentConnector3">
            <a:avLst>
              <a:gd name="adj1" fmla="val 89032"/>
            </a:avLst>
          </a:prstGeom>
          <a:ln w="19050">
            <a:solidFill>
              <a:srgbClr val="00963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연결선: 꺾임 522">
            <a:extLst>
              <a:ext uri="{FF2B5EF4-FFF2-40B4-BE49-F238E27FC236}">
                <a16:creationId xmlns:a16="http://schemas.microsoft.com/office/drawing/2014/main" id="{39002344-5089-41F6-898D-91D2BB959155}"/>
              </a:ext>
            </a:extLst>
          </p:cNvPr>
          <p:cNvCxnSpPr>
            <a:cxnSpLocks/>
            <a:stCxn id="487" idx="0"/>
            <a:endCxn id="521" idx="1"/>
          </p:cNvCxnSpPr>
          <p:nvPr/>
        </p:nvCxnSpPr>
        <p:spPr>
          <a:xfrm rot="5400000" flipH="1" flipV="1">
            <a:off x="2123779" y="3101592"/>
            <a:ext cx="914342" cy="853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6" name="그림 405">
            <a:extLst>
              <a:ext uri="{FF2B5EF4-FFF2-40B4-BE49-F238E27FC236}">
                <a16:creationId xmlns:a16="http://schemas.microsoft.com/office/drawing/2014/main" id="{0D9CD039-4E01-47A9-83EE-10E3E51D760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286" y="5477706"/>
            <a:ext cx="416988" cy="41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6FED6-BD1D-4EA0-8EC5-9C42937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3" y="11326"/>
            <a:ext cx="7839641" cy="499721"/>
          </a:xfrm>
        </p:spPr>
        <p:txBody>
          <a:bodyPr/>
          <a:lstStyle/>
          <a:p>
            <a:r>
              <a:rPr lang="ko-KR" altLang="en-US" dirty="0"/>
              <a:t>소프트웨어 아키텍처 구성도 </a:t>
            </a:r>
            <a:r>
              <a:rPr lang="en-US" altLang="ko-KR" dirty="0"/>
              <a:t>– </a:t>
            </a:r>
            <a:r>
              <a:rPr lang="ko-KR" altLang="en-US" dirty="0" err="1"/>
              <a:t>쿠버네티스</a:t>
            </a:r>
            <a:r>
              <a:rPr lang="en-US" altLang="ko-KR" dirty="0"/>
              <a:t>(dev)</a:t>
            </a:r>
            <a:endParaRPr lang="ko-KR" altLang="en-US" dirty="0"/>
          </a:p>
        </p:txBody>
      </p:sp>
      <p:pic>
        <p:nvPicPr>
          <p:cNvPr id="406" name="그림 405">
            <a:extLst>
              <a:ext uri="{FF2B5EF4-FFF2-40B4-BE49-F238E27FC236}">
                <a16:creationId xmlns:a16="http://schemas.microsoft.com/office/drawing/2014/main" id="{0D9CD039-4E01-47A9-83EE-10E3E51D7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02" y="3213220"/>
            <a:ext cx="307102" cy="307102"/>
          </a:xfrm>
          <a:prstGeom prst="rect">
            <a:avLst/>
          </a:prstGeom>
        </p:spPr>
      </p:pic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5485849C-DEB6-4E4B-A3CD-3A0211B6AF4E}"/>
              </a:ext>
            </a:extLst>
          </p:cNvPr>
          <p:cNvSpPr/>
          <p:nvPr/>
        </p:nvSpPr>
        <p:spPr>
          <a:xfrm>
            <a:off x="6429410" y="661005"/>
            <a:ext cx="184377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dirty="0">
                <a:latin typeface="+mn-ea"/>
              </a:rPr>
              <a:t>CD(</a:t>
            </a:r>
            <a:r>
              <a:rPr lang="en-US" altLang="ko-KR" sz="1100" b="1" i="0" dirty="0">
                <a:effectLst/>
                <a:latin typeface="+mn-ea"/>
              </a:rPr>
              <a:t>Continuous Delivery)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590" name="직사각형 589">
            <a:extLst>
              <a:ext uri="{FF2B5EF4-FFF2-40B4-BE49-F238E27FC236}">
                <a16:creationId xmlns:a16="http://schemas.microsoft.com/office/drawing/2014/main" id="{3668B48D-F730-475A-A310-1CA5B5B0FD73}"/>
              </a:ext>
            </a:extLst>
          </p:cNvPr>
          <p:cNvSpPr/>
          <p:nvPr/>
        </p:nvSpPr>
        <p:spPr>
          <a:xfrm>
            <a:off x="3781455" y="2979569"/>
            <a:ext cx="785297" cy="2308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로컬 저장소</a:t>
            </a:r>
          </a:p>
        </p:txBody>
      </p:sp>
      <p:pic>
        <p:nvPicPr>
          <p:cNvPr id="2054" name="Picture 6" descr="Harbor">
            <a:extLst>
              <a:ext uri="{FF2B5EF4-FFF2-40B4-BE49-F238E27FC236}">
                <a16:creationId xmlns:a16="http://schemas.microsoft.com/office/drawing/2014/main" id="{5F92F62B-6776-45BC-A8FF-B0BDB2F12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341" y="2680908"/>
            <a:ext cx="1367009" cy="36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toring, processing, distributed, system, file, data, analysing icon">
            <a:extLst>
              <a:ext uri="{FF2B5EF4-FFF2-40B4-BE49-F238E27FC236}">
                <a16:creationId xmlns:a16="http://schemas.microsoft.com/office/drawing/2014/main" id="{BD06E1A7-D43E-4381-9507-ED9184AD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128" y="4506306"/>
            <a:ext cx="306038" cy="30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개발자 프리미엄 아이콘">
            <a:extLst>
              <a:ext uri="{FF2B5EF4-FFF2-40B4-BE49-F238E27FC236}">
                <a16:creationId xmlns:a16="http://schemas.microsoft.com/office/drawing/2014/main" id="{8499857B-2017-4D03-BCD0-1A455CB5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91" y="2844583"/>
            <a:ext cx="474747" cy="47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AC6134F8-C700-4014-B1AD-17D9C61E7074}"/>
              </a:ext>
            </a:extLst>
          </p:cNvPr>
          <p:cNvSpPr/>
          <p:nvPr/>
        </p:nvSpPr>
        <p:spPr>
          <a:xfrm>
            <a:off x="325430" y="3319330"/>
            <a:ext cx="71701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latin typeface="다키 L" pitchFamily="2" charset="-127"/>
                <a:ea typeface="다키 L" pitchFamily="2" charset="-127"/>
              </a:rPr>
              <a:t>Developer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304" name="그림 303">
            <a:extLst>
              <a:ext uri="{FF2B5EF4-FFF2-40B4-BE49-F238E27FC236}">
                <a16:creationId xmlns:a16="http://schemas.microsoft.com/office/drawing/2014/main" id="{B2883006-F766-46A9-9902-E54814F5AC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60" y="1671564"/>
            <a:ext cx="901055" cy="454306"/>
          </a:xfrm>
          <a:prstGeom prst="rect">
            <a:avLst/>
          </a:prstGeom>
        </p:spPr>
      </p:pic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5BEFA2EC-9A6B-4592-827E-890BAC8E050E}"/>
              </a:ext>
            </a:extLst>
          </p:cNvPr>
          <p:cNvSpPr/>
          <p:nvPr/>
        </p:nvSpPr>
        <p:spPr>
          <a:xfrm>
            <a:off x="3239400" y="1579468"/>
            <a:ext cx="153439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+mn-ea"/>
              </a:rPr>
              <a:t>Build &amp; Deploy &amp; PUSH</a:t>
            </a:r>
            <a:endParaRPr lang="ko-KR" altLang="en-US" sz="900" dirty="0">
              <a:latin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0A85990-1AAD-45E3-8E4E-CE0BF5A856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27" y="4197798"/>
            <a:ext cx="734719" cy="46152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3FA6066-18EA-4D0E-9D6B-9D2AC54915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603" y="991666"/>
            <a:ext cx="1226677" cy="56917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A67F07D-E0FE-4C94-A1ED-2461157FBA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186" y="3022420"/>
            <a:ext cx="533877" cy="52970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0BE4764-F7BC-4E4A-B39E-04DDF7880E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527" y="2819098"/>
            <a:ext cx="518521" cy="518521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AEE601-9673-474F-A37C-93C99E4F76D3}"/>
              </a:ext>
            </a:extLst>
          </p:cNvPr>
          <p:cNvSpPr/>
          <p:nvPr/>
        </p:nvSpPr>
        <p:spPr>
          <a:xfrm>
            <a:off x="6661976" y="2075180"/>
            <a:ext cx="1595615" cy="164449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0" name="Google Shape;128;p17">
            <a:extLst>
              <a:ext uri="{FF2B5EF4-FFF2-40B4-BE49-F238E27FC236}">
                <a16:creationId xmlns:a16="http://schemas.microsoft.com/office/drawing/2014/main" id="{A768F4B1-4482-4792-809A-38D9948983B0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62249" y="2379747"/>
            <a:ext cx="5760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171;p19">
            <a:extLst>
              <a:ext uri="{FF2B5EF4-FFF2-40B4-BE49-F238E27FC236}">
                <a16:creationId xmlns:a16="http://schemas.microsoft.com/office/drawing/2014/main" id="{DD80BA53-2599-4005-93BD-53EA2A7C204C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55685" y="2379747"/>
            <a:ext cx="5760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213;p22">
            <a:extLst>
              <a:ext uri="{FF2B5EF4-FFF2-40B4-BE49-F238E27FC236}">
                <a16:creationId xmlns:a16="http://schemas.microsoft.com/office/drawing/2014/main" id="{148A490E-6346-4111-91FA-B749FD8101F1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62206" y="3966217"/>
            <a:ext cx="599539" cy="61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214;p22">
            <a:extLst>
              <a:ext uri="{FF2B5EF4-FFF2-40B4-BE49-F238E27FC236}">
                <a16:creationId xmlns:a16="http://schemas.microsoft.com/office/drawing/2014/main" id="{B8CCF103-FB47-4075-9117-FD81CF864DE9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164616" y="1703884"/>
            <a:ext cx="650061" cy="595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271;p24">
            <a:extLst>
              <a:ext uri="{FF2B5EF4-FFF2-40B4-BE49-F238E27FC236}">
                <a16:creationId xmlns:a16="http://schemas.microsoft.com/office/drawing/2014/main" id="{8BEC72BF-3E25-4999-B6DB-67224BC3D9FE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260119" y="4734969"/>
            <a:ext cx="526595" cy="61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272;p24">
            <a:extLst>
              <a:ext uri="{FF2B5EF4-FFF2-40B4-BE49-F238E27FC236}">
                <a16:creationId xmlns:a16="http://schemas.microsoft.com/office/drawing/2014/main" id="{9B963D98-4771-4219-A0F6-8D627FEFC0B3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175137" y="3087722"/>
            <a:ext cx="576000" cy="57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직선 화살표 연결선 334">
            <a:extLst>
              <a:ext uri="{FF2B5EF4-FFF2-40B4-BE49-F238E27FC236}">
                <a16:creationId xmlns:a16="http://schemas.microsoft.com/office/drawing/2014/main" id="{07C92BFF-8485-4F16-8D72-28EE1F1C218C}"/>
              </a:ext>
            </a:extLst>
          </p:cNvPr>
          <p:cNvCxnSpPr>
            <a:cxnSpLocks/>
            <a:stCxn id="2058" idx="3"/>
            <a:endCxn id="26" idx="1"/>
          </p:cNvCxnSpPr>
          <p:nvPr/>
        </p:nvCxnSpPr>
        <p:spPr>
          <a:xfrm flipV="1">
            <a:off x="904238" y="3078359"/>
            <a:ext cx="765289" cy="3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3FAE2E63-0E64-4182-AEA8-D060AA7E6402}"/>
              </a:ext>
            </a:extLst>
          </p:cNvPr>
          <p:cNvSpPr/>
          <p:nvPr/>
        </p:nvSpPr>
        <p:spPr>
          <a:xfrm>
            <a:off x="784681" y="3100913"/>
            <a:ext cx="110799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+mn-ea"/>
              </a:rPr>
              <a:t>Commit &amp; PUSH</a:t>
            </a:r>
          </a:p>
        </p:txBody>
      </p:sp>
      <p:cxnSp>
        <p:nvCxnSpPr>
          <p:cNvPr id="2055" name="직선 화살표 연결선 2054">
            <a:extLst>
              <a:ext uri="{FF2B5EF4-FFF2-40B4-BE49-F238E27FC236}">
                <a16:creationId xmlns:a16="http://schemas.microsoft.com/office/drawing/2014/main" id="{982ADCC9-955A-4B8B-B64E-4522D47928BE}"/>
              </a:ext>
            </a:extLst>
          </p:cNvPr>
          <p:cNvCxnSpPr>
            <a:cxnSpLocks/>
            <a:stCxn id="26" idx="2"/>
            <a:endCxn id="19" idx="0"/>
          </p:cNvCxnSpPr>
          <p:nvPr/>
        </p:nvCxnSpPr>
        <p:spPr>
          <a:xfrm flipH="1">
            <a:off x="1928787" y="3337619"/>
            <a:ext cx="1" cy="8601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98871F37-5225-4F3E-9585-099F31DA675E}"/>
              </a:ext>
            </a:extLst>
          </p:cNvPr>
          <p:cNvSpPr/>
          <p:nvPr/>
        </p:nvSpPr>
        <p:spPr>
          <a:xfrm>
            <a:off x="1669527" y="479768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err="1">
                <a:latin typeface="+mn-ea"/>
              </a:rPr>
              <a:t>Dockerfile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 err="1">
                <a:latin typeface="+mn-ea"/>
              </a:rPr>
              <a:t>Jenkinsfile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_</a:t>
            </a:r>
            <a:r>
              <a:rPr lang="en-US" altLang="ko-KR" sz="1000" dirty="0" err="1">
                <a:latin typeface="+mn-ea"/>
              </a:rPr>
              <a:t>deployment.yaml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_</a:t>
            </a:r>
            <a:r>
              <a:rPr lang="en-US" altLang="ko-KR" sz="1000" dirty="0" err="1">
                <a:latin typeface="+mn-ea"/>
              </a:rPr>
              <a:t>service.yaml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356" name="그림 355">
            <a:extLst>
              <a:ext uri="{FF2B5EF4-FFF2-40B4-BE49-F238E27FC236}">
                <a16:creationId xmlns:a16="http://schemas.microsoft.com/office/drawing/2014/main" id="{64800015-B2F1-45A8-8F02-C1339770D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561" y="3205710"/>
            <a:ext cx="307102" cy="307102"/>
          </a:xfrm>
          <a:prstGeom prst="rect">
            <a:avLst/>
          </a:prstGeom>
        </p:spPr>
      </p:pic>
      <p:cxnSp>
        <p:nvCxnSpPr>
          <p:cNvPr id="2074" name="직선 화살표 연결선 2073">
            <a:extLst>
              <a:ext uri="{FF2B5EF4-FFF2-40B4-BE49-F238E27FC236}">
                <a16:creationId xmlns:a16="http://schemas.microsoft.com/office/drawing/2014/main" id="{BCEC91E2-8429-4AD7-9EAC-C762AA767BBE}"/>
              </a:ext>
            </a:extLst>
          </p:cNvPr>
          <p:cNvCxnSpPr>
            <a:cxnSpLocks/>
            <a:stCxn id="304" idx="2"/>
            <a:endCxn id="26" idx="0"/>
          </p:cNvCxnSpPr>
          <p:nvPr/>
        </p:nvCxnSpPr>
        <p:spPr>
          <a:xfrm>
            <a:off x="1928788" y="2125870"/>
            <a:ext cx="0" cy="69322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직사각형 360">
            <a:extLst>
              <a:ext uri="{FF2B5EF4-FFF2-40B4-BE49-F238E27FC236}">
                <a16:creationId xmlns:a16="http://schemas.microsoft.com/office/drawing/2014/main" id="{E7FA1922-83BD-4FE8-A1C3-6B09287FB41E}"/>
              </a:ext>
            </a:extLst>
          </p:cNvPr>
          <p:cNvSpPr/>
          <p:nvPr/>
        </p:nvSpPr>
        <p:spPr>
          <a:xfrm>
            <a:off x="1699396" y="2234860"/>
            <a:ext cx="45878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+mn-ea"/>
              </a:rPr>
              <a:t>Read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56" name="연결선: 꺾임 255">
            <a:extLst>
              <a:ext uri="{FF2B5EF4-FFF2-40B4-BE49-F238E27FC236}">
                <a16:creationId xmlns:a16="http://schemas.microsoft.com/office/drawing/2014/main" id="{209FDA32-048A-4A09-93CD-BA67195F6D96}"/>
              </a:ext>
            </a:extLst>
          </p:cNvPr>
          <p:cNvCxnSpPr>
            <a:cxnSpLocks/>
            <a:stCxn id="304" idx="0"/>
            <a:endCxn id="2054" idx="0"/>
          </p:cNvCxnSpPr>
          <p:nvPr/>
        </p:nvCxnSpPr>
        <p:spPr>
          <a:xfrm rot="16200000" flipH="1">
            <a:off x="2470645" y="1129707"/>
            <a:ext cx="1009344" cy="2093058"/>
          </a:xfrm>
          <a:prstGeom prst="bentConnector3">
            <a:avLst>
              <a:gd name="adj1" fmla="val -226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연결선: 꺾임 262">
            <a:extLst>
              <a:ext uri="{FF2B5EF4-FFF2-40B4-BE49-F238E27FC236}">
                <a16:creationId xmlns:a16="http://schemas.microsoft.com/office/drawing/2014/main" id="{D87F3E7C-3201-495A-950D-9C859079079D}"/>
              </a:ext>
            </a:extLst>
          </p:cNvPr>
          <p:cNvCxnSpPr>
            <a:cxnSpLocks/>
            <a:stCxn id="354" idx="3"/>
            <a:endCxn id="304" idx="3"/>
          </p:cNvCxnSpPr>
          <p:nvPr/>
        </p:nvCxnSpPr>
        <p:spPr>
          <a:xfrm flipH="1" flipV="1">
            <a:off x="2379315" y="1898717"/>
            <a:ext cx="526448" cy="3252912"/>
          </a:xfrm>
          <a:prstGeom prst="bentConnector3">
            <a:avLst>
              <a:gd name="adj1" fmla="val -434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4452CA25-F3FB-4065-B8E9-7CF2B33F07E0}"/>
              </a:ext>
            </a:extLst>
          </p:cNvPr>
          <p:cNvSpPr/>
          <p:nvPr/>
        </p:nvSpPr>
        <p:spPr>
          <a:xfrm>
            <a:off x="5949141" y="4278740"/>
            <a:ext cx="1528595" cy="19050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8" name="Google Shape;271;p24">
            <a:extLst>
              <a:ext uri="{FF2B5EF4-FFF2-40B4-BE49-F238E27FC236}">
                <a16:creationId xmlns:a16="http://schemas.microsoft.com/office/drawing/2014/main" id="{CCE7B77E-8C1D-4AE3-B7DE-54166176D4FC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260118" y="5447166"/>
            <a:ext cx="526595" cy="61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185;p20">
            <a:extLst>
              <a:ext uri="{FF2B5EF4-FFF2-40B4-BE49-F238E27FC236}">
                <a16:creationId xmlns:a16="http://schemas.microsoft.com/office/drawing/2014/main" id="{1FD2C1EB-ED6A-4077-A9D5-87DFCFB2F95E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57898" y="5406292"/>
            <a:ext cx="387999" cy="39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186;p20">
            <a:extLst>
              <a:ext uri="{FF2B5EF4-FFF2-40B4-BE49-F238E27FC236}">
                <a16:creationId xmlns:a16="http://schemas.microsoft.com/office/drawing/2014/main" id="{23FA988D-81CD-4B89-8696-BF51D1C03833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665218" y="5787156"/>
            <a:ext cx="364325" cy="336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185;p20">
            <a:extLst>
              <a:ext uri="{FF2B5EF4-FFF2-40B4-BE49-F238E27FC236}">
                <a16:creationId xmlns:a16="http://schemas.microsoft.com/office/drawing/2014/main" id="{459E9599-DC99-4A2B-865E-28C8F4C464CA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54655" y="4668889"/>
            <a:ext cx="387999" cy="39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186;p20">
            <a:extLst>
              <a:ext uri="{FF2B5EF4-FFF2-40B4-BE49-F238E27FC236}">
                <a16:creationId xmlns:a16="http://schemas.microsoft.com/office/drawing/2014/main" id="{D7E1411B-0DF8-405D-B7B3-255B16FDC8FD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661976" y="5049753"/>
            <a:ext cx="355936" cy="355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213;p22">
            <a:extLst>
              <a:ext uri="{FF2B5EF4-FFF2-40B4-BE49-F238E27FC236}">
                <a16:creationId xmlns:a16="http://schemas.microsoft.com/office/drawing/2014/main" id="{5D2FDC8C-D232-4CAE-8099-6BB68B723885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000280" y="3971650"/>
            <a:ext cx="599539" cy="61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271;p24">
            <a:extLst>
              <a:ext uri="{FF2B5EF4-FFF2-40B4-BE49-F238E27FC236}">
                <a16:creationId xmlns:a16="http://schemas.microsoft.com/office/drawing/2014/main" id="{3A35CC37-3018-435F-8E4E-7FB57745C2C6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855736" y="4690941"/>
            <a:ext cx="526595" cy="61998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C8E5667B-4ECE-44C0-94B9-E09A6D266CA4}"/>
              </a:ext>
            </a:extLst>
          </p:cNvPr>
          <p:cNvSpPr/>
          <p:nvPr/>
        </p:nvSpPr>
        <p:spPr>
          <a:xfrm>
            <a:off x="7580961" y="4284174"/>
            <a:ext cx="1465503" cy="19050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6" name="Google Shape;271;p24">
            <a:extLst>
              <a:ext uri="{FF2B5EF4-FFF2-40B4-BE49-F238E27FC236}">
                <a16:creationId xmlns:a16="http://schemas.microsoft.com/office/drawing/2014/main" id="{7AC0855F-EADA-4ECF-834F-428725B4B6A8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855735" y="5403138"/>
            <a:ext cx="526595" cy="61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185;p20">
            <a:extLst>
              <a:ext uri="{FF2B5EF4-FFF2-40B4-BE49-F238E27FC236}">
                <a16:creationId xmlns:a16="http://schemas.microsoft.com/office/drawing/2014/main" id="{4781B040-0524-4AC5-840D-6DB8794628C2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253515" y="5362264"/>
            <a:ext cx="387999" cy="39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186;p20">
            <a:extLst>
              <a:ext uri="{FF2B5EF4-FFF2-40B4-BE49-F238E27FC236}">
                <a16:creationId xmlns:a16="http://schemas.microsoft.com/office/drawing/2014/main" id="{2821BECB-ECFC-4D08-A64F-5A6E8FDFBC6A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60835" y="5743128"/>
            <a:ext cx="364325" cy="336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185;p20">
            <a:extLst>
              <a:ext uri="{FF2B5EF4-FFF2-40B4-BE49-F238E27FC236}">
                <a16:creationId xmlns:a16="http://schemas.microsoft.com/office/drawing/2014/main" id="{F6781B2B-DF65-46D5-8278-64C0B8A1B1E6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250272" y="4624861"/>
            <a:ext cx="387999" cy="39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186;p20">
            <a:extLst>
              <a:ext uri="{FF2B5EF4-FFF2-40B4-BE49-F238E27FC236}">
                <a16:creationId xmlns:a16="http://schemas.microsoft.com/office/drawing/2014/main" id="{938CC39A-A6EE-4910-A712-7E97A08B066D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57592" y="5005725"/>
            <a:ext cx="364325" cy="3366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연결선: 꺾임 267">
            <a:extLst>
              <a:ext uri="{FF2B5EF4-FFF2-40B4-BE49-F238E27FC236}">
                <a16:creationId xmlns:a16="http://schemas.microsoft.com/office/drawing/2014/main" id="{5BF9A081-9D0B-4945-9472-AF502C2F9FD3}"/>
              </a:ext>
            </a:extLst>
          </p:cNvPr>
          <p:cNvCxnSpPr>
            <a:cxnSpLocks/>
            <a:stCxn id="21" idx="3"/>
            <a:endCxn id="29" idx="3"/>
          </p:cNvCxnSpPr>
          <p:nvPr/>
        </p:nvCxnSpPr>
        <p:spPr>
          <a:xfrm>
            <a:off x="8000280" y="1276255"/>
            <a:ext cx="257311" cy="1621174"/>
          </a:xfrm>
          <a:prstGeom prst="bentConnector3">
            <a:avLst>
              <a:gd name="adj1" fmla="val 1888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연결선: 꺾임 271">
            <a:extLst>
              <a:ext uri="{FF2B5EF4-FFF2-40B4-BE49-F238E27FC236}">
                <a16:creationId xmlns:a16="http://schemas.microsoft.com/office/drawing/2014/main" id="{A24E556D-3E88-47DC-ADD8-31F3BB08A01A}"/>
              </a:ext>
            </a:extLst>
          </p:cNvPr>
          <p:cNvCxnSpPr>
            <a:cxnSpLocks/>
            <a:stCxn id="29" idx="2"/>
            <a:endCxn id="326" idx="0"/>
          </p:cNvCxnSpPr>
          <p:nvPr/>
        </p:nvCxnSpPr>
        <p:spPr>
          <a:xfrm rot="5400000">
            <a:off x="6937611" y="3444043"/>
            <a:ext cx="246539" cy="7978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연결선: 꺾임 273">
            <a:extLst>
              <a:ext uri="{FF2B5EF4-FFF2-40B4-BE49-F238E27FC236}">
                <a16:creationId xmlns:a16="http://schemas.microsoft.com/office/drawing/2014/main" id="{DB1D8118-1632-4161-B6DD-1D77D0C52360}"/>
              </a:ext>
            </a:extLst>
          </p:cNvPr>
          <p:cNvCxnSpPr>
            <a:cxnSpLocks/>
            <a:stCxn id="29" idx="2"/>
            <a:endCxn id="383" idx="0"/>
          </p:cNvCxnSpPr>
          <p:nvPr/>
        </p:nvCxnSpPr>
        <p:spPr>
          <a:xfrm rot="16200000" flipH="1">
            <a:off x="7753931" y="3425531"/>
            <a:ext cx="251972" cy="840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A2ADDAA5-2B80-4900-A975-F0816BF2129C}"/>
              </a:ext>
            </a:extLst>
          </p:cNvPr>
          <p:cNvSpPr/>
          <p:nvPr/>
        </p:nvSpPr>
        <p:spPr>
          <a:xfrm>
            <a:off x="7633689" y="1422173"/>
            <a:ext cx="167225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+mn-ea"/>
              </a:rPr>
              <a:t>Sync &amp; Refresh &amp;  Delete</a:t>
            </a:r>
            <a:endParaRPr lang="ko-KR" altLang="en-US" sz="900" dirty="0">
              <a:latin typeface="+mn-ea"/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5E071CB0-9F97-4EAB-B964-6DD1027C46AB}"/>
              </a:ext>
            </a:extLst>
          </p:cNvPr>
          <p:cNvSpPr/>
          <p:nvPr/>
        </p:nvSpPr>
        <p:spPr>
          <a:xfrm>
            <a:off x="5717944" y="1629895"/>
            <a:ext cx="3657704" cy="46836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73729947-83DD-4372-89AC-1A773BB10F99}"/>
              </a:ext>
            </a:extLst>
          </p:cNvPr>
          <p:cNvCxnSpPr>
            <a:cxnSpLocks/>
          </p:cNvCxnSpPr>
          <p:nvPr/>
        </p:nvCxnSpPr>
        <p:spPr>
          <a:xfrm flipH="1">
            <a:off x="4633570" y="3366771"/>
            <a:ext cx="1084374" cy="895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9C852C3A-358D-476D-88E7-36439E8B0021}"/>
              </a:ext>
            </a:extLst>
          </p:cNvPr>
          <p:cNvSpPr/>
          <p:nvPr/>
        </p:nvSpPr>
        <p:spPr>
          <a:xfrm>
            <a:off x="4773794" y="3403993"/>
            <a:ext cx="76976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+mn-ea"/>
              </a:rPr>
              <a:t>Image Pull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77" name="연결선: 꺾임 3076">
            <a:extLst>
              <a:ext uri="{FF2B5EF4-FFF2-40B4-BE49-F238E27FC236}">
                <a16:creationId xmlns:a16="http://schemas.microsoft.com/office/drawing/2014/main" id="{076D6FDD-0823-477D-AF10-E0994078E4FA}"/>
              </a:ext>
            </a:extLst>
          </p:cNvPr>
          <p:cNvCxnSpPr>
            <a:cxnSpLocks/>
            <a:stCxn id="21" idx="1"/>
            <a:endCxn id="19" idx="3"/>
          </p:cNvCxnSpPr>
          <p:nvPr/>
        </p:nvCxnSpPr>
        <p:spPr>
          <a:xfrm rot="10800000" flipV="1">
            <a:off x="2296147" y="1276254"/>
            <a:ext cx="4477457" cy="3152307"/>
          </a:xfrm>
          <a:prstGeom prst="bentConnector3">
            <a:avLst>
              <a:gd name="adj1" fmla="val 35568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203387D7-FDDD-47E2-A0C8-9327C209FFC0}"/>
              </a:ext>
            </a:extLst>
          </p:cNvPr>
          <p:cNvSpPr/>
          <p:nvPr/>
        </p:nvSpPr>
        <p:spPr>
          <a:xfrm>
            <a:off x="5259164" y="1098884"/>
            <a:ext cx="45878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latin typeface="+mn-ea"/>
              </a:rPr>
              <a:t>Read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94D6B49-35B2-4501-AA67-D23020628195}"/>
              </a:ext>
            </a:extLst>
          </p:cNvPr>
          <p:cNvCxnSpPr>
            <a:stCxn id="321" idx="1"/>
            <a:endCxn id="320" idx="3"/>
          </p:cNvCxnSpPr>
          <p:nvPr/>
        </p:nvCxnSpPr>
        <p:spPr>
          <a:xfrm flipH="1">
            <a:off x="7338249" y="2667747"/>
            <a:ext cx="217436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5BA62D33-104B-4E3E-8635-FDF943706077}"/>
              </a:ext>
            </a:extLst>
          </p:cNvPr>
          <p:cNvCxnSpPr>
            <a:stCxn id="320" idx="2"/>
            <a:endCxn id="334" idx="1"/>
          </p:cNvCxnSpPr>
          <p:nvPr/>
        </p:nvCxnSpPr>
        <p:spPr>
          <a:xfrm rot="16200000" flipH="1">
            <a:off x="6902706" y="3103290"/>
            <a:ext cx="419975" cy="1248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29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EF013-692F-49C2-AC95-0D9B7D79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마이크로서비스</a:t>
            </a:r>
            <a:r>
              <a:rPr lang="ko-KR" altLang="en-US" dirty="0"/>
              <a:t> 서비스 기능 구성 </a:t>
            </a:r>
          </a:p>
        </p:txBody>
      </p:sp>
      <p:graphicFrame>
        <p:nvGraphicFramePr>
          <p:cNvPr id="3" name="Group 122">
            <a:extLst>
              <a:ext uri="{FF2B5EF4-FFF2-40B4-BE49-F238E27FC236}">
                <a16:creationId xmlns:a16="http://schemas.microsoft.com/office/drawing/2014/main" id="{8DF9CF58-586F-49B5-9A29-E12E7EC53997}"/>
              </a:ext>
            </a:extLst>
          </p:cNvPr>
          <p:cNvGraphicFramePr>
            <a:graphicFrameLocks noGrp="1"/>
          </p:cNvGraphicFramePr>
          <p:nvPr/>
        </p:nvGraphicFramePr>
        <p:xfrm>
          <a:off x="391814" y="1037151"/>
          <a:ext cx="9123121" cy="5628504"/>
        </p:xfrm>
        <a:graphic>
          <a:graphicData uri="http://schemas.openxmlformats.org/drawingml/2006/table">
            <a:tbl>
              <a:tblPr/>
              <a:tblGrid>
                <a:gridCol w="199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9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마이크로서비스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 구분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Kubernetes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내 용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다키 B" pitchFamily="2" charset="-127"/>
                        <a:ea typeface="다키 B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비 고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설정관리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Config Map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&amp; Secrets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컨피그맵은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값 쌍으로 기밀이 아닌 데이터를 저장하는 데 사용하는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API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오브젝트로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파드는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볼륨에서 환경 변수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커맨드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라인 인수 또는 구성 파일로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컨피그맵을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사용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컨피그맵을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사용하여 컨테이너 이미지에서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환경별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구성을 분리하여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애플리케이션을 쉽게 이식할 수 있음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application.yml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서비스 호출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Service &amp; Ingress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클러스터 외부에서 클러스터 내부 서비스로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HTTP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HTTPS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경로를 노출하고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트래픽 라우팅은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인그레스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리소스에 정의된 규칙에 의해 제어된다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인그레스는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외부에서 서비스로 접속이 가능한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URL,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로드 밸런스 트래픽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SSL / TLS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종료 그리고 이름 기반의 가상 호스팅을 제공하도록 구성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되어짐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인그레스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컨트롤러는 일반적으로 로드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밸런서를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사용해서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인그레스를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수행할 책임이 있으며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트래픽을 처리하는데 도움이 되도록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엣지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라우터 또는 추가 프런트 엔드를 구성할 수도 있음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인그레스는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임의의 포트 또는 프로토콜을 노출시키지 않는다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 HTTP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HTTPS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이외의 서비스를 인터넷에 노출하려면 보통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Service.Type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=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NodePort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또는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Service.Type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=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LoadBalancer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유형의 서비스를 사용함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로드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밸런싱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Service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서비스 호출 참조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API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게이트웨이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Service &amp; Ingress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서비스 호출 참조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서비스 보안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Cloud Gateway(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Oauth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Oauth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토근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인증 보안을 구성함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94407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중앙화 로깅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EFK Stack(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Fluentd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)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데이터를 저장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수집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시각화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   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지속적으로 누적되는 데이터를 실시간으로 분석할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 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때 많이 사용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Fluentd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: Opensource Data collector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중 하나로 보통 다양한 채널에서 들어오는 데이터의 통합을 위해 사용됨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5729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0FA94D-4BFE-4DCD-A0E0-2DFBB6C7A378}"/>
              </a:ext>
            </a:extLst>
          </p:cNvPr>
          <p:cNvSpPr txBox="1"/>
          <p:nvPr/>
        </p:nvSpPr>
        <p:spPr>
          <a:xfrm>
            <a:off x="328522" y="649759"/>
            <a:ext cx="9031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다키 M" pitchFamily="2" charset="-127"/>
                <a:ea typeface="다키 M" pitchFamily="2" charset="-127"/>
              </a:rPr>
              <a:t>쿠버네티스</a:t>
            </a:r>
            <a:r>
              <a:rPr lang="ko-KR" altLang="en-US" dirty="0">
                <a:latin typeface="다키 M" pitchFamily="2" charset="-127"/>
                <a:ea typeface="다키 M" pitchFamily="2" charset="-127"/>
              </a:rPr>
              <a:t> 서비스 기능 구성</a:t>
            </a:r>
            <a:r>
              <a:rPr lang="en-US" altLang="ko-KR" dirty="0">
                <a:latin typeface="다키 M" pitchFamily="2" charset="-127"/>
                <a:ea typeface="다키 M" pitchFamily="2" charset="-127"/>
              </a:rPr>
              <a:t>(1)</a:t>
            </a:r>
            <a:endParaRPr lang="ko-KR" altLang="en-US" dirty="0">
              <a:latin typeface="다키 M" pitchFamily="2" charset="-127"/>
              <a:ea typeface="다키 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45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FDC06-8B94-4250-AA55-DD07A9A5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마이크로서비스</a:t>
            </a:r>
            <a:r>
              <a:rPr lang="ko-KR" altLang="en-US" dirty="0"/>
              <a:t> 서비스 기능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4861BEA-8318-43D1-9B1A-1470A23AF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51157-3FC7-47B7-A138-266CB3D40BC1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81F97-BD28-4DF6-99CB-A47B96A5AB2A}"/>
              </a:ext>
            </a:extLst>
          </p:cNvPr>
          <p:cNvSpPr txBox="1"/>
          <p:nvPr/>
        </p:nvSpPr>
        <p:spPr>
          <a:xfrm>
            <a:off x="328522" y="649759"/>
            <a:ext cx="9031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다키 M" pitchFamily="2" charset="-127"/>
                <a:ea typeface="다키 M" pitchFamily="2" charset="-127"/>
              </a:rPr>
              <a:t>쿠버네티스</a:t>
            </a:r>
            <a:r>
              <a:rPr lang="ko-KR" altLang="en-US" dirty="0">
                <a:latin typeface="다키 M" pitchFamily="2" charset="-127"/>
                <a:ea typeface="다키 M" pitchFamily="2" charset="-127"/>
              </a:rPr>
              <a:t> 서비스 기능 구성</a:t>
            </a:r>
            <a:r>
              <a:rPr lang="en-US" altLang="ko-KR" dirty="0">
                <a:latin typeface="다키 M" pitchFamily="2" charset="-127"/>
                <a:ea typeface="다키 M" pitchFamily="2" charset="-127"/>
              </a:rPr>
              <a:t>(2)</a:t>
            </a:r>
            <a:endParaRPr lang="ko-KR" altLang="en-US" dirty="0">
              <a:latin typeface="다키 M" pitchFamily="2" charset="-127"/>
              <a:ea typeface="다키 M" pitchFamily="2" charset="-127"/>
            </a:endParaRPr>
          </a:p>
        </p:txBody>
      </p:sp>
      <p:graphicFrame>
        <p:nvGraphicFramePr>
          <p:cNvPr id="5" name="Group 122">
            <a:extLst>
              <a:ext uri="{FF2B5EF4-FFF2-40B4-BE49-F238E27FC236}">
                <a16:creationId xmlns:a16="http://schemas.microsoft.com/office/drawing/2014/main" id="{97C0AD56-9ABC-4DDE-B41D-727A0A5A6004}"/>
              </a:ext>
            </a:extLst>
          </p:cNvPr>
          <p:cNvGraphicFramePr>
            <a:graphicFrameLocks noGrp="1"/>
          </p:cNvGraphicFramePr>
          <p:nvPr/>
        </p:nvGraphicFramePr>
        <p:xfrm>
          <a:off x="391814" y="1123411"/>
          <a:ext cx="9123121" cy="5482664"/>
        </p:xfrm>
        <a:graphic>
          <a:graphicData uri="http://schemas.openxmlformats.org/drawingml/2006/table">
            <a:tbl>
              <a:tblPr/>
              <a:tblGrid>
                <a:gridCol w="199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9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마이크로서비스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 구분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Kubernetes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내 용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다키 B" pitchFamily="2" charset="-127"/>
                        <a:ea typeface="다키 B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다키 B" pitchFamily="2" charset="-127"/>
                          <a:ea typeface="다키 B" pitchFamily="2" charset="-127"/>
                        </a:rPr>
                        <a:t>비 고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49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중앙화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매트릭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Grafana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시계열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매트릭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데이터를 시각화 하는데 가장 최적화된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대시보드를 제공해주는 오픈소스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툴킷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305629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 분산환경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Zipkin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분산 환경 추적 시스템 오픈소스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툴킷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852278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Resilience &amp; Fault Tolerance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Health Check &amp;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리소스 격리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네트워크 상에서 오류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(fault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failure)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가 발생했을 때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빨리 원래의 정상적인 상태로 회복 가능함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시스템 장애 감지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진단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복구가 가능 함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356497"/>
                  </a:ext>
                </a:extLst>
              </a:tr>
              <a:tr h="457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오토스케일링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&amp;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셀프힐링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Health Check, Self Healing, Autoscaling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scaling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acation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이 자동으로 이루어지는 서비스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Auto Scaling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을 이용하면 시간에 따라 서비스 요청이 늘거나 줄어드는 상황에서 서비스 요청이 늘어나면 자동으로 서버의 수를 늘려서 서비스 처리 능력을 향상시켜서 서비스가 원활하게 이루어지도록 하고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반대로 서비스 요청이 줄어들면 자동으로 서버의 수를 줄여서 서버 사용료를 더 내게 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497054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패키징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디플로이먼트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스케줄링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Docker/R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Kubernetes Scheduler &amp; Deployment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패키징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디플로이먼트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스케줄링 기능을 제공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940883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작업관리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Jobs, Scheduled Jobs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잡을 시간 기준으로 관리함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지정된 시간에 한번만 잡을 실행하거나 주기적으로 지정된 시간동안 반복하면서 잡을 실행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하기 의한 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6969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싱글톤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애플리케이션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Kubernetes Pods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쿠버네티스에서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생성되고 관리될 수 있는 배포 가능한 최소 컴퓨팅 단위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하나 이상의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도커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컨테이너 같은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컨테이너 그룹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923877"/>
                  </a:ext>
                </a:extLst>
              </a:tr>
              <a:tr h="3319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메시지 브로커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Spring Cloud RabbitMQ</a:t>
                      </a: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AMQP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를 따르는 오픈소스 </a:t>
                      </a:r>
                      <a:r>
                        <a:rPr lang="ko-KR" altLang="en-US" sz="1000" b="0" i="0" dirty="0" err="1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메세지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 브로커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클라이언트 어플리케이션과 미들웨어 브로커와의 메시지를 주고받기 위한 프로토콜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(RabbitMQ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서버</a:t>
                      </a: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lang="en-US" altLang="ko-KR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MQ</a:t>
                      </a:r>
                      <a:r>
                        <a:rPr lang="ko-KR" altLang="en-US" sz="1000" b="0" i="0" dirty="0">
                          <a:solidFill>
                            <a:srgbClr val="333333"/>
                          </a:solidFill>
                          <a:effectLst/>
                          <a:latin typeface="다키 L" pitchFamily="2" charset="-127"/>
                          <a:ea typeface="다키 L" pitchFamily="2" charset="-127"/>
                        </a:rPr>
                        <a:t>를 사용하여 애플리케이션 간 결합도를 낮출 수 있음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3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65138" indent="-7938" algn="l">
                        <a:spcBef>
                          <a:spcPct val="20000"/>
                        </a:spcBef>
                        <a:defRPr kumimoji="1" sz="3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3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다키 L" pitchFamily="2" charset="-127"/>
                        <a:ea typeface="다키 L" pitchFamily="2" charset="-127"/>
                      </a:endParaRPr>
                    </a:p>
                  </a:txBody>
                  <a:tcPr marT="45712" marB="4571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996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637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1649BBE-719D-48BB-B643-C11FBD223AC6}"/>
              </a:ext>
            </a:extLst>
          </p:cNvPr>
          <p:cNvSpPr/>
          <p:nvPr/>
        </p:nvSpPr>
        <p:spPr>
          <a:xfrm>
            <a:off x="2983323" y="914979"/>
            <a:ext cx="6649507" cy="5454512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740C361-BE36-45A0-9FC3-A731A8C8A6C3}"/>
              </a:ext>
            </a:extLst>
          </p:cNvPr>
          <p:cNvSpPr/>
          <p:nvPr/>
        </p:nvSpPr>
        <p:spPr>
          <a:xfrm>
            <a:off x="202693" y="899617"/>
            <a:ext cx="2760135" cy="4001406"/>
          </a:xfrm>
          <a:prstGeom prst="roundRect">
            <a:avLst>
              <a:gd name="adj" fmla="val 1252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3A138B-6C42-488E-81F8-4C4C2C58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82" y="36740"/>
            <a:ext cx="7839641" cy="499721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개발환경 구성도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8D2292-1FA1-4987-8F70-C5F3AFDF13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51157-3FC7-47B7-A138-266CB3D40BC1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B665639-028E-44E6-8D31-8260B7DE2EFB}"/>
              </a:ext>
            </a:extLst>
          </p:cNvPr>
          <p:cNvSpPr/>
          <p:nvPr/>
        </p:nvSpPr>
        <p:spPr>
          <a:xfrm>
            <a:off x="3157656" y="2642748"/>
            <a:ext cx="1454155" cy="1178444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E37862E-4DD8-48C5-B35B-3547506EA3DE}"/>
              </a:ext>
            </a:extLst>
          </p:cNvPr>
          <p:cNvSpPr/>
          <p:nvPr/>
        </p:nvSpPr>
        <p:spPr>
          <a:xfrm>
            <a:off x="4694417" y="984738"/>
            <a:ext cx="4893548" cy="4600314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" name="AutoShape 48">
            <a:extLst>
              <a:ext uri="{FF2B5EF4-FFF2-40B4-BE49-F238E27FC236}">
                <a16:creationId xmlns:a16="http://schemas.microsoft.com/office/drawing/2014/main" id="{BCA29EA2-7C7C-4EEC-A73D-B807F53D8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302" y="2660676"/>
            <a:ext cx="1125736" cy="23547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200" dirty="0" err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Kube</a:t>
            </a:r>
            <a:r>
              <a:rPr lang="en-US" altLang="ko-KR" sz="12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-Master</a:t>
            </a:r>
          </a:p>
        </p:txBody>
      </p:sp>
      <p:sp>
        <p:nvSpPr>
          <p:cNvPr id="7" name="AutoShape 48">
            <a:extLst>
              <a:ext uri="{FF2B5EF4-FFF2-40B4-BE49-F238E27FC236}">
                <a16:creationId xmlns:a16="http://schemas.microsoft.com/office/drawing/2014/main" id="{E029D231-0488-4B89-9BC0-47C59D0D7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546" y="1043157"/>
            <a:ext cx="1111117" cy="197263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200" dirty="0" err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Kube</a:t>
            </a:r>
            <a:r>
              <a:rPr lang="en-US" altLang="ko-KR" sz="12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-Worker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04949F-2D5B-43F6-B305-5AE4D2990F5E}"/>
              </a:ext>
            </a:extLst>
          </p:cNvPr>
          <p:cNvSpPr/>
          <p:nvPr/>
        </p:nvSpPr>
        <p:spPr>
          <a:xfrm>
            <a:off x="3197876" y="2980187"/>
            <a:ext cx="770248" cy="22466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scheduler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CA3F4D-28A3-4ECA-8018-B44F9D408F19}"/>
              </a:ext>
            </a:extLst>
          </p:cNvPr>
          <p:cNvSpPr/>
          <p:nvPr/>
        </p:nvSpPr>
        <p:spPr>
          <a:xfrm>
            <a:off x="3198875" y="3246372"/>
            <a:ext cx="1352366" cy="26250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controller-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+mn-cs"/>
              </a:rPr>
              <a:t>manager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34842B-9153-413F-97BD-C2C9726CA7EC}"/>
              </a:ext>
            </a:extLst>
          </p:cNvPr>
          <p:cNvSpPr/>
          <p:nvPr/>
        </p:nvSpPr>
        <p:spPr>
          <a:xfrm>
            <a:off x="3197876" y="3515971"/>
            <a:ext cx="1354317" cy="21725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etcd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1F3D82F-1764-470A-A345-5D64319BF64E}"/>
              </a:ext>
            </a:extLst>
          </p:cNvPr>
          <p:cNvSpPr/>
          <p:nvPr/>
        </p:nvSpPr>
        <p:spPr>
          <a:xfrm>
            <a:off x="207112" y="4989984"/>
            <a:ext cx="2755718" cy="1425052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B51E65D-164B-4998-BF69-C9A2ED292EC3}"/>
              </a:ext>
            </a:extLst>
          </p:cNvPr>
          <p:cNvSpPr/>
          <p:nvPr/>
        </p:nvSpPr>
        <p:spPr>
          <a:xfrm>
            <a:off x="305058" y="899617"/>
            <a:ext cx="13195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로컬 개발환경구성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45" name="Rectangle 28">
            <a:extLst>
              <a:ext uri="{FF2B5EF4-FFF2-40B4-BE49-F238E27FC236}">
                <a16:creationId xmlns:a16="http://schemas.microsoft.com/office/drawing/2014/main" id="{4B4ED86E-4E6C-4483-ADDF-1065D2E51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5" y="4548934"/>
            <a:ext cx="2634549" cy="276999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Window 10</a:t>
            </a:r>
          </a:p>
        </p:txBody>
      </p:sp>
      <p:sp>
        <p:nvSpPr>
          <p:cNvPr id="46" name="Rectangle 26">
            <a:extLst>
              <a:ext uri="{FF2B5EF4-FFF2-40B4-BE49-F238E27FC236}">
                <a16:creationId xmlns:a16="http://schemas.microsoft.com/office/drawing/2014/main" id="{5CBD1F37-A18F-4C2E-95CC-A202F920A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3" y="2467322"/>
            <a:ext cx="2634548" cy="2074138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/>
            <a:r>
              <a:rPr lang="en-US" altLang="ko-KR" sz="1100" dirty="0" err="1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Egovframe</a:t>
            </a:r>
            <a:r>
              <a:rPr lang="en-US" altLang="ko-KR" sz="11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 tools(eclipse)</a:t>
            </a:r>
            <a:endParaRPr lang="ko-KR" altLang="en-US" sz="1100" dirty="0">
              <a:solidFill>
                <a:srgbClr val="23476B"/>
              </a:solidFill>
              <a:latin typeface="다키 M Title" pitchFamily="2" charset="-127"/>
              <a:ea typeface="다키 M Title" pitchFamily="2" charset="-127"/>
              <a:cs typeface="Times New Roman" panose="02020603050405020304" pitchFamily="18" charset="0"/>
            </a:endParaRPr>
          </a:p>
        </p:txBody>
      </p:sp>
      <p:sp>
        <p:nvSpPr>
          <p:cNvPr id="50" name="Rectangle 25">
            <a:extLst>
              <a:ext uri="{FF2B5EF4-FFF2-40B4-BE49-F238E27FC236}">
                <a16:creationId xmlns:a16="http://schemas.microsoft.com/office/drawing/2014/main" id="{ACF31637-73A5-46BC-83D9-6708E41E7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360" y="2933497"/>
            <a:ext cx="1629250" cy="1615438"/>
          </a:xfrm>
          <a:prstGeom prst="rect">
            <a:avLst/>
          </a:prstGeom>
          <a:solidFill>
            <a:srgbClr val="A9C1E1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 </a:t>
            </a:r>
            <a:r>
              <a:rPr kumimoji="1" lang="ko-KR" altLang="en-US" sz="11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프레임워크</a:t>
            </a:r>
            <a:endParaRPr kumimoji="1" lang="en-US" altLang="ko-KR" sz="1100" dirty="0">
              <a:solidFill>
                <a:srgbClr val="23476B"/>
              </a:solidFill>
              <a:latin typeface="다키 M Title" pitchFamily="2" charset="-127"/>
              <a:ea typeface="다키 M Title" pitchFamily="2" charset="-127"/>
              <a:cs typeface="Times New Roman" panose="02020603050405020304" pitchFamily="18" charset="0"/>
            </a:endParaRPr>
          </a:p>
        </p:txBody>
      </p:sp>
      <p:sp>
        <p:nvSpPr>
          <p:cNvPr id="52" name="Rectangle 31">
            <a:extLst>
              <a:ext uri="{FF2B5EF4-FFF2-40B4-BE49-F238E27FC236}">
                <a16:creationId xmlns:a16="http://schemas.microsoft.com/office/drawing/2014/main" id="{FC758C05-BAA4-488E-8D28-2A8ED2DC0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644" y="4279594"/>
            <a:ext cx="1624966" cy="270491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Egovframework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 3.9.0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7D4C522E-10DF-4A1B-8C6E-D3B0CB2D4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5" y="4283102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JDK1.8.0.261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55" name="Rectangle 29">
            <a:extLst>
              <a:ext uri="{FF2B5EF4-FFF2-40B4-BE49-F238E27FC236}">
                <a16:creationId xmlns:a16="http://schemas.microsoft.com/office/drawing/2014/main" id="{CC3C03B0-B5CD-4348-A5DB-EABF11A33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4" y="4005698"/>
            <a:ext cx="1009581" cy="276999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MAVEN3.6.3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9D3BD2DC-B83F-4A36-8E1B-98CD03E71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4" y="3741810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Sencha7.2.0.84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DC27AACF-CB89-4F56-AA35-CCD3CEAE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3" y="3471282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 err="1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ExtJs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 7.2.0.84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58" name="Rectangle 29">
            <a:extLst>
              <a:ext uri="{FF2B5EF4-FFF2-40B4-BE49-F238E27FC236}">
                <a16:creationId xmlns:a16="http://schemas.microsoft.com/office/drawing/2014/main" id="{5030B4F0-B048-4E2F-8A27-139D26F7D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3" y="3195642"/>
            <a:ext cx="1037638" cy="276085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(WAS)Tomcat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 9.0.36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59" name="Rectangle 29">
            <a:extLst>
              <a:ext uri="{FF2B5EF4-FFF2-40B4-BE49-F238E27FC236}">
                <a16:creationId xmlns:a16="http://schemas.microsoft.com/office/drawing/2014/main" id="{63FDF6E3-58DB-4110-A570-B2A2F0844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63" y="2933497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Git(</a:t>
            </a:r>
            <a:r>
              <a:rPr kumimoji="1" lang="ko-KR" altLang="en-US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개발자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)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60" name="Rectangle 31">
            <a:extLst>
              <a:ext uri="{FF2B5EF4-FFF2-40B4-BE49-F238E27FC236}">
                <a16:creationId xmlns:a16="http://schemas.microsoft.com/office/drawing/2014/main" id="{3707B1CF-0D69-4C22-9C34-D8A768BC9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644" y="4010051"/>
            <a:ext cx="1624966" cy="270491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 err="1">
                <a:solidFill>
                  <a:srgbClr val="003366"/>
                </a:solidFill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SpringFramework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 5.2.7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61" name="Rectangle 31">
            <a:extLst>
              <a:ext uri="{FF2B5EF4-FFF2-40B4-BE49-F238E27FC236}">
                <a16:creationId xmlns:a16="http://schemas.microsoft.com/office/drawing/2014/main" id="{1ACA388B-127F-49AB-8D70-EE2AD5C8A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294" y="3739523"/>
            <a:ext cx="1624966" cy="26462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 dirty="0" err="1">
                <a:solidFill>
                  <a:srgbClr val="003366"/>
                </a:solidFill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SpringCloud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</a:rPr>
              <a:t>Hoxton.SR6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62" name="Rectangle 31">
            <a:extLst>
              <a:ext uri="{FF2B5EF4-FFF2-40B4-BE49-F238E27FC236}">
                <a16:creationId xmlns:a16="http://schemas.microsoft.com/office/drawing/2014/main" id="{7CF6A5CB-5D04-41F9-8B65-822B7EB85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644" y="3461355"/>
            <a:ext cx="1624966" cy="26462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Spring Boot 2.3.1 Rel.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63" name="Rectangle 27">
            <a:extLst>
              <a:ext uri="{FF2B5EF4-FFF2-40B4-BE49-F238E27FC236}">
                <a16:creationId xmlns:a16="http://schemas.microsoft.com/office/drawing/2014/main" id="{0F01A22E-7959-402D-8105-6158EA2AB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360" y="3189768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(WAS) Under Tow 2.1.3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BF065F5-B4A9-4297-8188-CB40A214592D}"/>
              </a:ext>
            </a:extLst>
          </p:cNvPr>
          <p:cNvSpPr/>
          <p:nvPr/>
        </p:nvSpPr>
        <p:spPr>
          <a:xfrm>
            <a:off x="268008" y="1285487"/>
            <a:ext cx="990659" cy="1154991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ysDash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2482C8"/>
              </a:solidFill>
              <a:effectLst/>
              <a:uLnTx/>
              <a:uFillTx/>
              <a:latin typeface="다키 B" pitchFamily="2" charset="-127"/>
              <a:ea typeface="다키 B" pitchFamily="2" charset="-127"/>
              <a:cs typeface="+mn-cs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3EA7081-000E-41CB-8420-9D78E83B1DA9}"/>
              </a:ext>
            </a:extLst>
          </p:cNvPr>
          <p:cNvSpPr/>
          <p:nvPr/>
        </p:nvSpPr>
        <p:spPr>
          <a:xfrm>
            <a:off x="267229" y="1168775"/>
            <a:ext cx="990660" cy="22534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457200" latinLnBrk="0">
              <a:defRPr/>
            </a:pPr>
            <a:r>
              <a:rPr kumimoji="0" lang="en-US" altLang="ko-KR" sz="1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+mn-cs"/>
              </a:rPr>
              <a:t>Extjs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+mn-cs"/>
              </a:rPr>
              <a:t>(WEB)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D4ECDB1-7D81-4EB0-9FDE-D6EC5FE36EB8}"/>
              </a:ext>
            </a:extLst>
          </p:cNvPr>
          <p:cNvSpPr/>
          <p:nvPr/>
        </p:nvSpPr>
        <p:spPr>
          <a:xfrm>
            <a:off x="1275440" y="1285488"/>
            <a:ext cx="1621170" cy="1154990"/>
          </a:xfrm>
          <a:prstGeom prst="rect">
            <a:avLst/>
          </a:prstGeom>
          <a:noFill/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miter lim="800000"/>
          </a:ln>
          <a:effectLst/>
        </p:spPr>
        <p:txBody>
          <a:bodyPr rtlCol="0" anchor="b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900" kern="0" dirty="0">
              <a:solidFill>
                <a:srgbClr val="2482C8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0690B94-427E-4D95-A0E9-E8E2FC85E710}"/>
              </a:ext>
            </a:extLst>
          </p:cNvPr>
          <p:cNvSpPr/>
          <p:nvPr/>
        </p:nvSpPr>
        <p:spPr>
          <a:xfrm>
            <a:off x="1275439" y="1168775"/>
            <a:ext cx="1623036" cy="22762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공통</a:t>
            </a: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/</a:t>
            </a:r>
            <a:r>
              <a:rPr lang="ko-KR" altLang="en-US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업무</a:t>
            </a: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/IF</a:t>
            </a:r>
            <a:r>
              <a:rPr lang="ko-KR" altLang="en-US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서비스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73" name="Rectangle 27">
            <a:extLst>
              <a:ext uri="{FF2B5EF4-FFF2-40B4-BE49-F238E27FC236}">
                <a16:creationId xmlns:a16="http://schemas.microsoft.com/office/drawing/2014/main" id="{87F2C3D6-AC7E-4CD9-93AD-9DE1620A6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464" y="2194850"/>
            <a:ext cx="1612160" cy="231742"/>
          </a:xfrm>
          <a:prstGeom prst="rect">
            <a:avLst/>
          </a:prstGeom>
          <a:solidFill>
            <a:srgbClr val="0033CC"/>
          </a:solidFill>
          <a:ln w="317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Common </a:t>
            </a:r>
            <a:r>
              <a:rPr kumimoji="1" lang="en-US" altLang="ko-KR" sz="900" b="1" kern="0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module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Service</a:t>
            </a:r>
          </a:p>
        </p:txBody>
      </p:sp>
      <p:sp>
        <p:nvSpPr>
          <p:cNvPr id="75" name="Rectangle 8">
            <a:extLst>
              <a:ext uri="{FF2B5EF4-FFF2-40B4-BE49-F238E27FC236}">
                <a16:creationId xmlns:a16="http://schemas.microsoft.com/office/drawing/2014/main" id="{AA07801D-F08B-4C93-BEB4-A177FE8A4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701" y="1414659"/>
            <a:ext cx="1573453" cy="761117"/>
          </a:xfrm>
          <a:prstGeom prst="rect">
            <a:avLst/>
          </a:prstGeom>
          <a:solidFill>
            <a:srgbClr val="6699FF"/>
          </a:solidFill>
          <a:ln w="317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도메인별 단위 업무 </a:t>
            </a:r>
            <a:r>
              <a:rPr kumimoji="1" lang="ko-KR" altLang="en-US" sz="900" b="1" kern="0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6" name="Rectangle 8">
            <a:extLst>
              <a:ext uri="{FF2B5EF4-FFF2-40B4-BE49-F238E27FC236}">
                <a16:creationId xmlns:a16="http://schemas.microsoft.com/office/drawing/2014/main" id="{BCA3F925-DF94-4F70-8936-F24E1A96C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059" y="1429072"/>
            <a:ext cx="935272" cy="997520"/>
          </a:xfrm>
          <a:prstGeom prst="rect">
            <a:avLst/>
          </a:prstGeom>
          <a:solidFill>
            <a:srgbClr val="6699FF"/>
          </a:solidFill>
          <a:ln w="317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단위 업무 모듈</a:t>
            </a:r>
          </a:p>
        </p:txBody>
      </p:sp>
      <p:sp>
        <p:nvSpPr>
          <p:cNvPr id="78" name="AutoShape 29">
            <a:extLst>
              <a:ext uri="{FF2B5EF4-FFF2-40B4-BE49-F238E27FC236}">
                <a16:creationId xmlns:a16="http://schemas.microsoft.com/office/drawing/2014/main" id="{79C9D8B8-A436-4BF0-A989-20D78517C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802" y="1446910"/>
            <a:ext cx="1479752" cy="528152"/>
          </a:xfrm>
          <a:prstGeom prst="roundRect">
            <a:avLst>
              <a:gd name="adj" fmla="val 20310"/>
            </a:avLst>
          </a:prstGeom>
          <a:solidFill>
            <a:srgbClr val="FFFFFF"/>
          </a:solidFill>
          <a:ln w="3175" algn="ctr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MVC 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모델 적용 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서비스</a:t>
            </a:r>
          </a:p>
        </p:txBody>
      </p:sp>
      <p:sp>
        <p:nvSpPr>
          <p:cNvPr id="79" name="AutoShape 29">
            <a:extLst>
              <a:ext uri="{FF2B5EF4-FFF2-40B4-BE49-F238E27FC236}">
                <a16:creationId xmlns:a16="http://schemas.microsoft.com/office/drawing/2014/main" id="{164C87A4-D0FE-490F-893F-659613475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035" y="1460453"/>
            <a:ext cx="898034" cy="719141"/>
          </a:xfrm>
          <a:prstGeom prst="roundRect">
            <a:avLst>
              <a:gd name="adj" fmla="val 20310"/>
            </a:avLst>
          </a:prstGeom>
          <a:solidFill>
            <a:srgbClr val="FFFFFF"/>
          </a:solidFill>
          <a:ln w="3175" algn="ctr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MVVM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모델적용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AF776678-3F46-4AD6-9E9C-5DBDAC1E0AE6}"/>
              </a:ext>
            </a:extLst>
          </p:cNvPr>
          <p:cNvSpPr/>
          <p:nvPr/>
        </p:nvSpPr>
        <p:spPr>
          <a:xfrm>
            <a:off x="4800036" y="4670430"/>
            <a:ext cx="4685182" cy="82263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Rectangle 26">
            <a:extLst>
              <a:ext uri="{FF2B5EF4-FFF2-40B4-BE49-F238E27FC236}">
                <a16:creationId xmlns:a16="http://schemas.microsoft.com/office/drawing/2014/main" id="{9C8C423D-2990-4CF8-A3B0-80F4AE744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1153" y="5628434"/>
            <a:ext cx="6490872" cy="660214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/>
            <a:r>
              <a:rPr lang="ko-KR" altLang="en-US" sz="11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개발서버</a:t>
            </a:r>
            <a:r>
              <a:rPr lang="en-US" altLang="ko-KR" sz="11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100" dirty="0" err="1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laas</a:t>
            </a:r>
            <a:r>
              <a:rPr lang="en-US" altLang="ko-KR" sz="11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)</a:t>
            </a:r>
            <a:endParaRPr lang="ko-KR" altLang="en-US" sz="1100" dirty="0">
              <a:solidFill>
                <a:srgbClr val="23476B"/>
              </a:solidFill>
              <a:latin typeface="다키 M Title" pitchFamily="2" charset="-127"/>
              <a:ea typeface="다키 M Title" pitchFamily="2" charset="-127"/>
              <a:cs typeface="Times New Roman" panose="02020603050405020304" pitchFamily="18" charset="0"/>
            </a:endParaRPr>
          </a:p>
        </p:txBody>
      </p:sp>
      <p:sp>
        <p:nvSpPr>
          <p:cNvPr id="89" name="Rectangle 28">
            <a:extLst>
              <a:ext uri="{FF2B5EF4-FFF2-40B4-BE49-F238E27FC236}">
                <a16:creationId xmlns:a16="http://schemas.microsoft.com/office/drawing/2014/main" id="{475C46BE-BBF7-4309-8139-FBA8A367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891" y="6043265"/>
            <a:ext cx="6485134" cy="236305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CentOS release 7.8.2003 (Core) 64bit</a:t>
            </a:r>
          </a:p>
        </p:txBody>
      </p:sp>
      <p:sp>
        <p:nvSpPr>
          <p:cNvPr id="90" name="Rectangle 29">
            <a:extLst>
              <a:ext uri="{FF2B5EF4-FFF2-40B4-BE49-F238E27FC236}">
                <a16:creationId xmlns:a16="http://schemas.microsoft.com/office/drawing/2014/main" id="{23F9D2D5-63BC-4DDB-9B7B-468968BF3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03" y="5838289"/>
            <a:ext cx="1811397" cy="19616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CPU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91" name="Rectangle 29">
            <a:extLst>
              <a:ext uri="{FF2B5EF4-FFF2-40B4-BE49-F238E27FC236}">
                <a16:creationId xmlns:a16="http://schemas.microsoft.com/office/drawing/2014/main" id="{C76382BF-5851-4FFA-BCB7-6FAA91B92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837226"/>
            <a:ext cx="1811397" cy="20093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Memory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92" name="Rectangle 29">
            <a:extLst>
              <a:ext uri="{FF2B5EF4-FFF2-40B4-BE49-F238E27FC236}">
                <a16:creationId xmlns:a16="http://schemas.microsoft.com/office/drawing/2014/main" id="{8D5539E7-C8FE-45FA-8B69-797BEA9F9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97" y="5837226"/>
            <a:ext cx="1811397" cy="20093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Disk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93" name="Rectangle 29">
            <a:extLst>
              <a:ext uri="{FF2B5EF4-FFF2-40B4-BE49-F238E27FC236}">
                <a16:creationId xmlns:a16="http://schemas.microsoft.com/office/drawing/2014/main" id="{851FE2BE-72A1-4413-9242-36CBA555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5794" y="5837226"/>
            <a:ext cx="1046231" cy="20093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 err="1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Etc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95" name="Rectangle 26">
            <a:extLst>
              <a:ext uri="{FF2B5EF4-FFF2-40B4-BE49-F238E27FC236}">
                <a16:creationId xmlns:a16="http://schemas.microsoft.com/office/drawing/2014/main" id="{B93194D8-FBFA-49C8-B32F-B40C04126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81" y="5959441"/>
            <a:ext cx="2441079" cy="378122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/>
            <a:r>
              <a:rPr lang="ko-KR" altLang="en-US" sz="10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개발서버</a:t>
            </a:r>
            <a:r>
              <a:rPr lang="en-US" altLang="ko-KR" sz="10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00" dirty="0" err="1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laas</a:t>
            </a:r>
            <a:r>
              <a:rPr lang="en-US" altLang="ko-KR" sz="1000" dirty="0">
                <a:solidFill>
                  <a:srgbClr val="23476B"/>
                </a:solidFill>
                <a:latin typeface="다키 M Title" pitchFamily="2" charset="-127"/>
                <a:ea typeface="다키 M Title" pitchFamily="2" charset="-127"/>
                <a:cs typeface="Times New Roman" panose="02020603050405020304" pitchFamily="18" charset="0"/>
              </a:rPr>
              <a:t>)</a:t>
            </a:r>
            <a:endParaRPr lang="ko-KR" altLang="en-US" sz="1000" dirty="0">
              <a:solidFill>
                <a:srgbClr val="23476B"/>
              </a:solidFill>
              <a:latin typeface="다키 M Title" pitchFamily="2" charset="-127"/>
              <a:ea typeface="다키 M Title" pitchFamily="2" charset="-127"/>
              <a:cs typeface="Times New Roman" panose="02020603050405020304" pitchFamily="18" charset="0"/>
            </a:endParaRPr>
          </a:p>
        </p:txBody>
      </p:sp>
      <p:sp>
        <p:nvSpPr>
          <p:cNvPr id="96" name="Rectangle 28">
            <a:extLst>
              <a:ext uri="{FF2B5EF4-FFF2-40B4-BE49-F238E27FC236}">
                <a16:creationId xmlns:a16="http://schemas.microsoft.com/office/drawing/2014/main" id="{683DB845-3727-4FA3-AD4B-A648A6AF1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61" y="6155160"/>
            <a:ext cx="2438921" cy="198969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CentOS 7.8.2003 (Core) 64bit</a:t>
            </a:r>
          </a:p>
        </p:txBody>
      </p:sp>
      <p:sp>
        <p:nvSpPr>
          <p:cNvPr id="97" name="Rectangle 29">
            <a:extLst>
              <a:ext uri="{FF2B5EF4-FFF2-40B4-BE49-F238E27FC236}">
                <a16:creationId xmlns:a16="http://schemas.microsoft.com/office/drawing/2014/main" id="{42865216-3DC4-4F05-85D4-BC780E4C7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82" y="5778781"/>
            <a:ext cx="1009581" cy="184402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JDK1.8.0.261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98" name="Rectangle 29">
            <a:extLst>
              <a:ext uri="{FF2B5EF4-FFF2-40B4-BE49-F238E27FC236}">
                <a16:creationId xmlns:a16="http://schemas.microsoft.com/office/drawing/2014/main" id="{169F4E0D-A855-4133-8E7C-CDC32CC61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81" y="5594066"/>
            <a:ext cx="1009581" cy="184402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MAVEN3.6.3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1AF495E-E593-4803-9954-B042C88691F1}"/>
              </a:ext>
            </a:extLst>
          </p:cNvPr>
          <p:cNvSpPr/>
          <p:nvPr/>
        </p:nvSpPr>
        <p:spPr>
          <a:xfrm>
            <a:off x="292168" y="4974600"/>
            <a:ext cx="1757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/>
              <a:t>Docker-Git-Jenkins </a:t>
            </a:r>
            <a:endParaRPr lang="ko-KR" altLang="en-US" sz="1400" dirty="0"/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08D9C589-8985-4621-B1C5-B34183258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81" y="5329477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(WAS)Tomcat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 9.0.36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02" name="Rectangle 29">
            <a:extLst>
              <a:ext uri="{FF2B5EF4-FFF2-40B4-BE49-F238E27FC236}">
                <a16:creationId xmlns:a16="http://schemas.microsoft.com/office/drawing/2014/main" id="{283FAF1C-8101-462D-8D72-92E48009B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151" y="5778468"/>
            <a:ext cx="1415020" cy="18374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Git (</a:t>
            </a:r>
            <a:r>
              <a:rPr kumimoji="1" lang="ko-KR" altLang="en-US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통합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APP</a:t>
            </a:r>
            <a:r>
              <a:rPr kumimoji="1" lang="ko-KR" altLang="en-US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소스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)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03" name="Rectangle 29">
            <a:extLst>
              <a:ext uri="{FF2B5EF4-FFF2-40B4-BE49-F238E27FC236}">
                <a16:creationId xmlns:a16="http://schemas.microsoft.com/office/drawing/2014/main" id="{CF4357A6-BDAB-42A9-BE3C-71E7EE894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290" y="5585052"/>
            <a:ext cx="1433170" cy="18564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Jenkins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04" name="Rectangle 29">
            <a:extLst>
              <a:ext uri="{FF2B5EF4-FFF2-40B4-BE49-F238E27FC236}">
                <a16:creationId xmlns:a16="http://schemas.microsoft.com/office/drawing/2014/main" id="{42D15976-89D0-480D-B949-FA9AF6984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857" y="5333337"/>
            <a:ext cx="1423603" cy="242919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Docker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408EFA98-B1AA-4A28-8A75-C45650CBF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880" y="5787264"/>
            <a:ext cx="185897" cy="176386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07BA4521-6850-48BE-BA99-3E7CA2E33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490" y="5605905"/>
            <a:ext cx="432573" cy="176961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FA6114B1-AF07-4F99-8103-4D4DF9CDD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12" y="5390048"/>
            <a:ext cx="148887" cy="148887"/>
          </a:xfrm>
          <a:prstGeom prst="rect">
            <a:avLst/>
          </a:prstGeom>
        </p:spPr>
      </p:pic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2FF6961-4E8B-4AEC-A176-04463FA8443E}"/>
              </a:ext>
            </a:extLst>
          </p:cNvPr>
          <p:cNvSpPr/>
          <p:nvPr/>
        </p:nvSpPr>
        <p:spPr>
          <a:xfrm>
            <a:off x="1965298" y="5025008"/>
            <a:ext cx="94288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Build &amp; Deploy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26817F57-C63F-414F-BB8F-A036525B2F6C}"/>
              </a:ext>
            </a:extLst>
          </p:cNvPr>
          <p:cNvSpPr/>
          <p:nvPr/>
        </p:nvSpPr>
        <p:spPr>
          <a:xfrm>
            <a:off x="1927543" y="5159266"/>
            <a:ext cx="9610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Docker Private</a:t>
            </a:r>
          </a:p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          Registry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D7BFF534-F3A3-4168-98E3-52CF7A00B6AD}"/>
              </a:ext>
            </a:extLst>
          </p:cNvPr>
          <p:cNvSpPr/>
          <p:nvPr/>
        </p:nvSpPr>
        <p:spPr>
          <a:xfrm>
            <a:off x="3131153" y="4220724"/>
            <a:ext cx="1504806" cy="1307873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CFD3CE3-33DC-45F0-94DB-8FF3C3DB1FFF}"/>
              </a:ext>
            </a:extLst>
          </p:cNvPr>
          <p:cNvSpPr/>
          <p:nvPr/>
        </p:nvSpPr>
        <p:spPr>
          <a:xfrm>
            <a:off x="3141603" y="4262260"/>
            <a:ext cx="12162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rgbClr val="000000"/>
                </a:solidFill>
                <a:latin typeface="다키 M" pitchFamily="2" charset="-127"/>
                <a:ea typeface="다키 M" pitchFamily="2" charset="-127"/>
              </a:rPr>
              <a:t>Oauth</a:t>
            </a:r>
            <a:r>
              <a:rPr lang="en-US" altLang="ko-KR" sz="1200" dirty="0">
                <a:solidFill>
                  <a:srgbClr val="000000"/>
                </a:solidFill>
                <a:latin typeface="다키 M" pitchFamily="2" charset="-127"/>
                <a:ea typeface="다키 M" pitchFamily="2" charset="-127"/>
              </a:rPr>
              <a:t>-Server</a:t>
            </a:r>
            <a:r>
              <a:rPr lang="en-US" altLang="ko-KR" sz="1200" dirty="0">
                <a:latin typeface="다키 M" pitchFamily="2" charset="-127"/>
                <a:ea typeface="다키 M" pitchFamily="2" charset="-127"/>
              </a:rPr>
              <a:t> </a:t>
            </a:r>
            <a:endParaRPr lang="ko-KR" altLang="en-US" sz="1200" dirty="0"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115" name="Rectangle 29">
            <a:extLst>
              <a:ext uri="{FF2B5EF4-FFF2-40B4-BE49-F238E27FC236}">
                <a16:creationId xmlns:a16="http://schemas.microsoft.com/office/drawing/2014/main" id="{8FA951C8-6302-4F7C-85BC-8B68CF52A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8041" y="5147427"/>
            <a:ext cx="1334151" cy="186629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16" name="Rectangle 31">
            <a:extLst>
              <a:ext uri="{FF2B5EF4-FFF2-40B4-BE49-F238E27FC236}">
                <a16:creationId xmlns:a16="http://schemas.microsoft.com/office/drawing/2014/main" id="{AE677EF1-2116-432C-B7D0-BAEFD51E2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8042" y="4947809"/>
            <a:ext cx="1334152" cy="195005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17" name="Rectangle 27">
            <a:extLst>
              <a:ext uri="{FF2B5EF4-FFF2-40B4-BE49-F238E27FC236}">
                <a16:creationId xmlns:a16="http://schemas.microsoft.com/office/drawing/2014/main" id="{F9A5EBE4-5A6C-4D51-B54E-D6D3C6CDF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759" y="4760617"/>
            <a:ext cx="1338436" cy="195005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(WAS)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19" name="Rectangle 27">
            <a:extLst>
              <a:ext uri="{FF2B5EF4-FFF2-40B4-BE49-F238E27FC236}">
                <a16:creationId xmlns:a16="http://schemas.microsoft.com/office/drawing/2014/main" id="{0683AD28-3C4F-4E54-9B5D-EBFA58F1D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14" y="4555154"/>
            <a:ext cx="1338436" cy="195005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Oauth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인증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Server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20" name="AutoShape 536">
            <a:extLst>
              <a:ext uri="{FF2B5EF4-FFF2-40B4-BE49-F238E27FC236}">
                <a16:creationId xmlns:a16="http://schemas.microsoft.com/office/drawing/2014/main" id="{07FCEEC8-B28F-4344-86FE-1B1500E0E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90" y="2970483"/>
            <a:ext cx="758783" cy="21735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 w="9525" algn="ctr">
            <a:solidFill>
              <a:srgbClr val="2096E6"/>
            </a:solidFill>
            <a:round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lIns="91428" tIns="45714" rIns="91428" bIns="45714" anchor="ctr"/>
          <a:lstStyle>
            <a:lvl1pPr algn="l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algn="l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algn="l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algn="l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827213" algn="l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2844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741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1988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6560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API Server</a:t>
            </a:r>
            <a:endParaRPr kumimoji="0" lang="ko-KR" altLang="en-US" sz="1000" b="1" kern="0" dirty="0">
              <a:solidFill>
                <a:prstClr val="white"/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5D805E28-B43D-41A2-A275-8A05CE34D291}"/>
              </a:ext>
            </a:extLst>
          </p:cNvPr>
          <p:cNvSpPr/>
          <p:nvPr/>
        </p:nvSpPr>
        <p:spPr>
          <a:xfrm>
            <a:off x="5075691" y="1563008"/>
            <a:ext cx="1100287" cy="1179137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23" name="Text Box 331">
            <a:extLst>
              <a:ext uri="{FF2B5EF4-FFF2-40B4-BE49-F238E27FC236}">
                <a16:creationId xmlns:a16="http://schemas.microsoft.com/office/drawing/2014/main" id="{99FEA835-1E6D-40A9-B56D-98E3103C9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3517" y="2087517"/>
            <a:ext cx="1008758" cy="411234"/>
          </a:xfrm>
          <a:prstGeom prst="rect">
            <a:avLst/>
          </a:prstGeom>
          <a:solidFill>
            <a:schemeClr val="bg1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indent="0" eaLnBrk="0" latinLnBrk="0" hangingPunct="0">
              <a:lnSpc>
                <a:spcPct val="120000"/>
              </a:lnSpc>
            </a:pPr>
            <a:endParaRPr lang="ko-KR" altLang="en-US" sz="700" dirty="0">
              <a:latin typeface="휴먼새내기체" pitchFamily="18" charset="-127"/>
              <a:ea typeface="휴먼새내기체" pitchFamily="18" charset="-127"/>
            </a:endParaRPr>
          </a:p>
        </p:txBody>
      </p:sp>
      <p:sp>
        <p:nvSpPr>
          <p:cNvPr id="124" name="Text Box 332">
            <a:extLst>
              <a:ext uri="{FF2B5EF4-FFF2-40B4-BE49-F238E27FC236}">
                <a16:creationId xmlns:a16="http://schemas.microsoft.com/office/drawing/2014/main" id="{5219DF62-AFF7-4164-8904-683030340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3594" y="1915274"/>
            <a:ext cx="1008758" cy="168275"/>
          </a:xfrm>
          <a:prstGeom prst="rect">
            <a:avLst/>
          </a:prstGeom>
          <a:solidFill>
            <a:srgbClr val="CCECFF"/>
          </a:solidFill>
          <a:ln w="9525">
            <a:solidFill>
              <a:srgbClr val="99CCFF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75" tIns="42688" rIns="85375" bIns="42688"/>
          <a:lstStyle>
            <a:lvl1pPr marL="101600" indent="-101600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4270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85248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281113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1709738" defTabSz="8524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1669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6241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0813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538538" defTabSz="852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>
              <a:buFont typeface="Wingdings" panose="05000000000000000000" pitchFamily="2" charset="2"/>
              <a:buNone/>
            </a:pPr>
            <a:r>
              <a:rPr lang="en-US" altLang="ko-KR" sz="700" b="1" dirty="0">
                <a:latin typeface="휴먼새내기체" pitchFamily="18" charset="-127"/>
                <a:ea typeface="휴먼새내기체" pitchFamily="18" charset="-127"/>
              </a:rPr>
              <a:t>INGRESS</a:t>
            </a:r>
          </a:p>
        </p:txBody>
      </p:sp>
      <p:pic>
        <p:nvPicPr>
          <p:cNvPr id="125" name="그림 124">
            <a:extLst>
              <a:ext uri="{FF2B5EF4-FFF2-40B4-BE49-F238E27FC236}">
                <a16:creationId xmlns:a16="http://schemas.microsoft.com/office/drawing/2014/main" id="{A0CC0EFA-B439-4B2B-BB19-3BB89E9D7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911" y="1910942"/>
            <a:ext cx="177759" cy="177759"/>
          </a:xfrm>
          <a:prstGeom prst="rect">
            <a:avLst/>
          </a:prstGeom>
        </p:spPr>
      </p:pic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23A9F914-410D-4B34-A7D5-EEBCC71BAD13}"/>
              </a:ext>
            </a:extLst>
          </p:cNvPr>
          <p:cNvSpPr/>
          <p:nvPr/>
        </p:nvSpPr>
        <p:spPr>
          <a:xfrm>
            <a:off x="5171348" y="2134252"/>
            <a:ext cx="884960" cy="296316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       Spring Cloud Gateway </a:t>
            </a:r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B814B574-AF18-4677-B072-FF120EF3BF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023" y="1848646"/>
            <a:ext cx="491123" cy="100457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7A437D9C-DA8C-4BDE-9E2D-1AA7C58299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653" y="1581391"/>
            <a:ext cx="355086" cy="198081"/>
          </a:xfrm>
          <a:prstGeom prst="rect">
            <a:avLst/>
          </a:prstGeom>
        </p:spPr>
      </p:pic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0B7EABD-A634-4C7D-ABD8-C65D2648BD0C}"/>
              </a:ext>
            </a:extLst>
          </p:cNvPr>
          <p:cNvSpPr/>
          <p:nvPr/>
        </p:nvSpPr>
        <p:spPr>
          <a:xfrm>
            <a:off x="5317405" y="1567706"/>
            <a:ext cx="8442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pic>
        <p:nvPicPr>
          <p:cNvPr id="130" name="그림 129">
            <a:extLst>
              <a:ext uri="{FF2B5EF4-FFF2-40B4-BE49-F238E27FC236}">
                <a16:creationId xmlns:a16="http://schemas.microsoft.com/office/drawing/2014/main" id="{7F467521-DF16-4406-8CDC-C1B057682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450" y="2146198"/>
            <a:ext cx="197788" cy="131056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EE1A0F91-D0EB-43C3-A4A6-45C614B9F5AE}"/>
              </a:ext>
            </a:extLst>
          </p:cNvPr>
          <p:cNvSpPr txBox="1"/>
          <p:nvPr/>
        </p:nvSpPr>
        <p:spPr>
          <a:xfrm>
            <a:off x="120390" y="552445"/>
            <a:ext cx="9031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다키 M" pitchFamily="2" charset="-127"/>
                <a:ea typeface="다키 M" pitchFamily="2" charset="-127"/>
              </a:rPr>
              <a:t>쿠버네티스</a:t>
            </a:r>
            <a:r>
              <a:rPr lang="ko-KR" altLang="en-US" dirty="0">
                <a:latin typeface="다키 M" pitchFamily="2" charset="-127"/>
                <a:ea typeface="다키 M" pitchFamily="2" charset="-127"/>
              </a:rPr>
              <a:t> </a:t>
            </a:r>
            <a:r>
              <a:rPr lang="en-US" altLang="ko-KR" dirty="0">
                <a:latin typeface="다키 M" pitchFamily="2" charset="-127"/>
                <a:ea typeface="다키 M" pitchFamily="2" charset="-127"/>
              </a:rPr>
              <a:t>– </a:t>
            </a:r>
            <a:r>
              <a:rPr lang="ko-KR" altLang="en-US" dirty="0" err="1">
                <a:latin typeface="다키 M" pitchFamily="2" charset="-127"/>
                <a:ea typeface="다키 M" pitchFamily="2" charset="-127"/>
              </a:rPr>
              <a:t>마이크로서비스</a:t>
            </a:r>
            <a:r>
              <a:rPr lang="ko-KR" altLang="en-US" dirty="0">
                <a:latin typeface="다키 M" pitchFamily="2" charset="-127"/>
                <a:ea typeface="다키 M" pitchFamily="2" charset="-127"/>
              </a:rPr>
              <a:t> 개발서버 구성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0821568-8D6E-437F-8714-2A817C7E2AE0}"/>
              </a:ext>
            </a:extLst>
          </p:cNvPr>
          <p:cNvCxnSpPr>
            <a:cxnSpLocks/>
            <a:stCxn id="105" idx="1"/>
            <a:endCxn id="59" idx="1"/>
          </p:cNvCxnSpPr>
          <p:nvPr/>
        </p:nvCxnSpPr>
        <p:spPr>
          <a:xfrm rot="10800000">
            <a:off x="262064" y="3064469"/>
            <a:ext cx="1147817" cy="2810988"/>
          </a:xfrm>
          <a:prstGeom prst="bentConnector3">
            <a:avLst>
              <a:gd name="adj1" fmla="val 115320"/>
            </a:avLst>
          </a:prstGeom>
          <a:ln>
            <a:prstDash val="lg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9450B507-7CD6-4008-851E-F67529D0FB69}"/>
              </a:ext>
            </a:extLst>
          </p:cNvPr>
          <p:cNvCxnSpPr>
            <a:cxnSpLocks/>
            <a:stCxn id="104" idx="0"/>
            <a:endCxn id="11" idx="2"/>
          </p:cNvCxnSpPr>
          <p:nvPr/>
        </p:nvCxnSpPr>
        <p:spPr>
          <a:xfrm rot="5400000" flipH="1" flipV="1">
            <a:off x="2191292" y="3649594"/>
            <a:ext cx="1600111" cy="176737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lgDash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29">
            <a:extLst>
              <a:ext uri="{FF2B5EF4-FFF2-40B4-BE49-F238E27FC236}">
                <a16:creationId xmlns:a16="http://schemas.microsoft.com/office/drawing/2014/main" id="{D8FFFEB8-10B5-4454-8472-E3717944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195" y="2510698"/>
            <a:ext cx="1000251" cy="15089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JDK1.8./Libs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C32140C3-C091-40A1-A57A-76FA58256D1C}"/>
              </a:ext>
            </a:extLst>
          </p:cNvPr>
          <p:cNvSpPr/>
          <p:nvPr/>
        </p:nvSpPr>
        <p:spPr>
          <a:xfrm>
            <a:off x="7351264" y="1111512"/>
            <a:ext cx="2133954" cy="1649630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61" name="그림 160">
            <a:extLst>
              <a:ext uri="{FF2B5EF4-FFF2-40B4-BE49-F238E27FC236}">
                <a16:creationId xmlns:a16="http://schemas.microsoft.com/office/drawing/2014/main" id="{FD161797-454C-4F24-9E69-22722D6A72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098" y="1129895"/>
            <a:ext cx="355025" cy="198081"/>
          </a:xfrm>
          <a:prstGeom prst="rect">
            <a:avLst/>
          </a:prstGeom>
        </p:spPr>
      </p:pic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10075C4-750B-491B-A9C6-A9BBAA3308D2}"/>
              </a:ext>
            </a:extLst>
          </p:cNvPr>
          <p:cNvSpPr/>
          <p:nvPr/>
        </p:nvSpPr>
        <p:spPr>
          <a:xfrm>
            <a:off x="7592934" y="1116210"/>
            <a:ext cx="187572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[02]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C630D782-3420-47B1-8D15-9A81D08C73A0}"/>
              </a:ext>
            </a:extLst>
          </p:cNvPr>
          <p:cNvSpPr/>
          <p:nvPr/>
        </p:nvSpPr>
        <p:spPr>
          <a:xfrm>
            <a:off x="7475580" y="1360162"/>
            <a:ext cx="898250" cy="15897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33E254AD-DBAC-4C44-A01F-76027C89059A}"/>
              </a:ext>
            </a:extLst>
          </p:cNvPr>
          <p:cNvSpPr/>
          <p:nvPr/>
        </p:nvSpPr>
        <p:spPr>
          <a:xfrm>
            <a:off x="8395257" y="1364932"/>
            <a:ext cx="956044" cy="15897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-proxy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D0304994-901A-4BA3-B76D-2E5D99DB1E77}"/>
              </a:ext>
            </a:extLst>
          </p:cNvPr>
          <p:cNvSpPr/>
          <p:nvPr/>
        </p:nvSpPr>
        <p:spPr>
          <a:xfrm>
            <a:off x="7475579" y="1535519"/>
            <a:ext cx="1875722" cy="1589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B" pitchFamily="2" charset="-127"/>
                <a:ea typeface="다키 B" pitchFamily="2" charset="-127"/>
              </a:rPr>
              <a:t>Container Runtime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D16584C0-4EF4-454C-B9D2-9B48FE65D2C4}"/>
              </a:ext>
            </a:extLst>
          </p:cNvPr>
          <p:cNvSpPr/>
          <p:nvPr/>
        </p:nvSpPr>
        <p:spPr>
          <a:xfrm>
            <a:off x="7482728" y="1937271"/>
            <a:ext cx="1868573" cy="418344"/>
          </a:xfrm>
          <a:prstGeom prst="roundRect">
            <a:avLst>
              <a:gd name="adj" fmla="val 1252"/>
            </a:avLst>
          </a:prstGeom>
          <a:solidFill>
            <a:srgbClr val="AAB8D3"/>
          </a:solidFill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100" dirty="0">
                <a:latin typeface="다키 L" pitchFamily="2" charset="-127"/>
                <a:ea typeface="다키 L" pitchFamily="2" charset="-127"/>
              </a:rPr>
              <a:t>단위 업무서비스</a:t>
            </a:r>
            <a:endParaRPr lang="en-US" altLang="ko-KR" sz="1100" dirty="0">
              <a:latin typeface="다키 L" pitchFamily="2" charset="-127"/>
              <a:ea typeface="다키 L" pitchFamily="2" charset="-127"/>
            </a:endParaRPr>
          </a:p>
          <a:p>
            <a:pPr algn="ctr"/>
            <a:endParaRPr lang="ko-KR" altLang="en-US" sz="11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25A50A49-A471-48BE-8ACC-0C29FBAC2905}"/>
              </a:ext>
            </a:extLst>
          </p:cNvPr>
          <p:cNvSpPr/>
          <p:nvPr/>
        </p:nvSpPr>
        <p:spPr>
          <a:xfrm>
            <a:off x="7568547" y="2144722"/>
            <a:ext cx="1703949" cy="198355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9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1D8724EC-230A-465F-9752-5435E8162AA0}"/>
              </a:ext>
            </a:extLst>
          </p:cNvPr>
          <p:cNvSpPr/>
          <p:nvPr/>
        </p:nvSpPr>
        <p:spPr>
          <a:xfrm>
            <a:off x="7482728" y="1731612"/>
            <a:ext cx="1875722" cy="19661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69" name="Rectangle 29">
            <a:extLst>
              <a:ext uri="{FF2B5EF4-FFF2-40B4-BE49-F238E27FC236}">
                <a16:creationId xmlns:a16="http://schemas.microsoft.com/office/drawing/2014/main" id="{3F1AEA16-0969-4527-ABC2-782B3D8B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9882" y="2400650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JDK1.8.0.261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70" name="Rectangle 29">
            <a:extLst>
              <a:ext uri="{FF2B5EF4-FFF2-40B4-BE49-F238E27FC236}">
                <a16:creationId xmlns:a16="http://schemas.microsoft.com/office/drawing/2014/main" id="{8E966130-2FE9-4775-9BEC-B2CD53A91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37" y="2400650"/>
            <a:ext cx="832014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/Lib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87146808-0D01-418D-B24F-6D3457265A87}"/>
              </a:ext>
            </a:extLst>
          </p:cNvPr>
          <p:cNvSpPr/>
          <p:nvPr/>
        </p:nvSpPr>
        <p:spPr>
          <a:xfrm>
            <a:off x="7351264" y="2943497"/>
            <a:ext cx="2133954" cy="1656670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029A47CB-4E79-4AF8-A71F-898256A20B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098" y="2961880"/>
            <a:ext cx="355025" cy="198081"/>
          </a:xfrm>
          <a:prstGeom prst="rect">
            <a:avLst/>
          </a:prstGeom>
        </p:spPr>
      </p:pic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291955F1-CE55-4761-961B-707C152C40DE}"/>
              </a:ext>
            </a:extLst>
          </p:cNvPr>
          <p:cNvSpPr/>
          <p:nvPr/>
        </p:nvSpPr>
        <p:spPr>
          <a:xfrm>
            <a:off x="7592934" y="2948195"/>
            <a:ext cx="167956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[03]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8F523C06-A0AF-40B1-B8DA-9058890193A6}"/>
              </a:ext>
            </a:extLst>
          </p:cNvPr>
          <p:cNvSpPr/>
          <p:nvPr/>
        </p:nvSpPr>
        <p:spPr>
          <a:xfrm>
            <a:off x="7475580" y="3204847"/>
            <a:ext cx="898250" cy="15897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6292F7B6-BBC6-4FE8-98CD-746468DDE577}"/>
              </a:ext>
            </a:extLst>
          </p:cNvPr>
          <p:cNvSpPr/>
          <p:nvPr/>
        </p:nvSpPr>
        <p:spPr>
          <a:xfrm>
            <a:off x="8395257" y="3209617"/>
            <a:ext cx="956044" cy="15897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-proxy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1AA55D03-AAFD-4F1F-8179-5E5C3043C90F}"/>
              </a:ext>
            </a:extLst>
          </p:cNvPr>
          <p:cNvSpPr/>
          <p:nvPr/>
        </p:nvSpPr>
        <p:spPr>
          <a:xfrm>
            <a:off x="7475579" y="3380204"/>
            <a:ext cx="1875722" cy="1589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B" pitchFamily="2" charset="-127"/>
                <a:ea typeface="다키 B" pitchFamily="2" charset="-127"/>
              </a:rPr>
              <a:t>Container Runtime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793C9BBA-6F8B-46F1-AF78-7A591E78458B}"/>
              </a:ext>
            </a:extLst>
          </p:cNvPr>
          <p:cNvSpPr/>
          <p:nvPr/>
        </p:nvSpPr>
        <p:spPr>
          <a:xfrm>
            <a:off x="7482728" y="3781956"/>
            <a:ext cx="1868573" cy="418344"/>
          </a:xfrm>
          <a:prstGeom prst="roundRect">
            <a:avLst>
              <a:gd name="adj" fmla="val 1252"/>
            </a:avLst>
          </a:prstGeom>
          <a:solidFill>
            <a:srgbClr val="AAB8D3"/>
          </a:solidFill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100" dirty="0">
                <a:latin typeface="다키 L" pitchFamily="2" charset="-127"/>
                <a:ea typeface="다키 L" pitchFamily="2" charset="-127"/>
              </a:rPr>
              <a:t>인터페이스 서비스</a:t>
            </a:r>
            <a:endParaRPr lang="en-US" altLang="ko-KR" sz="1100" dirty="0">
              <a:latin typeface="다키 L" pitchFamily="2" charset="-127"/>
              <a:ea typeface="다키 L" pitchFamily="2" charset="-127"/>
            </a:endParaRPr>
          </a:p>
          <a:p>
            <a:pPr algn="ctr"/>
            <a:endParaRPr lang="ko-KR" altLang="en-US" sz="11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4DEE8DF0-128D-4A40-9D7D-604CBA0685D4}"/>
              </a:ext>
            </a:extLst>
          </p:cNvPr>
          <p:cNvSpPr/>
          <p:nvPr/>
        </p:nvSpPr>
        <p:spPr>
          <a:xfrm>
            <a:off x="7568547" y="3989407"/>
            <a:ext cx="1703949" cy="198355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9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334EF25E-4761-4ED1-9B61-F858D6CFA12F}"/>
              </a:ext>
            </a:extLst>
          </p:cNvPr>
          <p:cNvSpPr/>
          <p:nvPr/>
        </p:nvSpPr>
        <p:spPr>
          <a:xfrm>
            <a:off x="7482728" y="3576297"/>
            <a:ext cx="1875722" cy="19661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85" name="Rectangle 29">
            <a:extLst>
              <a:ext uri="{FF2B5EF4-FFF2-40B4-BE49-F238E27FC236}">
                <a16:creationId xmlns:a16="http://schemas.microsoft.com/office/drawing/2014/main" id="{3BE68073-6509-4FDE-AF34-D02D11F96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9882" y="4245335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JDK1.8.0.261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86" name="Rectangle 29">
            <a:extLst>
              <a:ext uri="{FF2B5EF4-FFF2-40B4-BE49-F238E27FC236}">
                <a16:creationId xmlns:a16="http://schemas.microsoft.com/office/drawing/2014/main" id="{4289C807-01CF-4B14-ADCC-F9C48AEE1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37" y="4245335"/>
            <a:ext cx="832014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/Lib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53452425-A2FE-4989-8B57-20F7247B4A70}"/>
              </a:ext>
            </a:extLst>
          </p:cNvPr>
          <p:cNvSpPr/>
          <p:nvPr/>
        </p:nvSpPr>
        <p:spPr>
          <a:xfrm>
            <a:off x="4826386" y="2940836"/>
            <a:ext cx="2133954" cy="1656670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6A63A855-4C86-4F9E-BFEC-DD0C0217C1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220" y="2959219"/>
            <a:ext cx="355025" cy="198081"/>
          </a:xfrm>
          <a:prstGeom prst="rect">
            <a:avLst/>
          </a:prstGeom>
        </p:spPr>
      </p:pic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0840C92F-A7D0-4AF5-AF09-8D3665E62808}"/>
              </a:ext>
            </a:extLst>
          </p:cNvPr>
          <p:cNvSpPr/>
          <p:nvPr/>
        </p:nvSpPr>
        <p:spPr>
          <a:xfrm>
            <a:off x="5068056" y="2958234"/>
            <a:ext cx="176551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DataBase</a:t>
            </a:r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 Server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DEE7A001-514E-4EBB-AC63-D8B79582FECA}"/>
              </a:ext>
            </a:extLst>
          </p:cNvPr>
          <p:cNvSpPr/>
          <p:nvPr/>
        </p:nvSpPr>
        <p:spPr>
          <a:xfrm>
            <a:off x="4950702" y="3227586"/>
            <a:ext cx="898250" cy="15897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kubelet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3CC6BCEA-525A-4A4A-BD37-B231EA53BC5D}"/>
              </a:ext>
            </a:extLst>
          </p:cNvPr>
          <p:cNvSpPr/>
          <p:nvPr/>
        </p:nvSpPr>
        <p:spPr>
          <a:xfrm>
            <a:off x="5870379" y="3232356"/>
            <a:ext cx="956044" cy="15897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err="1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Kube</a:t>
            </a: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-proxy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22358E31-A429-4781-8869-D8403AB49CB4}"/>
              </a:ext>
            </a:extLst>
          </p:cNvPr>
          <p:cNvSpPr/>
          <p:nvPr/>
        </p:nvSpPr>
        <p:spPr>
          <a:xfrm>
            <a:off x="4950701" y="3402943"/>
            <a:ext cx="1875722" cy="1589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다키 B" pitchFamily="2" charset="-127"/>
                <a:ea typeface="다키 B" pitchFamily="2" charset="-127"/>
              </a:rPr>
              <a:t>Container Runtime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03C696D1-310D-415B-9A99-B474F18C003B}"/>
              </a:ext>
            </a:extLst>
          </p:cNvPr>
          <p:cNvSpPr/>
          <p:nvPr/>
        </p:nvSpPr>
        <p:spPr>
          <a:xfrm>
            <a:off x="4957850" y="3804695"/>
            <a:ext cx="1868573" cy="418344"/>
          </a:xfrm>
          <a:prstGeom prst="roundRect">
            <a:avLst>
              <a:gd name="adj" fmla="val 1252"/>
            </a:avLst>
          </a:prstGeom>
          <a:solidFill>
            <a:srgbClr val="AAB8D3"/>
          </a:solidFill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100" dirty="0">
                <a:latin typeface="다키 L" pitchFamily="2" charset="-127"/>
                <a:ea typeface="다키 L" pitchFamily="2" charset="-127"/>
              </a:rPr>
              <a:t>MariaDB/</a:t>
            </a:r>
            <a:r>
              <a:rPr lang="ko-KR" altLang="en-US" sz="1100" dirty="0">
                <a:latin typeface="다키 L" pitchFamily="2" charset="-127"/>
                <a:ea typeface="다키 L" pitchFamily="2" charset="-127"/>
              </a:rPr>
              <a:t>몽고</a:t>
            </a:r>
            <a:r>
              <a:rPr lang="en-US" altLang="ko-KR" sz="1100" dirty="0">
                <a:latin typeface="다키 L" pitchFamily="2" charset="-127"/>
                <a:ea typeface="다키 L" pitchFamily="2" charset="-127"/>
              </a:rPr>
              <a:t>DB</a:t>
            </a:r>
          </a:p>
          <a:p>
            <a:pPr algn="ctr"/>
            <a:endParaRPr lang="ko-KR" altLang="en-US" sz="11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C60EB37E-2C73-4631-A5DB-A7247E0A5559}"/>
              </a:ext>
            </a:extLst>
          </p:cNvPr>
          <p:cNvSpPr/>
          <p:nvPr/>
        </p:nvSpPr>
        <p:spPr>
          <a:xfrm>
            <a:off x="5043669" y="4012146"/>
            <a:ext cx="1703949" cy="198355"/>
          </a:xfrm>
          <a:prstGeom prst="roundRect">
            <a:avLst>
              <a:gd name="adj" fmla="val 1252"/>
            </a:avLst>
          </a:prstGeom>
          <a:solidFill>
            <a:srgbClr val="3790AE"/>
          </a:solidFill>
          <a:ln w="19050">
            <a:solidFill>
              <a:srgbClr val="AAB8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900" dirty="0">
                <a:latin typeface="다키 L" pitchFamily="2" charset="-127"/>
                <a:ea typeface="다키 L" pitchFamily="2" charset="-127"/>
              </a:rPr>
              <a:t>Container</a:t>
            </a:r>
            <a:endParaRPr lang="ko-KR" altLang="en-US" sz="900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3B1F4059-3D4F-40E0-9E2C-D09F4C8A5B0D}"/>
              </a:ext>
            </a:extLst>
          </p:cNvPr>
          <p:cNvSpPr/>
          <p:nvPr/>
        </p:nvSpPr>
        <p:spPr>
          <a:xfrm>
            <a:off x="4957850" y="3599036"/>
            <a:ext cx="1875722" cy="19661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다키 L" pitchFamily="2" charset="-127"/>
                <a:ea typeface="다키 L" pitchFamily="2" charset="-127"/>
              </a:rPr>
              <a:t>Pod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+mn-cs"/>
            </a:endParaRPr>
          </a:p>
        </p:txBody>
      </p:sp>
      <p:sp>
        <p:nvSpPr>
          <p:cNvPr id="196" name="Rectangle 29">
            <a:extLst>
              <a:ext uri="{FF2B5EF4-FFF2-40B4-BE49-F238E27FC236}">
                <a16:creationId xmlns:a16="http://schemas.microsoft.com/office/drawing/2014/main" id="{25279EE2-C7B1-43D5-9AD3-5037CC288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5004" y="4268074"/>
            <a:ext cx="1009581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JDK1.8.0.261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197" name="Rectangle 29">
            <a:extLst>
              <a:ext uri="{FF2B5EF4-FFF2-40B4-BE49-F238E27FC236}">
                <a16:creationId xmlns:a16="http://schemas.microsoft.com/office/drawing/2014/main" id="{0C1C3421-60C7-442F-90CE-A3BB7369A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1559" y="4268074"/>
            <a:ext cx="832014" cy="261944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/Lib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6B3931C3-0B83-4892-B599-8B4B6F3F6B1F}"/>
              </a:ext>
            </a:extLst>
          </p:cNvPr>
          <p:cNvSpPr/>
          <p:nvPr/>
        </p:nvSpPr>
        <p:spPr>
          <a:xfrm>
            <a:off x="3021286" y="913921"/>
            <a:ext cx="1307842" cy="287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개발서버 환경구성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2956B71F-392D-4CCF-B055-11BB4B525112}"/>
              </a:ext>
            </a:extLst>
          </p:cNvPr>
          <p:cNvSpPr/>
          <p:nvPr/>
        </p:nvSpPr>
        <p:spPr>
          <a:xfrm>
            <a:off x="7491667" y="4765826"/>
            <a:ext cx="1893851" cy="66864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18" name="그림 217">
            <a:extLst>
              <a:ext uri="{FF2B5EF4-FFF2-40B4-BE49-F238E27FC236}">
                <a16:creationId xmlns:a16="http://schemas.microsoft.com/office/drawing/2014/main" id="{610DD2D8-3488-43E6-B9AD-C0B91BBE6C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953" y="4763509"/>
            <a:ext cx="355086" cy="198081"/>
          </a:xfrm>
          <a:prstGeom prst="rect">
            <a:avLst/>
          </a:prstGeom>
        </p:spPr>
      </p:pic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633B8B55-4752-4B8F-912E-12A4A1B906A3}"/>
              </a:ext>
            </a:extLst>
          </p:cNvPr>
          <p:cNvSpPr/>
          <p:nvPr/>
        </p:nvSpPr>
        <p:spPr>
          <a:xfrm>
            <a:off x="7715705" y="4749824"/>
            <a:ext cx="8442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[EFK]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C13E5383-0307-4E7F-95B7-E18CB75FE6BE}"/>
              </a:ext>
            </a:extLst>
          </p:cNvPr>
          <p:cNvSpPr/>
          <p:nvPr/>
        </p:nvSpPr>
        <p:spPr>
          <a:xfrm>
            <a:off x="7546246" y="5102173"/>
            <a:ext cx="996997" cy="29362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21" name="그림 220">
            <a:extLst>
              <a:ext uri="{FF2B5EF4-FFF2-40B4-BE49-F238E27FC236}">
                <a16:creationId xmlns:a16="http://schemas.microsoft.com/office/drawing/2014/main" id="{5A135C11-C882-4B72-B4D1-F9FF0DE1FD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942" y="4890630"/>
            <a:ext cx="177759" cy="177759"/>
          </a:xfrm>
          <a:prstGeom prst="rect">
            <a:avLst/>
          </a:prstGeom>
        </p:spPr>
      </p:pic>
      <p:sp>
        <p:nvSpPr>
          <p:cNvPr id="222" name="사각형: 둥근 모서리 221">
            <a:extLst>
              <a:ext uri="{FF2B5EF4-FFF2-40B4-BE49-F238E27FC236}">
                <a16:creationId xmlns:a16="http://schemas.microsoft.com/office/drawing/2014/main" id="{9D0FB55E-8B27-4BEC-9D63-8E1D6E65DA16}"/>
              </a:ext>
            </a:extLst>
          </p:cNvPr>
          <p:cNvSpPr/>
          <p:nvPr/>
        </p:nvSpPr>
        <p:spPr>
          <a:xfrm>
            <a:off x="7588384" y="5130265"/>
            <a:ext cx="920894" cy="217808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EFK Server</a:t>
            </a: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BB00CF9B-29AC-4FD4-8459-49F0E7CC0BC0}"/>
              </a:ext>
            </a:extLst>
          </p:cNvPr>
          <p:cNvSpPr/>
          <p:nvPr/>
        </p:nvSpPr>
        <p:spPr>
          <a:xfrm>
            <a:off x="6261564" y="1136279"/>
            <a:ext cx="1004661" cy="66864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24" name="그림 223">
            <a:extLst>
              <a:ext uri="{FF2B5EF4-FFF2-40B4-BE49-F238E27FC236}">
                <a16:creationId xmlns:a16="http://schemas.microsoft.com/office/drawing/2014/main" id="{1F7A0614-302B-4EBC-ACF0-FC696369B0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49" y="1133962"/>
            <a:ext cx="355086" cy="198081"/>
          </a:xfrm>
          <a:prstGeom prst="rect">
            <a:avLst/>
          </a:prstGeom>
        </p:spPr>
      </p:pic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F88737BF-61A6-414C-AB07-177580E00CC4}"/>
              </a:ext>
            </a:extLst>
          </p:cNvPr>
          <p:cNvSpPr/>
          <p:nvPr/>
        </p:nvSpPr>
        <p:spPr>
          <a:xfrm>
            <a:off x="6485601" y="1120277"/>
            <a:ext cx="8442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0766C9CF-842B-4D29-B166-2DD5232DC2DE}"/>
              </a:ext>
            </a:extLst>
          </p:cNvPr>
          <p:cNvSpPr/>
          <p:nvPr/>
        </p:nvSpPr>
        <p:spPr>
          <a:xfrm>
            <a:off x="6316142" y="1472626"/>
            <a:ext cx="910775" cy="293959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EB10C0B2-0649-48AA-95F6-8A4941ECA5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838" y="1261083"/>
            <a:ext cx="177759" cy="177759"/>
          </a:xfrm>
          <a:prstGeom prst="rect">
            <a:avLst/>
          </a:prstGeom>
        </p:spPr>
      </p:pic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9EC82B09-1748-45A6-BAC9-B357C91FA297}"/>
              </a:ext>
            </a:extLst>
          </p:cNvPr>
          <p:cNvSpPr/>
          <p:nvPr/>
        </p:nvSpPr>
        <p:spPr>
          <a:xfrm>
            <a:off x="6358280" y="1500718"/>
            <a:ext cx="819039" cy="217117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Redis Server</a:t>
            </a: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D49BAD89-C016-4492-A1E5-9CC1F78C52B8}"/>
              </a:ext>
            </a:extLst>
          </p:cNvPr>
          <p:cNvSpPr/>
          <p:nvPr/>
        </p:nvSpPr>
        <p:spPr>
          <a:xfrm>
            <a:off x="4826733" y="4701079"/>
            <a:ext cx="114618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Monitoring</a:t>
            </a:r>
          </a:p>
        </p:txBody>
      </p:sp>
      <p:sp>
        <p:nvSpPr>
          <p:cNvPr id="230" name="Rectangle 29">
            <a:extLst>
              <a:ext uri="{FF2B5EF4-FFF2-40B4-BE49-F238E27FC236}">
                <a16:creationId xmlns:a16="http://schemas.microsoft.com/office/drawing/2014/main" id="{A7466F0C-C9C5-4195-BAA0-CA7B6B4A5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945" y="5006804"/>
            <a:ext cx="770565" cy="18429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31" name="Rectangle 29">
            <a:extLst>
              <a:ext uri="{FF2B5EF4-FFF2-40B4-BE49-F238E27FC236}">
                <a16:creationId xmlns:a16="http://schemas.microsoft.com/office/drawing/2014/main" id="{BE6AFBEB-246F-45BD-AC39-C6B07D0F4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8195" y="5211403"/>
            <a:ext cx="770565" cy="17226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/Lib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420E83E7-D0C7-40D9-810C-51E2C19F4D80}"/>
              </a:ext>
            </a:extLst>
          </p:cNvPr>
          <p:cNvSpPr/>
          <p:nvPr/>
        </p:nvSpPr>
        <p:spPr>
          <a:xfrm>
            <a:off x="5543628" y="4765826"/>
            <a:ext cx="1893851" cy="66864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33" name="그림 232">
            <a:extLst>
              <a:ext uri="{FF2B5EF4-FFF2-40B4-BE49-F238E27FC236}">
                <a16:creationId xmlns:a16="http://schemas.microsoft.com/office/drawing/2014/main" id="{05F5298D-5D34-429C-8DC9-C739A476B4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914" y="4763509"/>
            <a:ext cx="355086" cy="198081"/>
          </a:xfrm>
          <a:prstGeom prst="rect">
            <a:avLst/>
          </a:prstGeom>
        </p:spPr>
      </p:pic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DDEDB613-80BC-47A3-A342-9C8D73AD7E21}"/>
              </a:ext>
            </a:extLst>
          </p:cNvPr>
          <p:cNvSpPr/>
          <p:nvPr/>
        </p:nvSpPr>
        <p:spPr>
          <a:xfrm>
            <a:off x="5767666" y="4749824"/>
            <a:ext cx="8442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</a:t>
            </a:r>
            <a:r>
              <a:rPr lang="en-US" altLang="ko-KR" sz="800" b="1" dirty="0" err="1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zipkin</a:t>
            </a:r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2B2ECE07-1A81-48C9-97FF-EF9FC48CCA00}"/>
              </a:ext>
            </a:extLst>
          </p:cNvPr>
          <p:cNvSpPr/>
          <p:nvPr/>
        </p:nvSpPr>
        <p:spPr>
          <a:xfrm>
            <a:off x="5598207" y="5102173"/>
            <a:ext cx="996997" cy="29362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36" name="그림 235">
            <a:extLst>
              <a:ext uri="{FF2B5EF4-FFF2-40B4-BE49-F238E27FC236}">
                <a16:creationId xmlns:a16="http://schemas.microsoft.com/office/drawing/2014/main" id="{8B5B5929-855F-4238-836D-6A0F9EF921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903" y="4890630"/>
            <a:ext cx="177759" cy="177759"/>
          </a:xfrm>
          <a:prstGeom prst="rect">
            <a:avLst/>
          </a:prstGeom>
        </p:spPr>
      </p:pic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5D43DF1C-E7E4-4838-BDF5-843CA36CCADE}"/>
              </a:ext>
            </a:extLst>
          </p:cNvPr>
          <p:cNvSpPr/>
          <p:nvPr/>
        </p:nvSpPr>
        <p:spPr>
          <a:xfrm>
            <a:off x="5640345" y="5130265"/>
            <a:ext cx="920894" cy="217808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ZIPKIN Server</a:t>
            </a:r>
          </a:p>
        </p:txBody>
      </p:sp>
      <p:sp>
        <p:nvSpPr>
          <p:cNvPr id="238" name="Rectangle 29">
            <a:extLst>
              <a:ext uri="{FF2B5EF4-FFF2-40B4-BE49-F238E27FC236}">
                <a16:creationId xmlns:a16="http://schemas.microsoft.com/office/drawing/2014/main" id="{8209FFE1-936F-4185-AF56-DC06173E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906" y="5006804"/>
            <a:ext cx="770565" cy="18429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39" name="Rectangle 29">
            <a:extLst>
              <a:ext uri="{FF2B5EF4-FFF2-40B4-BE49-F238E27FC236}">
                <a16:creationId xmlns:a16="http://schemas.microsoft.com/office/drawing/2014/main" id="{0660FCBC-E449-4E63-B58C-7E1B64359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156" y="5211403"/>
            <a:ext cx="770565" cy="17226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/Lib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241" name="연결선: 꺾임 240">
            <a:extLst>
              <a:ext uri="{FF2B5EF4-FFF2-40B4-BE49-F238E27FC236}">
                <a16:creationId xmlns:a16="http://schemas.microsoft.com/office/drawing/2014/main" id="{C109E722-9C91-4274-8FD1-2BEE93A42D8D}"/>
              </a:ext>
            </a:extLst>
          </p:cNvPr>
          <p:cNvCxnSpPr>
            <a:cxnSpLocks/>
            <a:stCxn id="120" idx="0"/>
            <a:endCxn id="124" idx="2"/>
          </p:cNvCxnSpPr>
          <p:nvPr/>
        </p:nvCxnSpPr>
        <p:spPr>
          <a:xfrm rot="5400000" flipH="1" flipV="1">
            <a:off x="4562060" y="1904571"/>
            <a:ext cx="886934" cy="124489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4" name="화살표: 오른쪽 243">
            <a:extLst>
              <a:ext uri="{FF2B5EF4-FFF2-40B4-BE49-F238E27FC236}">
                <a16:creationId xmlns:a16="http://schemas.microsoft.com/office/drawing/2014/main" id="{99871C83-3E2C-4508-991D-D96C925796AE}"/>
              </a:ext>
            </a:extLst>
          </p:cNvPr>
          <p:cNvSpPr/>
          <p:nvPr/>
        </p:nvSpPr>
        <p:spPr>
          <a:xfrm>
            <a:off x="6316142" y="2003612"/>
            <a:ext cx="932375" cy="2420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화살표: 오른쪽 244">
            <a:extLst>
              <a:ext uri="{FF2B5EF4-FFF2-40B4-BE49-F238E27FC236}">
                <a16:creationId xmlns:a16="http://schemas.microsoft.com/office/drawing/2014/main" id="{3DB7EC61-BCBB-4BE4-9015-9DDC467330EF}"/>
              </a:ext>
            </a:extLst>
          </p:cNvPr>
          <p:cNvSpPr/>
          <p:nvPr/>
        </p:nvSpPr>
        <p:spPr>
          <a:xfrm rot="2679738">
            <a:off x="6529588" y="2445197"/>
            <a:ext cx="798949" cy="22422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화살표: 아래쪽 245">
            <a:extLst>
              <a:ext uri="{FF2B5EF4-FFF2-40B4-BE49-F238E27FC236}">
                <a16:creationId xmlns:a16="http://schemas.microsoft.com/office/drawing/2014/main" id="{C631B395-1103-4BB6-A824-CBA99E802B26}"/>
              </a:ext>
            </a:extLst>
          </p:cNvPr>
          <p:cNvSpPr/>
          <p:nvPr/>
        </p:nvSpPr>
        <p:spPr>
          <a:xfrm>
            <a:off x="6358280" y="2219753"/>
            <a:ext cx="236924" cy="66240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7" name="연결선: 꺾임 246">
            <a:extLst>
              <a:ext uri="{FF2B5EF4-FFF2-40B4-BE49-F238E27FC236}">
                <a16:creationId xmlns:a16="http://schemas.microsoft.com/office/drawing/2014/main" id="{9A5BB4BA-3975-44E2-A80D-BB2913C7F306}"/>
              </a:ext>
            </a:extLst>
          </p:cNvPr>
          <p:cNvCxnSpPr>
            <a:cxnSpLocks/>
            <a:stCxn id="119" idx="3"/>
            <a:endCxn id="126" idx="1"/>
          </p:cNvCxnSpPr>
          <p:nvPr/>
        </p:nvCxnSpPr>
        <p:spPr>
          <a:xfrm flipV="1">
            <a:off x="4553450" y="2282410"/>
            <a:ext cx="617898" cy="2370247"/>
          </a:xfrm>
          <a:prstGeom prst="bentConnector3">
            <a:avLst>
              <a:gd name="adj1" fmla="val 33557"/>
            </a:avLst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53" name="순서도: 병합 252">
            <a:extLst>
              <a:ext uri="{FF2B5EF4-FFF2-40B4-BE49-F238E27FC236}">
                <a16:creationId xmlns:a16="http://schemas.microsoft.com/office/drawing/2014/main" id="{70EA0F8B-4477-44B8-980F-9A4B32FDE5D5}"/>
              </a:ext>
            </a:extLst>
          </p:cNvPr>
          <p:cNvSpPr/>
          <p:nvPr/>
        </p:nvSpPr>
        <p:spPr>
          <a:xfrm>
            <a:off x="8094701" y="4623878"/>
            <a:ext cx="617898" cy="112151"/>
          </a:xfrm>
          <a:prstGeom prst="flowChartMerg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사각형: 둥근 모서리 254">
            <a:extLst>
              <a:ext uri="{FF2B5EF4-FFF2-40B4-BE49-F238E27FC236}">
                <a16:creationId xmlns:a16="http://schemas.microsoft.com/office/drawing/2014/main" id="{777B4A26-5027-400B-8F0E-56195B7D79FE}"/>
              </a:ext>
            </a:extLst>
          </p:cNvPr>
          <p:cNvSpPr/>
          <p:nvPr/>
        </p:nvSpPr>
        <p:spPr>
          <a:xfrm>
            <a:off x="3148213" y="1380692"/>
            <a:ext cx="1627825" cy="668643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56" name="그림 255">
            <a:extLst>
              <a:ext uri="{FF2B5EF4-FFF2-40B4-BE49-F238E27FC236}">
                <a16:creationId xmlns:a16="http://schemas.microsoft.com/office/drawing/2014/main" id="{ACF33FFF-253F-4B62-80C1-DABC8DAC6A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498" y="1378375"/>
            <a:ext cx="355086" cy="198081"/>
          </a:xfrm>
          <a:prstGeom prst="rect">
            <a:avLst/>
          </a:prstGeom>
        </p:spPr>
      </p:pic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14B80C2F-29F6-4C8F-9D0E-84BDA5B299FF}"/>
              </a:ext>
            </a:extLst>
          </p:cNvPr>
          <p:cNvSpPr/>
          <p:nvPr/>
        </p:nvSpPr>
        <p:spPr>
          <a:xfrm>
            <a:off x="3372250" y="1364690"/>
            <a:ext cx="8442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1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rPr>
              <a:t>Worker Node [01]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sp>
        <p:nvSpPr>
          <p:cNvPr id="258" name="사각형: 둥근 모서리 257">
            <a:extLst>
              <a:ext uri="{FF2B5EF4-FFF2-40B4-BE49-F238E27FC236}">
                <a16:creationId xmlns:a16="http://schemas.microsoft.com/office/drawing/2014/main" id="{E2DBF4E7-EDDF-4059-A5BB-F823EC820730}"/>
              </a:ext>
            </a:extLst>
          </p:cNvPr>
          <p:cNvSpPr/>
          <p:nvPr/>
        </p:nvSpPr>
        <p:spPr>
          <a:xfrm>
            <a:off x="3197900" y="1717040"/>
            <a:ext cx="945803" cy="28149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1EA31C5E-7649-49FD-B56D-91D9F5CA6E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487" y="1505496"/>
            <a:ext cx="177759" cy="177759"/>
          </a:xfrm>
          <a:prstGeom prst="rect">
            <a:avLst/>
          </a:prstGeom>
        </p:spPr>
      </p:pic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3A4FF41B-C625-43B8-9E98-529BFE03C460}"/>
              </a:ext>
            </a:extLst>
          </p:cNvPr>
          <p:cNvSpPr/>
          <p:nvPr/>
        </p:nvSpPr>
        <p:spPr>
          <a:xfrm>
            <a:off x="3232229" y="1754421"/>
            <a:ext cx="830383" cy="209425"/>
          </a:xfrm>
          <a:prstGeom prst="roundRect">
            <a:avLst/>
          </a:prstGeom>
          <a:solidFill>
            <a:srgbClr val="7891C2"/>
          </a:solidFill>
          <a:ln>
            <a:solidFill>
              <a:srgbClr val="466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700" dirty="0">
                <a:solidFill>
                  <a:schemeClr val="bg1"/>
                </a:solidFill>
                <a:latin typeface="다키 M" pitchFamily="2" charset="-127"/>
                <a:ea typeface="다키 M" pitchFamily="2" charset="-127"/>
              </a:rPr>
              <a:t>Tomcat Server</a:t>
            </a:r>
          </a:p>
        </p:txBody>
      </p:sp>
      <p:sp>
        <p:nvSpPr>
          <p:cNvPr id="261" name="Rectangle 29">
            <a:extLst>
              <a:ext uri="{FF2B5EF4-FFF2-40B4-BE49-F238E27FC236}">
                <a16:creationId xmlns:a16="http://schemas.microsoft.com/office/drawing/2014/main" id="{47502618-327B-4326-8491-EB3C14A01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779" y="1621670"/>
            <a:ext cx="519736" cy="18429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JDK1.8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62" name="Rectangle 29">
            <a:extLst>
              <a:ext uri="{FF2B5EF4-FFF2-40B4-BE49-F238E27FC236}">
                <a16:creationId xmlns:a16="http://schemas.microsoft.com/office/drawing/2014/main" id="{FD029CDA-20E6-472D-B4A3-890DBB243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469" y="1826268"/>
            <a:ext cx="519046" cy="17226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/Lib</a:t>
            </a:r>
            <a:r>
              <a:rPr kumimoji="1" lang="en-US" altLang="ko-KR" sz="900" kern="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63" name="Rectangle 29">
            <a:extLst>
              <a:ext uri="{FF2B5EF4-FFF2-40B4-BE49-F238E27FC236}">
                <a16:creationId xmlns:a16="http://schemas.microsoft.com/office/drawing/2014/main" id="{59DC61C3-0FDE-4894-8969-5DB4541ED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8966" y="1418426"/>
            <a:ext cx="526306" cy="184296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ExtJs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66" name="화살표: 아래쪽 265">
            <a:extLst>
              <a:ext uri="{FF2B5EF4-FFF2-40B4-BE49-F238E27FC236}">
                <a16:creationId xmlns:a16="http://schemas.microsoft.com/office/drawing/2014/main" id="{CB6F3A0A-779D-494E-BDA4-48A6BD1ACB91}"/>
              </a:ext>
            </a:extLst>
          </p:cNvPr>
          <p:cNvSpPr/>
          <p:nvPr/>
        </p:nvSpPr>
        <p:spPr>
          <a:xfrm rot="5400000">
            <a:off x="4821786" y="1654265"/>
            <a:ext cx="197264" cy="2469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순서도: 병합 266">
            <a:extLst>
              <a:ext uri="{FF2B5EF4-FFF2-40B4-BE49-F238E27FC236}">
                <a16:creationId xmlns:a16="http://schemas.microsoft.com/office/drawing/2014/main" id="{49895FE9-3818-4AA9-B79A-C29E8ED3D93B}"/>
              </a:ext>
            </a:extLst>
          </p:cNvPr>
          <p:cNvSpPr/>
          <p:nvPr/>
        </p:nvSpPr>
        <p:spPr>
          <a:xfrm>
            <a:off x="6826423" y="4621418"/>
            <a:ext cx="617898" cy="112151"/>
          </a:xfrm>
          <a:prstGeom prst="flowChartMerg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109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BF173-C070-4989-BC53-DA02B3BF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배포 프로세스 구성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AEC3CDB-5411-4D73-8C4B-D671C03409A7}"/>
              </a:ext>
            </a:extLst>
          </p:cNvPr>
          <p:cNvSpPr/>
          <p:nvPr/>
        </p:nvSpPr>
        <p:spPr>
          <a:xfrm>
            <a:off x="759996" y="2393979"/>
            <a:ext cx="1690778" cy="275485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B9D1D8-39CD-4AB6-B765-022BC8D43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10" y="2057011"/>
            <a:ext cx="901055" cy="3686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0624B5-B9C8-4F6C-A59C-B750A8940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239" y="1137837"/>
            <a:ext cx="410224" cy="38923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A1435B-BA5D-43D4-8997-222E9E726C36}"/>
              </a:ext>
            </a:extLst>
          </p:cNvPr>
          <p:cNvSpPr/>
          <p:nvPr/>
        </p:nvSpPr>
        <p:spPr>
          <a:xfrm>
            <a:off x="1117406" y="4873753"/>
            <a:ext cx="91723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Build  Pipeline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6AB386-887C-4095-971F-69CF41A5AA6B}"/>
              </a:ext>
            </a:extLst>
          </p:cNvPr>
          <p:cNvSpPr/>
          <p:nvPr/>
        </p:nvSpPr>
        <p:spPr>
          <a:xfrm>
            <a:off x="1095555" y="6014772"/>
            <a:ext cx="145604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Docker Private Registry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graphicFrame>
        <p:nvGraphicFramePr>
          <p:cNvPr id="13" name="Object 263">
            <a:extLst>
              <a:ext uri="{FF2B5EF4-FFF2-40B4-BE49-F238E27FC236}">
                <a16:creationId xmlns:a16="http://schemas.microsoft.com/office/drawing/2014/main" id="{0DFDCA8A-99D5-4E10-8F5A-FAEF9415CE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170" y="1135166"/>
          <a:ext cx="470477" cy="399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클립" r:id="rId4" imgW="9599400" imgH="8168400" progId="MS_ClipArt_Gallery.2">
                  <p:embed/>
                </p:oleObj>
              </mc:Choice>
              <mc:Fallback>
                <p:oleObj name="클립" r:id="rId4" imgW="9599400" imgH="8168400" progId="MS_ClipArt_Gallery.2">
                  <p:embed/>
                  <p:pic>
                    <p:nvPicPr>
                      <p:cNvPr id="13" name="Object 263">
                        <a:extLst>
                          <a:ext uri="{FF2B5EF4-FFF2-40B4-BE49-F238E27FC236}">
                            <a16:creationId xmlns:a16="http://schemas.microsoft.com/office/drawing/2014/main" id="{0DFDCA8A-99D5-4E10-8F5A-FAEF9415CE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70" y="1135166"/>
                        <a:ext cx="470477" cy="399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7470F777-116B-4883-8E83-05DFB47C9F21}"/>
              </a:ext>
            </a:extLst>
          </p:cNvPr>
          <p:cNvCxnSpPr>
            <a:cxnSpLocks/>
            <a:stCxn id="13" idx="3"/>
            <a:endCxn id="6" idx="1"/>
          </p:cNvCxnSpPr>
          <p:nvPr/>
        </p:nvCxnSpPr>
        <p:spPr>
          <a:xfrm flipV="1">
            <a:off x="1002647" y="1332455"/>
            <a:ext cx="944592" cy="259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A2C9043-5312-4137-BA8C-6BC9DB78F70C}"/>
              </a:ext>
            </a:extLst>
          </p:cNvPr>
          <p:cNvSpPr txBox="1"/>
          <p:nvPr/>
        </p:nvSpPr>
        <p:spPr>
          <a:xfrm>
            <a:off x="1219192" y="111952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Code</a:t>
            </a:r>
          </a:p>
          <a:p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Push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18" name="Rectangle 50">
            <a:extLst>
              <a:ext uri="{FF2B5EF4-FFF2-40B4-BE49-F238E27FC236}">
                <a16:creationId xmlns:a16="http://schemas.microsoft.com/office/drawing/2014/main" id="{B9938E47-2831-4AA6-B1B5-C5805175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882" y="2711909"/>
            <a:ext cx="1300290" cy="230832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Download Source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6D5B56-AFF2-41C8-8A69-3871962732A2}"/>
              </a:ext>
            </a:extLst>
          </p:cNvPr>
          <p:cNvSpPr txBox="1"/>
          <p:nvPr/>
        </p:nvSpPr>
        <p:spPr>
          <a:xfrm>
            <a:off x="1645558" y="1782135"/>
            <a:ext cx="1095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다키 B" pitchFamily="2" charset="-127"/>
                <a:ea typeface="다키 B" pitchFamily="2" charset="-127"/>
              </a:rPr>
              <a:t>Triggers Build</a:t>
            </a:r>
            <a:endParaRPr lang="ko-KR" altLang="en-US" sz="1000" dirty="0">
              <a:latin typeface="다키 B" pitchFamily="2" charset="-127"/>
              <a:ea typeface="다키 B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70D6BCA-FE86-4864-9E4E-90F0D87422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419" y="1165328"/>
            <a:ext cx="416988" cy="416988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E277466A-49E2-4BB6-ABB1-6D0EB0AC1E5D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5400000">
            <a:off x="1641126" y="1545785"/>
            <a:ext cx="529939" cy="492513"/>
          </a:xfrm>
          <a:prstGeom prst="bentConnector3">
            <a:avLst/>
          </a:prstGeom>
          <a:ln w="19050">
            <a:solidFill>
              <a:srgbClr val="0096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76726374-FAB5-4DBE-ACBA-897722E889B9}"/>
              </a:ext>
            </a:extLst>
          </p:cNvPr>
          <p:cNvCxnSpPr>
            <a:cxnSpLocks/>
          </p:cNvCxnSpPr>
          <p:nvPr/>
        </p:nvCxnSpPr>
        <p:spPr>
          <a:xfrm>
            <a:off x="532170" y="6330069"/>
            <a:ext cx="563385" cy="1720"/>
          </a:xfrm>
          <a:prstGeom prst="bentConnector3">
            <a:avLst/>
          </a:prstGeom>
          <a:ln w="19050">
            <a:solidFill>
              <a:srgbClr val="0096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9C24105-C723-41B6-8E4E-AE9709B22AC0}"/>
              </a:ext>
            </a:extLst>
          </p:cNvPr>
          <p:cNvSpPr/>
          <p:nvPr/>
        </p:nvSpPr>
        <p:spPr>
          <a:xfrm>
            <a:off x="1095555" y="6209742"/>
            <a:ext cx="12073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Automated Process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CFD934A2-95BE-4672-B36B-65EDB912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881" y="3012315"/>
            <a:ext cx="1300290" cy="230832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Build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5B9969F0-0628-4A92-B4B3-84F063C3E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881" y="3330245"/>
            <a:ext cx="1300290" cy="230832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Unit Test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38" name="Rectangle 50">
            <a:extLst>
              <a:ext uri="{FF2B5EF4-FFF2-40B4-BE49-F238E27FC236}">
                <a16:creationId xmlns:a16="http://schemas.microsoft.com/office/drawing/2014/main" id="{42C551C9-BBF5-4615-B4FB-5D977C667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662" y="3668261"/>
            <a:ext cx="1300290" cy="230832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Dependency-check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39" name="Rectangle 50">
            <a:extLst>
              <a:ext uri="{FF2B5EF4-FFF2-40B4-BE49-F238E27FC236}">
                <a16:creationId xmlns:a16="http://schemas.microsoft.com/office/drawing/2014/main" id="{607878FC-B4FE-477D-A0CB-9D082B047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662" y="3959510"/>
            <a:ext cx="1300290" cy="230832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Build Docker Image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7F85E897-7AD3-4ACE-BA09-E46F42B08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192" y="4250759"/>
            <a:ext cx="1300290" cy="230832"/>
          </a:xfrm>
          <a:prstGeom prst="rect">
            <a:avLst/>
          </a:prstGeom>
          <a:solidFill>
            <a:srgbClr val="D4E0F0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/>
            <a:r>
              <a:rPr lang="en-US" altLang="ko-KR" sz="800" dirty="0">
                <a:solidFill>
                  <a:srgbClr val="003366"/>
                </a:solidFill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Push Image To Registry</a:t>
            </a:r>
            <a:endParaRPr lang="ko-KR" altLang="en-US" sz="800" dirty="0">
              <a:solidFill>
                <a:srgbClr val="003366"/>
              </a:solidFill>
              <a:latin typeface="다키 L" pitchFamily="2" charset="-127"/>
              <a:ea typeface="다키 L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CD0EBF1F-B0E2-4DDC-8F1B-80538C2C8C69}"/>
              </a:ext>
            </a:extLst>
          </p:cNvPr>
          <p:cNvCxnSpPr>
            <a:stCxn id="40" idx="3"/>
            <a:endCxn id="24" idx="1"/>
          </p:cNvCxnSpPr>
          <p:nvPr/>
        </p:nvCxnSpPr>
        <p:spPr>
          <a:xfrm flipV="1">
            <a:off x="2234482" y="1373822"/>
            <a:ext cx="1540937" cy="2992353"/>
          </a:xfrm>
          <a:prstGeom prst="bentConnector3">
            <a:avLst>
              <a:gd name="adj1" fmla="val 30024"/>
            </a:avLst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5" name="그림 44">
            <a:extLst>
              <a:ext uri="{FF2B5EF4-FFF2-40B4-BE49-F238E27FC236}">
                <a16:creationId xmlns:a16="http://schemas.microsoft.com/office/drawing/2014/main" id="{A0884EC2-C634-486F-8C59-48DB4E5CFD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407" y="1082594"/>
            <a:ext cx="433092" cy="49972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1C71009-7417-4399-B928-F189984EAF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2" y="5958407"/>
            <a:ext cx="227826" cy="262877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9D472B3-A075-4966-8E32-309D506566D5}"/>
              </a:ext>
            </a:extLst>
          </p:cNvPr>
          <p:cNvSpPr/>
          <p:nvPr/>
        </p:nvSpPr>
        <p:spPr>
          <a:xfrm>
            <a:off x="2877200" y="2152441"/>
            <a:ext cx="4664178" cy="1084516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67E1450-53EA-4B81-ACDF-E6FB7B24F2EE}"/>
              </a:ext>
            </a:extLst>
          </p:cNvPr>
          <p:cNvSpPr/>
          <p:nvPr/>
        </p:nvSpPr>
        <p:spPr>
          <a:xfrm>
            <a:off x="2877200" y="3354233"/>
            <a:ext cx="6417486" cy="2562005"/>
          </a:xfrm>
          <a:prstGeom prst="roundRect">
            <a:avLst>
              <a:gd name="adj" fmla="val 125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C53C35A-E858-49BF-A8BC-916915B160BE}"/>
              </a:ext>
            </a:extLst>
          </p:cNvPr>
          <p:cNvSpPr/>
          <p:nvPr/>
        </p:nvSpPr>
        <p:spPr>
          <a:xfrm>
            <a:off x="7671518" y="2152441"/>
            <a:ext cx="1610507" cy="1084516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Rectangle 39">
            <a:extLst>
              <a:ext uri="{FF2B5EF4-FFF2-40B4-BE49-F238E27FC236}">
                <a16:creationId xmlns:a16="http://schemas.microsoft.com/office/drawing/2014/main" id="{337870A9-B1E9-432B-9CB3-29ABA1925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641" y="2271586"/>
            <a:ext cx="1117440" cy="859796"/>
          </a:xfrm>
          <a:prstGeom prst="rect">
            <a:avLst/>
          </a:prstGeom>
          <a:solidFill>
            <a:srgbClr val="FFFFFF"/>
          </a:solidFill>
          <a:ln w="19050" cap="rnd" algn="ctr">
            <a:solidFill>
              <a:srgbClr val="AFC4DB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71475" indent="-2190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endParaRPr lang="ko-KR" altLang="ko-KR" sz="1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7" name="Rectangle 41">
            <a:extLst>
              <a:ext uri="{FF2B5EF4-FFF2-40B4-BE49-F238E27FC236}">
                <a16:creationId xmlns:a16="http://schemas.microsoft.com/office/drawing/2014/main" id="{725B212B-601D-48EB-8463-B216F4726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592" y="2639026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Deploy to Dev </a:t>
            </a:r>
          </a:p>
        </p:txBody>
      </p:sp>
      <p:sp>
        <p:nvSpPr>
          <p:cNvPr id="59" name="Rectangle 41">
            <a:extLst>
              <a:ext uri="{FF2B5EF4-FFF2-40B4-BE49-F238E27FC236}">
                <a16:creationId xmlns:a16="http://schemas.microsoft.com/office/drawing/2014/main" id="{9B0438F7-7F18-4B02-A364-DE176BC7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591" y="2343149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Download Image </a:t>
            </a:r>
          </a:p>
        </p:txBody>
      </p:sp>
      <p:sp>
        <p:nvSpPr>
          <p:cNvPr id="60" name="AutoShape 5209">
            <a:extLst>
              <a:ext uri="{FF2B5EF4-FFF2-40B4-BE49-F238E27FC236}">
                <a16:creationId xmlns:a16="http://schemas.microsoft.com/office/drawing/2014/main" id="{818F6428-3A10-4DEC-AFFD-3FDE103D5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555" y="3608758"/>
            <a:ext cx="1980361" cy="1957198"/>
          </a:xfrm>
          <a:prstGeom prst="roundRect">
            <a:avLst>
              <a:gd name="adj" fmla="val 2097"/>
            </a:avLst>
          </a:prstGeom>
          <a:gradFill rotWithShape="0">
            <a:gsLst>
              <a:gs pos="0">
                <a:srgbClr val="FFFFFF"/>
              </a:gs>
              <a:gs pos="100000">
                <a:srgbClr val="DBF3F9"/>
              </a:gs>
            </a:gsLst>
            <a:lin ang="2700000" scaled="1"/>
          </a:gradFill>
          <a:ln w="9525">
            <a:solidFill>
              <a:srgbClr val="1E92D2"/>
            </a:solidFill>
            <a:round/>
            <a:headEnd/>
            <a:tailEnd/>
          </a:ln>
        </p:spPr>
        <p:txBody>
          <a:bodyPr lIns="91428" tIns="45714" rIns="91428" bIns="45714" anchor="ctr"/>
          <a:lstStyle>
            <a:lvl1pPr marL="80963" indent="-80963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l" latinLnBrk="0">
              <a:buFontTx/>
              <a:buChar char="-"/>
            </a:pPr>
            <a:endParaRPr lang="ko-KR" altLang="ko-KR" sz="7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1" name="AutoShape 5209">
            <a:extLst>
              <a:ext uri="{FF2B5EF4-FFF2-40B4-BE49-F238E27FC236}">
                <a16:creationId xmlns:a16="http://schemas.microsoft.com/office/drawing/2014/main" id="{58F28C79-13B4-4CB8-BE3B-B0CD83CAA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392" y="3633270"/>
            <a:ext cx="1980360" cy="1957198"/>
          </a:xfrm>
          <a:prstGeom prst="roundRect">
            <a:avLst>
              <a:gd name="adj" fmla="val 2097"/>
            </a:avLst>
          </a:prstGeom>
          <a:gradFill rotWithShape="0">
            <a:gsLst>
              <a:gs pos="0">
                <a:srgbClr val="FFFFFF"/>
              </a:gs>
              <a:gs pos="100000">
                <a:srgbClr val="DBF3F9"/>
              </a:gs>
            </a:gsLst>
            <a:lin ang="2700000" scaled="1"/>
          </a:gradFill>
          <a:ln w="9525">
            <a:solidFill>
              <a:srgbClr val="1E92D2"/>
            </a:solidFill>
            <a:round/>
            <a:headEnd/>
            <a:tailEnd/>
          </a:ln>
        </p:spPr>
        <p:txBody>
          <a:bodyPr lIns="91428" tIns="45714" rIns="91428" bIns="45714" anchor="ctr"/>
          <a:lstStyle>
            <a:lvl1pPr marL="80963" indent="-80963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l" latinLnBrk="0">
              <a:buFontTx/>
              <a:buChar char="-"/>
            </a:pPr>
            <a:endParaRPr lang="ko-KR" altLang="ko-KR" sz="7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1410D3D-773D-46BA-8845-180F6F8964B1}"/>
              </a:ext>
            </a:extLst>
          </p:cNvPr>
          <p:cNvSpPr/>
          <p:nvPr/>
        </p:nvSpPr>
        <p:spPr>
          <a:xfrm>
            <a:off x="2990537" y="3633270"/>
            <a:ext cx="964322" cy="2084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DEV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58DC252-5FB7-4294-9B64-D58F4BA15666}"/>
              </a:ext>
            </a:extLst>
          </p:cNvPr>
          <p:cNvSpPr/>
          <p:nvPr/>
        </p:nvSpPr>
        <p:spPr>
          <a:xfrm>
            <a:off x="3025989" y="3886978"/>
            <a:ext cx="1944502" cy="1664467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BD596D-31B7-4596-A8A6-1D7A39D0CCCB}"/>
              </a:ext>
            </a:extLst>
          </p:cNvPr>
          <p:cNvSpPr txBox="1"/>
          <p:nvPr/>
        </p:nvSpPr>
        <p:spPr>
          <a:xfrm>
            <a:off x="4585393" y="1132400"/>
            <a:ext cx="99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다키 B" pitchFamily="2" charset="-127"/>
                <a:ea typeface="다키 B" pitchFamily="2" charset="-127"/>
              </a:rPr>
              <a:t>Container </a:t>
            </a:r>
          </a:p>
          <a:p>
            <a:r>
              <a:rPr lang="en-US" altLang="ko-KR" sz="900" dirty="0">
                <a:latin typeface="다키 B" pitchFamily="2" charset="-127"/>
                <a:ea typeface="다키 B" pitchFamily="2" charset="-127"/>
              </a:rPr>
              <a:t>Registry(Dev)</a:t>
            </a:r>
            <a:endParaRPr lang="ko-KR" altLang="en-US" sz="900" dirty="0">
              <a:latin typeface="다키 B" pitchFamily="2" charset="-127"/>
              <a:ea typeface="다키 B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0C92577-49AD-46D6-9321-CA07ACBC4638}"/>
              </a:ext>
            </a:extLst>
          </p:cNvPr>
          <p:cNvSpPr/>
          <p:nvPr/>
        </p:nvSpPr>
        <p:spPr>
          <a:xfrm>
            <a:off x="3165836" y="2886193"/>
            <a:ext cx="72006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Dev Stage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8" name="Rectangle 39">
            <a:extLst>
              <a:ext uri="{FF2B5EF4-FFF2-40B4-BE49-F238E27FC236}">
                <a16:creationId xmlns:a16="http://schemas.microsoft.com/office/drawing/2014/main" id="{7E6B9BC2-B39B-4B11-B422-2C7E0F298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004" y="2257229"/>
            <a:ext cx="1117440" cy="859796"/>
          </a:xfrm>
          <a:prstGeom prst="rect">
            <a:avLst/>
          </a:prstGeom>
          <a:solidFill>
            <a:srgbClr val="FFFFFF"/>
          </a:solidFill>
          <a:ln w="19050" cap="rnd" algn="ctr">
            <a:solidFill>
              <a:srgbClr val="AFC4DB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71475" indent="-2190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endParaRPr lang="ko-KR" altLang="ko-KR" sz="1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9" name="Rectangle 41">
            <a:extLst>
              <a:ext uri="{FF2B5EF4-FFF2-40B4-BE49-F238E27FC236}">
                <a16:creationId xmlns:a16="http://schemas.microsoft.com/office/drawing/2014/main" id="{85A1CEF3-B23B-4AD2-B632-36AE03F78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5092" y="2329065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Push Image 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8292E1E6-C3D2-4609-98BA-B445AEAC7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392" y="1081998"/>
            <a:ext cx="433092" cy="49972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889E7FA2-6F84-4732-954F-AA8F30A11656}"/>
              </a:ext>
            </a:extLst>
          </p:cNvPr>
          <p:cNvSpPr txBox="1"/>
          <p:nvPr/>
        </p:nvSpPr>
        <p:spPr>
          <a:xfrm>
            <a:off x="7541378" y="1132400"/>
            <a:ext cx="99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다키 B" pitchFamily="2" charset="-127"/>
                <a:ea typeface="다키 B" pitchFamily="2" charset="-127"/>
              </a:rPr>
              <a:t>Container </a:t>
            </a:r>
          </a:p>
          <a:p>
            <a:r>
              <a:rPr lang="en-US" altLang="ko-KR" sz="900" dirty="0">
                <a:latin typeface="다키 B" pitchFamily="2" charset="-127"/>
                <a:ea typeface="다키 B" pitchFamily="2" charset="-127"/>
              </a:rPr>
              <a:t>Registry(Prod)</a:t>
            </a:r>
            <a:endParaRPr lang="ko-KR" altLang="en-US" sz="900" dirty="0">
              <a:latin typeface="다키 B" pitchFamily="2" charset="-127"/>
              <a:ea typeface="다키 B" pitchFamily="2" charset="-127"/>
            </a:endParaRPr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48C115B0-995D-4D2A-82D6-04374145C354}"/>
              </a:ext>
            </a:extLst>
          </p:cNvPr>
          <p:cNvCxnSpPr>
            <a:cxnSpLocks/>
            <a:stCxn id="45" idx="2"/>
            <a:endCxn id="54" idx="0"/>
          </p:cNvCxnSpPr>
          <p:nvPr/>
        </p:nvCxnSpPr>
        <p:spPr>
          <a:xfrm rot="5400000">
            <a:off x="3639522" y="1502155"/>
            <a:ext cx="689270" cy="849592"/>
          </a:xfrm>
          <a:prstGeom prst="bentConnector3">
            <a:avLst/>
          </a:prstGeom>
          <a:ln w="19050">
            <a:solidFill>
              <a:srgbClr val="0096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67ACAF5-71A0-4661-B4B8-C0E48B600005}"/>
              </a:ext>
            </a:extLst>
          </p:cNvPr>
          <p:cNvSpPr txBox="1"/>
          <p:nvPr/>
        </p:nvSpPr>
        <p:spPr>
          <a:xfrm>
            <a:off x="3410185" y="1551446"/>
            <a:ext cx="9987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다키 B" pitchFamily="2" charset="-127"/>
                <a:ea typeface="다키 B" pitchFamily="2" charset="-127"/>
              </a:rPr>
              <a:t>Triggers</a:t>
            </a:r>
          </a:p>
          <a:p>
            <a:r>
              <a:rPr lang="en-US" altLang="ko-KR" sz="900" dirty="0">
                <a:latin typeface="다키 B" pitchFamily="2" charset="-127"/>
                <a:ea typeface="다키 B" pitchFamily="2" charset="-127"/>
              </a:rPr>
              <a:t>Deployment</a:t>
            </a:r>
          </a:p>
          <a:p>
            <a:r>
              <a:rPr lang="en-US" altLang="ko-KR" sz="900" dirty="0">
                <a:latin typeface="다키 B" pitchFamily="2" charset="-127"/>
                <a:ea typeface="다키 B" pitchFamily="2" charset="-127"/>
              </a:rPr>
              <a:t>Pipeline</a:t>
            </a:r>
            <a:endParaRPr lang="ko-KR" altLang="en-US" sz="900" dirty="0">
              <a:latin typeface="다키 B" pitchFamily="2" charset="-127"/>
              <a:ea typeface="다키 B" pitchFamily="2" charset="-127"/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6F574AFC-609A-41CE-81BC-64246263D28F}"/>
              </a:ext>
            </a:extLst>
          </p:cNvPr>
          <p:cNvCxnSpPr>
            <a:cxnSpLocks/>
          </p:cNvCxnSpPr>
          <p:nvPr/>
        </p:nvCxnSpPr>
        <p:spPr>
          <a:xfrm flipV="1">
            <a:off x="534157" y="5857684"/>
            <a:ext cx="561398" cy="1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88F94AE-F93D-4907-9290-F8E48093BAA0}"/>
              </a:ext>
            </a:extLst>
          </p:cNvPr>
          <p:cNvSpPr/>
          <p:nvPr/>
        </p:nvSpPr>
        <p:spPr>
          <a:xfrm>
            <a:off x="1117090" y="5724527"/>
            <a:ext cx="82907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Manual Step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2AA526AC-EEDE-44C3-AFF4-4906354C0D60}"/>
              </a:ext>
            </a:extLst>
          </p:cNvPr>
          <p:cNvCxnSpPr>
            <a:stCxn id="68" idx="0"/>
            <a:endCxn id="70" idx="1"/>
          </p:cNvCxnSpPr>
          <p:nvPr/>
        </p:nvCxnSpPr>
        <p:spPr>
          <a:xfrm rot="5400000" flipH="1" flipV="1">
            <a:off x="6545373" y="1654210"/>
            <a:ext cx="925370" cy="280668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39">
            <a:extLst>
              <a:ext uri="{FF2B5EF4-FFF2-40B4-BE49-F238E27FC236}">
                <a16:creationId xmlns:a16="http://schemas.microsoft.com/office/drawing/2014/main" id="{93BEB6CB-E9EB-4EC8-A65D-AF1545CA6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51" y="2257229"/>
            <a:ext cx="1117440" cy="859796"/>
          </a:xfrm>
          <a:prstGeom prst="rect">
            <a:avLst/>
          </a:prstGeom>
          <a:solidFill>
            <a:srgbClr val="FFFFFF"/>
          </a:solidFill>
          <a:ln w="19050" cap="rnd" algn="ctr">
            <a:solidFill>
              <a:srgbClr val="AFC4DB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71475" indent="-2190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endParaRPr lang="ko-KR" altLang="ko-KR" sz="1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8" name="Rectangle 41">
            <a:extLst>
              <a:ext uri="{FF2B5EF4-FFF2-40B4-BE49-F238E27FC236}">
                <a16:creationId xmlns:a16="http://schemas.microsoft.com/office/drawing/2014/main" id="{CF206CCD-C57D-44B6-B625-0DB0D45D2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372" y="2636341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Deploy to Prod </a:t>
            </a:r>
          </a:p>
        </p:txBody>
      </p:sp>
      <p:sp>
        <p:nvSpPr>
          <p:cNvPr id="89" name="Rectangle 41">
            <a:extLst>
              <a:ext uri="{FF2B5EF4-FFF2-40B4-BE49-F238E27FC236}">
                <a16:creationId xmlns:a16="http://schemas.microsoft.com/office/drawing/2014/main" id="{830C0DA7-9F62-4719-AB9D-9AF6D4250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371" y="2367623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Download Image </a:t>
            </a:r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54729814-ABDA-4AB6-AA8A-2D812A75EFFF}"/>
              </a:ext>
            </a:extLst>
          </p:cNvPr>
          <p:cNvCxnSpPr>
            <a:cxnSpLocks/>
            <a:stCxn id="70" idx="2"/>
            <a:endCxn id="87" idx="0"/>
          </p:cNvCxnSpPr>
          <p:nvPr/>
        </p:nvCxnSpPr>
        <p:spPr>
          <a:xfrm rot="16200000" flipH="1">
            <a:off x="7572200" y="1374457"/>
            <a:ext cx="675509" cy="1090033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415C335A-D729-4478-88D7-C1946EFBC4B1}"/>
              </a:ext>
            </a:extLst>
          </p:cNvPr>
          <p:cNvCxnSpPr>
            <a:cxnSpLocks/>
            <a:stCxn id="87" idx="2"/>
            <a:endCxn id="61" idx="0"/>
          </p:cNvCxnSpPr>
          <p:nvPr/>
        </p:nvCxnSpPr>
        <p:spPr>
          <a:xfrm rot="5400000">
            <a:off x="8038650" y="3216948"/>
            <a:ext cx="516245" cy="3163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95254577-61B3-427F-AA92-8F033F8AFCC2}"/>
              </a:ext>
            </a:extLst>
          </p:cNvPr>
          <p:cNvCxnSpPr>
            <a:cxnSpLocks/>
            <a:stCxn id="54" idx="2"/>
            <a:endCxn id="60" idx="0"/>
          </p:cNvCxnSpPr>
          <p:nvPr/>
        </p:nvCxnSpPr>
        <p:spPr>
          <a:xfrm rot="16200000" flipH="1">
            <a:off x="3540360" y="3150382"/>
            <a:ext cx="477376" cy="439375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4EA1611-25AA-4BBC-AD93-AB22A0986AE4}"/>
              </a:ext>
            </a:extLst>
          </p:cNvPr>
          <p:cNvSpPr/>
          <p:nvPr/>
        </p:nvSpPr>
        <p:spPr>
          <a:xfrm>
            <a:off x="5468972" y="5685406"/>
            <a:ext cx="15103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Application Environments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E2C75A08-D1C7-4479-B6B6-0809E56FF751}"/>
              </a:ext>
            </a:extLst>
          </p:cNvPr>
          <p:cNvSpPr/>
          <p:nvPr/>
        </p:nvSpPr>
        <p:spPr>
          <a:xfrm>
            <a:off x="7155838" y="3635790"/>
            <a:ext cx="964322" cy="2084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PROD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C725FBCE-C6E1-4D9D-9067-5AE4B5EABD8F}"/>
              </a:ext>
            </a:extLst>
          </p:cNvPr>
          <p:cNvSpPr/>
          <p:nvPr/>
        </p:nvSpPr>
        <p:spPr>
          <a:xfrm>
            <a:off x="7246190" y="3894200"/>
            <a:ext cx="1838516" cy="1664467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0A87032-355D-4DC5-BA2E-5E1498A51673}"/>
              </a:ext>
            </a:extLst>
          </p:cNvPr>
          <p:cNvSpPr/>
          <p:nvPr/>
        </p:nvSpPr>
        <p:spPr>
          <a:xfrm>
            <a:off x="333571" y="614042"/>
            <a:ext cx="3736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다</a:t>
            </a:r>
            <a:r>
              <a:rPr lang="en-US" altLang="ko-KR" dirty="0"/>
              <a:t>. </a:t>
            </a:r>
            <a:r>
              <a:rPr lang="ko-KR" altLang="en-US" dirty="0"/>
              <a:t>개발</a:t>
            </a:r>
            <a:r>
              <a:rPr lang="en-US" altLang="ko-KR" dirty="0"/>
              <a:t>/</a:t>
            </a:r>
            <a:r>
              <a:rPr lang="ko-KR" altLang="en-US" dirty="0"/>
              <a:t>운영 환경 배포 절차 구성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52407F1-E4F9-4CB0-A8B6-26AE0D37DDE5}"/>
              </a:ext>
            </a:extLst>
          </p:cNvPr>
          <p:cNvSpPr/>
          <p:nvPr/>
        </p:nvSpPr>
        <p:spPr>
          <a:xfrm>
            <a:off x="333571" y="1000315"/>
            <a:ext cx="9164112" cy="5440258"/>
          </a:xfrm>
          <a:prstGeom prst="roundRect">
            <a:avLst>
              <a:gd name="adj" fmla="val 1252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63" name="AutoShape 5209">
            <a:extLst>
              <a:ext uri="{FF2B5EF4-FFF2-40B4-BE49-F238E27FC236}">
                <a16:creationId xmlns:a16="http://schemas.microsoft.com/office/drawing/2014/main" id="{D2F9D888-B57D-43CE-9E87-8631D9215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833" y="3622804"/>
            <a:ext cx="1980360" cy="1957198"/>
          </a:xfrm>
          <a:prstGeom prst="roundRect">
            <a:avLst>
              <a:gd name="adj" fmla="val 2097"/>
            </a:avLst>
          </a:prstGeom>
          <a:gradFill rotWithShape="0">
            <a:gsLst>
              <a:gs pos="0">
                <a:srgbClr val="FFFFFF"/>
              </a:gs>
              <a:gs pos="100000">
                <a:srgbClr val="DBF3F9"/>
              </a:gs>
            </a:gsLst>
            <a:lin ang="2700000" scaled="1"/>
          </a:gradFill>
          <a:ln w="9525">
            <a:solidFill>
              <a:srgbClr val="1E92D2"/>
            </a:solidFill>
            <a:round/>
            <a:headEnd/>
            <a:tailEnd/>
          </a:ln>
        </p:spPr>
        <p:txBody>
          <a:bodyPr lIns="91428" tIns="45714" rIns="91428" bIns="45714" anchor="ctr"/>
          <a:lstStyle>
            <a:lvl1pPr marL="80963" indent="-80963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algn="ctr" defTabSz="852488" latinLnBrk="1"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l" latinLnBrk="0">
              <a:buFontTx/>
              <a:buChar char="-"/>
            </a:pPr>
            <a:endParaRPr lang="ko-KR" altLang="ko-KR" sz="7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B099E488-A106-4F01-A73B-60CA21E95268}"/>
              </a:ext>
            </a:extLst>
          </p:cNvPr>
          <p:cNvSpPr/>
          <p:nvPr/>
        </p:nvSpPr>
        <p:spPr>
          <a:xfrm>
            <a:off x="5044814" y="3647316"/>
            <a:ext cx="964322" cy="208495"/>
          </a:xfrm>
          <a:prstGeom prst="roundRect">
            <a:avLst>
              <a:gd name="adj" fmla="val 16175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900" b="1" dirty="0">
                <a:solidFill>
                  <a:prstClr val="white"/>
                </a:solidFill>
                <a:latin typeface="다키 B" pitchFamily="2" charset="-127"/>
                <a:ea typeface="다키 B" pitchFamily="2" charset="-127"/>
              </a:rPr>
              <a:t>STAGE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7F85374-3B67-4476-AB53-B7093F5138FC}"/>
              </a:ext>
            </a:extLst>
          </p:cNvPr>
          <p:cNvSpPr/>
          <p:nvPr/>
        </p:nvSpPr>
        <p:spPr>
          <a:xfrm>
            <a:off x="5080266" y="3895563"/>
            <a:ext cx="1941152" cy="1664467"/>
          </a:xfrm>
          <a:prstGeom prst="roundRect">
            <a:avLst>
              <a:gd name="adj" fmla="val 1252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AAB8D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75" name="Rectangle 39">
            <a:extLst>
              <a:ext uri="{FF2B5EF4-FFF2-40B4-BE49-F238E27FC236}">
                <a16:creationId xmlns:a16="http://schemas.microsoft.com/office/drawing/2014/main" id="{8D07A971-DA6B-49D3-B224-9BC594381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735" y="2271586"/>
            <a:ext cx="1117440" cy="853175"/>
          </a:xfrm>
          <a:prstGeom prst="rect">
            <a:avLst/>
          </a:prstGeom>
          <a:solidFill>
            <a:srgbClr val="FFFFFF"/>
          </a:solidFill>
          <a:ln w="19050" cap="rnd" algn="ctr">
            <a:solidFill>
              <a:srgbClr val="AFC4DB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71475" indent="-2190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endParaRPr lang="ko-KR" altLang="ko-KR" sz="1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6" name="Rectangle 41">
            <a:extLst>
              <a:ext uri="{FF2B5EF4-FFF2-40B4-BE49-F238E27FC236}">
                <a16:creationId xmlns:a16="http://schemas.microsoft.com/office/drawing/2014/main" id="{283610D5-A191-4F38-A4AF-0AE937C11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685" y="2546274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Deploy to Staging </a:t>
            </a:r>
          </a:p>
        </p:txBody>
      </p:sp>
      <p:sp>
        <p:nvSpPr>
          <p:cNvPr id="77" name="Rectangle 41">
            <a:extLst>
              <a:ext uri="{FF2B5EF4-FFF2-40B4-BE49-F238E27FC236}">
                <a16:creationId xmlns:a16="http://schemas.microsoft.com/office/drawing/2014/main" id="{05161CF0-8311-4EB4-BA89-60A595698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685" y="2343149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Download Image 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F3E42AA-76D9-4388-969C-50E0909AE050}"/>
              </a:ext>
            </a:extLst>
          </p:cNvPr>
          <p:cNvSpPr/>
          <p:nvPr/>
        </p:nvSpPr>
        <p:spPr>
          <a:xfrm>
            <a:off x="4758970" y="2897171"/>
            <a:ext cx="9832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Stage </a:t>
            </a:r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다키 L" pitchFamily="2" charset="-127"/>
                <a:ea typeface="다키 L" pitchFamily="2" charset="-127"/>
              </a:rPr>
              <a:t>Stage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A58A0525-8D96-4041-BA11-2271DDA11C4B}"/>
              </a:ext>
            </a:extLst>
          </p:cNvPr>
          <p:cNvCxnSpPr>
            <a:cxnSpLocks/>
            <a:stCxn id="75" idx="2"/>
            <a:endCxn id="63" idx="0"/>
          </p:cNvCxnSpPr>
          <p:nvPr/>
        </p:nvCxnSpPr>
        <p:spPr>
          <a:xfrm rot="16200000" flipH="1">
            <a:off x="5398713" y="2968503"/>
            <a:ext cx="498043" cy="81055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41">
            <a:extLst>
              <a:ext uri="{FF2B5EF4-FFF2-40B4-BE49-F238E27FC236}">
                <a16:creationId xmlns:a16="http://schemas.microsoft.com/office/drawing/2014/main" id="{16B8092D-B626-4A2B-BF4B-E9BC9564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185" y="2755214"/>
            <a:ext cx="965263" cy="16999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L" pitchFamily="2" charset="-127"/>
                <a:ea typeface="다키 L" pitchFamily="2" charset="-127"/>
                <a:cs typeface="Times New Roman" panose="02020603050405020304" pitchFamily="18" charset="0"/>
              </a:rPr>
              <a:t>Run Load Test</a:t>
            </a:r>
          </a:p>
        </p:txBody>
      </p:sp>
      <p:sp>
        <p:nvSpPr>
          <p:cNvPr id="85" name="Rectangle 28">
            <a:extLst>
              <a:ext uri="{FF2B5EF4-FFF2-40B4-BE49-F238E27FC236}">
                <a16:creationId xmlns:a16="http://schemas.microsoft.com/office/drawing/2014/main" id="{493A0788-3876-48E1-BF7B-DBE04BF37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731" y="3977725"/>
            <a:ext cx="1758199" cy="236305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Kube</a:t>
            </a:r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-Master</a:t>
            </a:r>
          </a:p>
        </p:txBody>
      </p:sp>
      <p:sp>
        <p:nvSpPr>
          <p:cNvPr id="90" name="Rectangle 28">
            <a:extLst>
              <a:ext uri="{FF2B5EF4-FFF2-40B4-BE49-F238E27FC236}">
                <a16:creationId xmlns:a16="http://schemas.microsoft.com/office/drawing/2014/main" id="{51902B5E-2A56-4085-A501-33BF971D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427" y="4225448"/>
            <a:ext cx="1758199" cy="236305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Kube</a:t>
            </a:r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-Worker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9A16B50-E16B-48C5-A5F3-77C01009728D}"/>
              </a:ext>
            </a:extLst>
          </p:cNvPr>
          <p:cNvSpPr/>
          <p:nvPr/>
        </p:nvSpPr>
        <p:spPr>
          <a:xfrm>
            <a:off x="3090731" y="4490277"/>
            <a:ext cx="1757895" cy="993901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93" name="Rectangle 27">
            <a:extLst>
              <a:ext uri="{FF2B5EF4-FFF2-40B4-BE49-F238E27FC236}">
                <a16:creationId xmlns:a16="http://schemas.microsoft.com/office/drawing/2014/main" id="{07EC619A-EBF2-4420-A4B4-075A35DEC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6071" y="4555627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Node[WEB]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94" name="Rectangle 27">
            <a:extLst>
              <a:ext uri="{FF2B5EF4-FFF2-40B4-BE49-F238E27FC236}">
                <a16:creationId xmlns:a16="http://schemas.microsoft.com/office/drawing/2014/main" id="{8E31E986-B2ED-4B4E-848C-89FD7BE0B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836" y="4861806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Node[SERVICE]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97" name="Rectangle 27">
            <a:extLst>
              <a:ext uri="{FF2B5EF4-FFF2-40B4-BE49-F238E27FC236}">
                <a16:creationId xmlns:a16="http://schemas.microsoft.com/office/drawing/2014/main" id="{981ACC3A-2247-45BC-853E-BCA2A4642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375" y="5169463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Node[Interface]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98" name="Rectangle 28">
            <a:extLst>
              <a:ext uri="{FF2B5EF4-FFF2-40B4-BE49-F238E27FC236}">
                <a16:creationId xmlns:a16="http://schemas.microsoft.com/office/drawing/2014/main" id="{E762CBA9-1995-485D-A1B6-2A863EEB0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065" y="3976520"/>
            <a:ext cx="1758199" cy="236305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Kube</a:t>
            </a:r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-Master</a:t>
            </a:r>
          </a:p>
        </p:txBody>
      </p:sp>
      <p:sp>
        <p:nvSpPr>
          <p:cNvPr id="99" name="Rectangle 28">
            <a:extLst>
              <a:ext uri="{FF2B5EF4-FFF2-40B4-BE49-F238E27FC236}">
                <a16:creationId xmlns:a16="http://schemas.microsoft.com/office/drawing/2014/main" id="{C6DFE1A0-1EDA-4CFF-A3B4-437538FFC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761" y="4224243"/>
            <a:ext cx="1758199" cy="236305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Kube</a:t>
            </a:r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-Worker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75A64F1-6252-40B4-813E-7CD467D757B9}"/>
              </a:ext>
            </a:extLst>
          </p:cNvPr>
          <p:cNvSpPr/>
          <p:nvPr/>
        </p:nvSpPr>
        <p:spPr>
          <a:xfrm>
            <a:off x="5174065" y="4489072"/>
            <a:ext cx="1757895" cy="993901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01" name="Rectangle 27">
            <a:extLst>
              <a:ext uri="{FF2B5EF4-FFF2-40B4-BE49-F238E27FC236}">
                <a16:creationId xmlns:a16="http://schemas.microsoft.com/office/drawing/2014/main" id="{48742C73-1CAA-4FC6-ABF6-9B7A2EAA6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405" y="4554422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Node[WEB]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105" name="Rectangle 27">
            <a:extLst>
              <a:ext uri="{FF2B5EF4-FFF2-40B4-BE49-F238E27FC236}">
                <a16:creationId xmlns:a16="http://schemas.microsoft.com/office/drawing/2014/main" id="{2A060483-3E48-4B9E-9145-739B6C2A4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170" y="4860601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Node[SERVICE]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106" name="Rectangle 27">
            <a:extLst>
              <a:ext uri="{FF2B5EF4-FFF2-40B4-BE49-F238E27FC236}">
                <a16:creationId xmlns:a16="http://schemas.microsoft.com/office/drawing/2014/main" id="{87C06080-BB7E-420A-800F-B96FEE49C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709" y="5168258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Node[Interface]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107" name="Rectangle 28">
            <a:extLst>
              <a:ext uri="{FF2B5EF4-FFF2-40B4-BE49-F238E27FC236}">
                <a16:creationId xmlns:a16="http://schemas.microsoft.com/office/drawing/2014/main" id="{BC0B42CC-5A28-44CC-85E2-6EC17A4DB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427" y="3976520"/>
            <a:ext cx="1758199" cy="236305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Kube</a:t>
            </a:r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-Master</a:t>
            </a:r>
          </a:p>
        </p:txBody>
      </p:sp>
      <p:sp>
        <p:nvSpPr>
          <p:cNvPr id="108" name="Rectangle 28">
            <a:extLst>
              <a:ext uri="{FF2B5EF4-FFF2-40B4-BE49-F238E27FC236}">
                <a16:creationId xmlns:a16="http://schemas.microsoft.com/office/drawing/2014/main" id="{61C8DDB4-9C2C-4060-949E-682FD3C1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123" y="4224243"/>
            <a:ext cx="1758199" cy="236305"/>
          </a:xfrm>
          <a:prstGeom prst="rect">
            <a:avLst/>
          </a:prstGeom>
          <a:solidFill>
            <a:srgbClr val="4D7EBF"/>
          </a:solidFill>
          <a:ln w="3175" algn="ctr">
            <a:solidFill>
              <a:srgbClr val="3966A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Kube</a:t>
            </a:r>
            <a:r>
              <a:rPr lang="en-US" altLang="ko-KR" sz="11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-Worker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9FBCE4A6-3D48-4E68-81B8-752B08B2A908}"/>
              </a:ext>
            </a:extLst>
          </p:cNvPr>
          <p:cNvSpPr/>
          <p:nvPr/>
        </p:nvSpPr>
        <p:spPr>
          <a:xfrm>
            <a:off x="7262427" y="4489072"/>
            <a:ext cx="1757895" cy="993901"/>
          </a:xfrm>
          <a:prstGeom prst="roundRect">
            <a:avLst>
              <a:gd name="adj" fmla="val 1252"/>
            </a:avLst>
          </a:prstGeom>
          <a:solidFill>
            <a:srgbClr val="ECECEB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10" name="Rectangle 27">
            <a:extLst>
              <a:ext uri="{FF2B5EF4-FFF2-40B4-BE49-F238E27FC236}">
                <a16:creationId xmlns:a16="http://schemas.microsoft.com/office/drawing/2014/main" id="{CCE462B5-435B-4A66-ADF8-52B594586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767" y="4554422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Node[WEB]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111" name="Rectangle 27">
            <a:extLst>
              <a:ext uri="{FF2B5EF4-FFF2-40B4-BE49-F238E27FC236}">
                <a16:creationId xmlns:a16="http://schemas.microsoft.com/office/drawing/2014/main" id="{BA62851A-EA4D-4ECD-9E0A-AB0272606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532" y="4860601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Node[SERVICE]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112" name="Rectangle 27">
            <a:extLst>
              <a:ext uri="{FF2B5EF4-FFF2-40B4-BE49-F238E27FC236}">
                <a16:creationId xmlns:a16="http://schemas.microsoft.com/office/drawing/2014/main" id="{784B07E0-2BDD-4596-ADDD-AD2FFD602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1071" y="5168258"/>
            <a:ext cx="1633899" cy="2794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39AC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Times New Roman" panose="02020603050405020304" pitchFamily="18" charset="0"/>
              </a:rPr>
              <a:t>Worker Node[Interface]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Times New Roman" panose="02020603050405020304" pitchFamily="18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A7A9D117-02E5-4FDA-A859-0EB41B89DC01}"/>
              </a:ext>
            </a:extLst>
          </p:cNvPr>
          <p:cNvSpPr/>
          <p:nvPr/>
        </p:nvSpPr>
        <p:spPr>
          <a:xfrm>
            <a:off x="2797849" y="6056935"/>
            <a:ext cx="64841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* </a:t>
            </a:r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운영 시 마스터 노드는 클러스터 는 기본적으로 </a:t>
            </a:r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3</a:t>
            </a:r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개로 구성</a:t>
            </a:r>
            <a:r>
              <a:rPr lang="en-US" altLang="ko-KR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 </a:t>
            </a:r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다키 L" pitchFamily="2" charset="-127"/>
                <a:ea typeface="다키 L" pitchFamily="2" charset="-127"/>
              </a:rPr>
              <a:t>되어 짐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다키 L" pitchFamily="2" charset="-127"/>
              <a:ea typeface="다키 L" pitchFamily="2" charset="-127"/>
            </a:endParaRPr>
          </a:p>
        </p:txBody>
      </p:sp>
      <p:sp>
        <p:nvSpPr>
          <p:cNvPr id="114" name="화살표: 오른쪽 113">
            <a:extLst>
              <a:ext uri="{FF2B5EF4-FFF2-40B4-BE49-F238E27FC236}">
                <a16:creationId xmlns:a16="http://schemas.microsoft.com/office/drawing/2014/main" id="{1167BB18-0CB4-4211-9A33-FD511CDE0294}"/>
              </a:ext>
            </a:extLst>
          </p:cNvPr>
          <p:cNvSpPr/>
          <p:nvPr/>
        </p:nvSpPr>
        <p:spPr>
          <a:xfrm>
            <a:off x="4158357" y="2607500"/>
            <a:ext cx="490076" cy="2420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화살표: 오른쪽 114">
            <a:extLst>
              <a:ext uri="{FF2B5EF4-FFF2-40B4-BE49-F238E27FC236}">
                <a16:creationId xmlns:a16="http://schemas.microsoft.com/office/drawing/2014/main" id="{ECE54E7F-4C96-4B44-A14E-5BB092192F19}"/>
              </a:ext>
            </a:extLst>
          </p:cNvPr>
          <p:cNvSpPr/>
          <p:nvPr/>
        </p:nvSpPr>
        <p:spPr>
          <a:xfrm>
            <a:off x="5815796" y="2587796"/>
            <a:ext cx="450078" cy="2420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75731474-62F2-4993-9A2D-2F6CA4138E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10" y="1745364"/>
            <a:ext cx="810559" cy="376099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91F0997B-D30A-44DE-AA18-E4EDBCCAE0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462" y="1888339"/>
            <a:ext cx="810559" cy="376099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24B98DB7-5B42-48C3-9DAD-60BD2D4C55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307" y="1916710"/>
            <a:ext cx="810559" cy="376099"/>
          </a:xfrm>
          <a:prstGeom prst="rect">
            <a:avLst/>
          </a:prstGeom>
        </p:spPr>
      </p:pic>
      <p:pic>
        <p:nvPicPr>
          <p:cNvPr id="119" name="Picture 6" descr="Harbor">
            <a:extLst>
              <a:ext uri="{FF2B5EF4-FFF2-40B4-BE49-F238E27FC236}">
                <a16:creationId xmlns:a16="http://schemas.microsoft.com/office/drawing/2014/main" id="{542173AD-113B-40EF-9C3F-3E7381435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241" y="1385857"/>
            <a:ext cx="998769" cy="26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6" descr="Harbor">
            <a:extLst>
              <a:ext uri="{FF2B5EF4-FFF2-40B4-BE49-F238E27FC236}">
                <a16:creationId xmlns:a16="http://schemas.microsoft.com/office/drawing/2014/main" id="{47C0257B-20E1-4A64-BAE6-230F4F70C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900" y="1404669"/>
            <a:ext cx="961047" cy="25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746105"/>
      </p:ext>
    </p:extLst>
  </p:cSld>
  <p:clrMapOvr>
    <a:masterClrMapping/>
  </p:clrMapOvr>
</p:sld>
</file>

<file path=ppt/theme/theme1.xml><?xml version="1.0" encoding="utf-8"?>
<a:theme xmlns:a="http://schemas.openxmlformats.org/drawingml/2006/main" name="ubiqn 기본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11846</TotalTime>
  <Words>3370</Words>
  <Application>Microsoft Office PowerPoint</Application>
  <PresentationFormat>A4 용지(210x297mm)</PresentationFormat>
  <Paragraphs>1356</Paragraphs>
  <Slides>17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35" baseType="lpstr">
      <vt:lpstr>"Apple SD Gothic Neo"</vt:lpstr>
      <vt:lpstr>Apple SD Gothic Neo</vt:lpstr>
      <vt:lpstr>Arial Unicode MS</vt:lpstr>
      <vt:lpstr>HY견고딕</vt:lpstr>
      <vt:lpstr>HY헤드라인M</vt:lpstr>
      <vt:lpstr>굴림체</vt:lpstr>
      <vt:lpstr>다키 B</vt:lpstr>
      <vt:lpstr>다키 L</vt:lpstr>
      <vt:lpstr>다키 M</vt:lpstr>
      <vt:lpstr>다키 M Title</vt:lpstr>
      <vt:lpstr>맑은 고딕</vt:lpstr>
      <vt:lpstr>휴먼새내기체</vt:lpstr>
      <vt:lpstr>Arial</vt:lpstr>
      <vt:lpstr>Consolas</vt:lpstr>
      <vt:lpstr>Helvetica</vt:lpstr>
      <vt:lpstr>Wingdings</vt:lpstr>
      <vt:lpstr>ubiqn 기본 테마</vt:lpstr>
      <vt:lpstr>클립</vt:lpstr>
      <vt:lpstr>Dev 서버 시스템 구성</vt:lpstr>
      <vt:lpstr>Stage 서버 시스템 구성</vt:lpstr>
      <vt:lpstr>Prod 서버 시스템 구성</vt:lpstr>
      <vt:lpstr>Dev 서버 시스템 구성</vt:lpstr>
      <vt:lpstr>Dev 서버 시스템 구성</vt:lpstr>
      <vt:lpstr>기술 스텍</vt:lpstr>
      <vt:lpstr>소프트웨어 아키텍처 구성도</vt:lpstr>
      <vt:lpstr>소프트웨어 아키텍처 구성도 – spring cloud</vt:lpstr>
      <vt:lpstr>아키텍처 패턴</vt:lpstr>
      <vt:lpstr>소프트웨어 아키텍처 구성도 - 쿠버네티스</vt:lpstr>
      <vt:lpstr>마이크로서비스  기능 비교표</vt:lpstr>
      <vt:lpstr>소프트웨어 아키텍처 구성도 – 쿠버네티스</vt:lpstr>
      <vt:lpstr>소프트웨어 아키텍처 구성도 – 쿠버네티스(dev)</vt:lpstr>
      <vt:lpstr>마이크로서비스 서비스 기능 구성 </vt:lpstr>
      <vt:lpstr>마이크로서비스 서비스 기능 구성</vt:lpstr>
      <vt:lpstr>3.개발환경 구성도</vt:lpstr>
      <vt:lpstr>4. 배포 프로세스 구성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희석 사장</dc:creator>
  <cp:lastModifiedBy>KiYong Choi</cp:lastModifiedBy>
  <cp:revision>1001</cp:revision>
  <cp:lastPrinted>2020-07-09T06:29:14Z</cp:lastPrinted>
  <dcterms:created xsi:type="dcterms:W3CDTF">2019-04-11T04:19:13Z</dcterms:created>
  <dcterms:modified xsi:type="dcterms:W3CDTF">2025-12-04T21:26:19Z</dcterms:modified>
</cp:coreProperties>
</file>